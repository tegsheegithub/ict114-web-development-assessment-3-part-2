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9.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2.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2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14" r:id="rId3"/>
    <p:sldId id="280" r:id="rId4"/>
    <p:sldId id="282" r:id="rId5"/>
    <p:sldId id="283" r:id="rId6"/>
    <p:sldId id="311" r:id="rId7"/>
    <p:sldId id="300" r:id="rId8"/>
    <p:sldId id="315" r:id="rId9"/>
    <p:sldId id="301" r:id="rId10"/>
    <p:sldId id="302" r:id="rId11"/>
    <p:sldId id="323" r:id="rId12"/>
    <p:sldId id="304" r:id="rId13"/>
    <p:sldId id="305" r:id="rId14"/>
    <p:sldId id="306" r:id="rId15"/>
    <p:sldId id="308" r:id="rId16"/>
    <p:sldId id="260" r:id="rId17"/>
    <p:sldId id="262" r:id="rId18"/>
    <p:sldId id="277" r:id="rId19"/>
    <p:sldId id="327" r:id="rId20"/>
    <p:sldId id="285" r:id="rId21"/>
    <p:sldId id="287" r:id="rId22"/>
    <p:sldId id="288" r:id="rId23"/>
    <p:sldId id="289" r:id="rId24"/>
    <p:sldId id="322" r:id="rId25"/>
    <p:sldId id="321" r:id="rId26"/>
    <p:sldId id="320" r:id="rId27"/>
    <p:sldId id="319" r:id="rId28"/>
    <p:sldId id="324" r:id="rId29"/>
    <p:sldId id="329" r:id="rId30"/>
    <p:sldId id="31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4B5394-50EE-42AF-843B-BF8E7B4B15F7}">
          <p14:sldIdLst>
            <p14:sldId id="256"/>
            <p14:sldId id="314"/>
          </p14:sldIdLst>
        </p14:section>
        <p14:section name="Site Structure" id="{5DE2E0D7-5343-433B-BCD2-B3A550179FEF}">
          <p14:sldIdLst>
            <p14:sldId id="280"/>
            <p14:sldId id="282"/>
            <p14:sldId id="283"/>
            <p14:sldId id="311"/>
          </p14:sldIdLst>
        </p14:section>
        <p14:section name="Navigation" id="{21730B3A-B455-4D43-A474-D1893070B4A5}">
          <p14:sldIdLst>
            <p14:sldId id="300"/>
            <p14:sldId id="315"/>
            <p14:sldId id="301"/>
            <p14:sldId id="302"/>
            <p14:sldId id="323"/>
            <p14:sldId id="304"/>
            <p14:sldId id="305"/>
            <p14:sldId id="306"/>
            <p14:sldId id="308"/>
          </p14:sldIdLst>
        </p14:section>
        <p14:section name="Images" id="{CA57234E-7E58-4CD1-92F0-6114BF0B2676}">
          <p14:sldIdLst>
            <p14:sldId id="260"/>
            <p14:sldId id="262"/>
            <p14:sldId id="277"/>
            <p14:sldId id="327"/>
            <p14:sldId id="285"/>
          </p14:sldIdLst>
        </p14:section>
        <p14:section name="Embedded Media" id="{14004EE6-916E-4820-9AF9-76F2E494A559}">
          <p14:sldIdLst>
            <p14:sldId id="287"/>
            <p14:sldId id="288"/>
            <p14:sldId id="289"/>
            <p14:sldId id="322"/>
          </p14:sldIdLst>
        </p14:section>
        <p14:section name="Video" id="{0DE4CC4C-A173-459C-9512-3CCAEC716CC1}">
          <p14:sldIdLst>
            <p14:sldId id="321"/>
            <p14:sldId id="320"/>
            <p14:sldId id="319"/>
            <p14:sldId id="324"/>
            <p14:sldId id="329"/>
          </p14:sldIdLst>
        </p14:section>
        <p14:section name="Next Week" id="{FD86B605-444E-4BCA-826D-771DBC58A369}">
          <p14:sldIdLst>
            <p14:sldId id="313"/>
          </p14:sldIdLst>
        </p14:section>
      </p14:sectionLst>
    </p:ex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75229" autoAdjust="0"/>
  </p:normalViewPr>
  <p:slideViewPr>
    <p:cSldViewPr>
      <p:cViewPr>
        <p:scale>
          <a:sx n="93" d="100"/>
          <a:sy n="93" d="100"/>
        </p:scale>
        <p:origin x="-1218" y="13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K. Lakkaraju" userId="67789ed4-6cf2-46dd-bb2a-c209225f1b65" providerId="ADAL" clId="{3AEABB10-8281-4FAD-B6A6-EAB247D7FD4D}"/>
    <pc:docChg chg="modSld">
      <pc:chgData name="Sai K. Lakkaraju" userId="67789ed4-6cf2-46dd-bb2a-c209225f1b65" providerId="ADAL" clId="{3AEABB10-8281-4FAD-B6A6-EAB247D7FD4D}" dt="2022-04-12T03:06:10.283" v="77" actId="20577"/>
      <pc:docMkLst>
        <pc:docMk/>
      </pc:docMkLst>
      <pc:sldChg chg="modSp mod">
        <pc:chgData name="Sai K. Lakkaraju" userId="67789ed4-6cf2-46dd-bb2a-c209225f1b65" providerId="ADAL" clId="{3AEABB10-8281-4FAD-B6A6-EAB247D7FD4D}" dt="2022-04-12T02:47:06.190" v="1" actId="20577"/>
        <pc:sldMkLst>
          <pc:docMk/>
          <pc:sldMk cId="715634170" sldId="256"/>
        </pc:sldMkLst>
        <pc:spChg chg="mod">
          <ac:chgData name="Sai K. Lakkaraju" userId="67789ed4-6cf2-46dd-bb2a-c209225f1b65" providerId="ADAL" clId="{3AEABB10-8281-4FAD-B6A6-EAB247D7FD4D}" dt="2022-04-12T02:47:06.190" v="1" actId="20577"/>
          <ac:spMkLst>
            <pc:docMk/>
            <pc:sldMk cId="715634170" sldId="256"/>
            <ac:spMk id="3" creationId="{94875C1C-3858-44F5-9117-CB658AFD44E3}"/>
          </ac:spMkLst>
        </pc:spChg>
      </pc:sldChg>
      <pc:sldChg chg="modNotesTx">
        <pc:chgData name="Sai K. Lakkaraju" userId="67789ed4-6cf2-46dd-bb2a-c209225f1b65" providerId="ADAL" clId="{3AEABB10-8281-4FAD-B6A6-EAB247D7FD4D}" dt="2022-04-12T03:06:10.283" v="77" actId="20577"/>
        <pc:sldMkLst>
          <pc:docMk/>
          <pc:sldMk cId="2000789401" sldId="322"/>
        </pc:sldMkLst>
      </pc:sldChg>
    </pc:docChg>
  </pc:docChgLst>
  <pc:docChgLst>
    <pc:chgData name="Sai K. Lakkaraju" userId="67789ed4-6cf2-46dd-bb2a-c209225f1b65" providerId="ADAL" clId="{D1FE7C1C-28A8-4A81-9AC4-F92CE3830520}"/>
    <pc:docChg chg="custSel modSld">
      <pc:chgData name="Sai K. Lakkaraju" userId="67789ed4-6cf2-46dd-bb2a-c209225f1b65" providerId="ADAL" clId="{D1FE7C1C-28A8-4A81-9AC4-F92CE3830520}" dt="2022-04-05T03:43:27.136" v="71" actId="20577"/>
      <pc:docMkLst>
        <pc:docMk/>
      </pc:docMkLst>
      <pc:sldChg chg="modNotesTx">
        <pc:chgData name="Sai K. Lakkaraju" userId="67789ed4-6cf2-46dd-bb2a-c209225f1b65" providerId="ADAL" clId="{D1FE7C1C-28A8-4A81-9AC4-F92CE3830520}" dt="2022-04-05T03:36:26.668" v="55" actId="20577"/>
        <pc:sldMkLst>
          <pc:docMk/>
          <pc:sldMk cId="0" sldId="312"/>
        </pc:sldMkLst>
      </pc:sldChg>
      <pc:sldChg chg="modSp mod">
        <pc:chgData name="Sai K. Lakkaraju" userId="67789ed4-6cf2-46dd-bb2a-c209225f1b65" providerId="ADAL" clId="{D1FE7C1C-28A8-4A81-9AC4-F92CE3830520}" dt="2022-04-05T03:43:27.136" v="71" actId="20577"/>
        <pc:sldMkLst>
          <pc:docMk/>
          <pc:sldMk cId="869297209" sldId="313"/>
        </pc:sldMkLst>
        <pc:spChg chg="mod">
          <ac:chgData name="Sai K. Lakkaraju" userId="67789ed4-6cf2-46dd-bb2a-c209225f1b65" providerId="ADAL" clId="{D1FE7C1C-28A8-4A81-9AC4-F92CE3830520}" dt="2022-04-05T03:43:27.136" v="71" actId="20577"/>
          <ac:spMkLst>
            <pc:docMk/>
            <pc:sldMk cId="869297209" sldId="313"/>
            <ac:spMk id="3" creationId="{E853B393-0F2E-4B7F-A349-A00432CBDA3B}"/>
          </ac:spMkLst>
        </pc:spChg>
      </pc:sldChg>
      <pc:sldChg chg="modNotesTx">
        <pc:chgData name="Sai K. Lakkaraju" userId="67789ed4-6cf2-46dd-bb2a-c209225f1b65" providerId="ADAL" clId="{D1FE7C1C-28A8-4A81-9AC4-F92CE3830520}" dt="2022-04-05T03:36:03.161" v="21" actId="20577"/>
        <pc:sldMkLst>
          <pc:docMk/>
          <pc:sldMk cId="0" sldId="3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2F1B1C-EF43-42DF-8D93-6D1AA054F092}" type="datetimeFigureOut">
              <a:rPr lang="en-AU" smtClean="0"/>
              <a:t>22/08/2023</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5D68BF-496A-42D2-A159-C1EBC09BAB5B}" type="slidenum">
              <a:rPr lang="en-AU" smtClean="0"/>
              <a:t>‹#›</a:t>
            </a:fld>
            <a:endParaRPr lang="en-AU"/>
          </a:p>
        </p:txBody>
      </p:sp>
    </p:spTree>
    <p:extLst>
      <p:ext uri="{BB962C8B-B14F-4D97-AF65-F5344CB8AC3E}">
        <p14:creationId xmlns:p14="http://schemas.microsoft.com/office/powerpoint/2010/main" val="173843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w3schools.com/html/tryit.asp?filename=tryhtml_images_alt_chania"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w3schools.com/html/tryit.asp?filename=tryhtml_images_float"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r>
              <a:rPr lang="en-AU" dirty="0"/>
              <a:t>HTML forms</a:t>
            </a:r>
            <a:r>
              <a:rPr lang="en-US" dirty="0"/>
              <a:t>​</a:t>
            </a:r>
          </a:p>
          <a:p>
            <a:pPr lvl="1"/>
            <a:r>
              <a:rPr lang="en-AU" dirty="0"/>
              <a:t>–controls</a:t>
            </a:r>
            <a:r>
              <a:rPr lang="en-US" dirty="0"/>
              <a:t>​</a:t>
            </a:r>
          </a:p>
          <a:p>
            <a:pPr lvl="1"/>
            <a:r>
              <a:rPr lang="en-AU" dirty="0"/>
              <a:t>–labels</a:t>
            </a:r>
            <a:r>
              <a:rPr lang="en-US" dirty="0"/>
              <a:t>​</a:t>
            </a:r>
          </a:p>
          <a:p>
            <a:pPr lvl="1"/>
            <a:r>
              <a:rPr lang="en-AU" dirty="0"/>
              <a:t>–input validation</a:t>
            </a:r>
            <a:r>
              <a:rPr lang="en-US" dirty="0"/>
              <a:t>​</a:t>
            </a:r>
          </a:p>
          <a:p>
            <a:r>
              <a:rPr lang="en-AU" dirty="0"/>
              <a:t>CSS3 selectors</a:t>
            </a:r>
            <a:r>
              <a:rPr lang="en-US" dirty="0"/>
              <a:t>​</a:t>
            </a:r>
          </a:p>
          <a:p>
            <a:r>
              <a:rPr lang="en-AU" dirty="0"/>
              <a:t>CSS3 units</a:t>
            </a:r>
            <a:r>
              <a:rPr lang="en-US" dirty="0"/>
              <a:t>​</a:t>
            </a:r>
          </a:p>
          <a:p>
            <a:endParaRPr lang="en-AU" dirty="0"/>
          </a:p>
        </p:txBody>
      </p:sp>
      <p:sp>
        <p:nvSpPr>
          <p:cNvPr id="4" name="Slide Number Placeholder 3"/>
          <p:cNvSpPr>
            <a:spLocks noGrp="1"/>
          </p:cNvSpPr>
          <p:nvPr>
            <p:ph type="sldNum" sz="quarter" idx="5"/>
          </p:nvPr>
        </p:nvSpPr>
        <p:spPr/>
        <p:txBody>
          <a:bodyPr/>
          <a:lstStyle/>
          <a:p>
            <a:fld id="{3C5D68BF-496A-42D2-A159-C1EBC09BAB5B}" type="slidenum">
              <a:rPr lang="en-AU" smtClean="0"/>
              <a:t>2</a:t>
            </a:fld>
            <a:endParaRPr lang="en-AU"/>
          </a:p>
        </p:txBody>
      </p:sp>
    </p:spTree>
    <p:extLst>
      <p:ext uri="{BB962C8B-B14F-4D97-AF65-F5344CB8AC3E}">
        <p14:creationId xmlns:p14="http://schemas.microsoft.com/office/powerpoint/2010/main" val="2965417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AE8E31-7777-487D-8071-A61B0AFF59CB}" type="slidenum">
              <a:rPr lang="en-AU"/>
              <a:pPr/>
              <a:t>3</a:t>
            </a:fld>
            <a:endParaRPr lang="en-AU"/>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lang="en-US" dirty="0"/>
              <a:t>*** not to</a:t>
            </a:r>
            <a:r>
              <a:rPr lang="en-US" baseline="0" dirty="0"/>
              <a:t> be confused with “sitemap” which actually refers to the xml file that is used by search engines (if one was created for website!) </a:t>
            </a:r>
            <a:endParaRPr lang="en-US" dirty="0"/>
          </a:p>
        </p:txBody>
      </p:sp>
    </p:spTree>
    <p:extLst>
      <p:ext uri="{BB962C8B-B14F-4D97-AF65-F5344CB8AC3E}">
        <p14:creationId xmlns:p14="http://schemas.microsoft.com/office/powerpoint/2010/main" val="1178688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1157C2-3091-4D41-88B6-B420B0D8ACAF}" type="slidenum">
              <a:rPr lang="en-AU"/>
              <a:pPr/>
              <a:t>4</a:t>
            </a:fld>
            <a:endParaRPr lang="en-AU"/>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75347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894E0D-C07F-4622-ABAA-38A56864A2C7}" type="slidenum">
              <a:rPr lang="en-AU"/>
              <a:pPr/>
              <a:t>5</a:t>
            </a:fld>
            <a:endParaRPr lang="en-AU"/>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6905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site map shows a portion of the website shown on the next</a:t>
            </a:r>
          </a:p>
          <a:p>
            <a:r>
              <a:rPr lang="en-US" dirty="0"/>
              <a:t>For your website you must have a site map with 8 pages.</a:t>
            </a:r>
          </a:p>
          <a:p>
            <a:endParaRPr lang="en-US" dirty="0"/>
          </a:p>
        </p:txBody>
      </p:sp>
      <p:sp>
        <p:nvSpPr>
          <p:cNvPr id="4" name="Slide Number Placeholder 3"/>
          <p:cNvSpPr>
            <a:spLocks noGrp="1"/>
          </p:cNvSpPr>
          <p:nvPr>
            <p:ph type="sldNum" sz="quarter" idx="10"/>
          </p:nvPr>
        </p:nvSpPr>
        <p:spPr/>
        <p:txBody>
          <a:bodyPr/>
          <a:lstStyle/>
          <a:p>
            <a:fld id="{0771FDE2-FD58-43FD-9CE2-B00B374BCE0B}" type="slidenum">
              <a:rPr lang="en-AU" smtClean="0"/>
              <a:pPr/>
              <a:t>6</a:t>
            </a:fld>
            <a:endParaRPr lang="en-AU"/>
          </a:p>
        </p:txBody>
      </p:sp>
    </p:spTree>
    <p:extLst>
      <p:ext uri="{BB962C8B-B14F-4D97-AF65-F5344CB8AC3E}">
        <p14:creationId xmlns:p14="http://schemas.microsoft.com/office/powerpoint/2010/main" val="133221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Organizing and designing navigation can be very complex for large sites</a:t>
            </a:r>
          </a:p>
          <a:p>
            <a:endParaRPr lang="en-US" dirty="0"/>
          </a:p>
        </p:txBody>
      </p:sp>
      <p:sp>
        <p:nvSpPr>
          <p:cNvPr id="4" name="Slide Number Placeholder 3"/>
          <p:cNvSpPr>
            <a:spLocks noGrp="1"/>
          </p:cNvSpPr>
          <p:nvPr>
            <p:ph type="sldNum" sz="quarter" idx="10"/>
          </p:nvPr>
        </p:nvSpPr>
        <p:spPr/>
        <p:txBody>
          <a:bodyPr/>
          <a:lstStyle/>
          <a:p>
            <a:fld id="{0771FDE2-FD58-43FD-9CE2-B00B374BCE0B}" type="slidenum">
              <a:rPr lang="en-AU" smtClean="0"/>
              <a:pPr/>
              <a:t>7</a:t>
            </a:fld>
            <a:endParaRPr lang="en-AU"/>
          </a:p>
        </p:txBody>
      </p:sp>
    </p:spTree>
    <p:extLst>
      <p:ext uri="{BB962C8B-B14F-4D97-AF65-F5344CB8AC3E}">
        <p14:creationId xmlns:p14="http://schemas.microsoft.com/office/powerpoint/2010/main" val="1360568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fld id="{0771FDE2-FD58-43FD-9CE2-B00B374BCE0B}" type="slidenum">
              <a:rPr lang="en-AU" smtClean="0"/>
              <a:pPr/>
              <a:t>8</a:t>
            </a:fld>
            <a:endParaRPr lang="en-AU"/>
          </a:p>
        </p:txBody>
      </p:sp>
    </p:spTree>
    <p:extLst>
      <p:ext uri="{BB962C8B-B14F-4D97-AF65-F5344CB8AC3E}">
        <p14:creationId xmlns:p14="http://schemas.microsoft.com/office/powerpoint/2010/main" val="2630588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71FDE2-FD58-43FD-9CE2-B00B374BCE0B}" type="slidenum">
              <a:rPr lang="en-AU" smtClean="0"/>
              <a:pPr/>
              <a:t>9</a:t>
            </a:fld>
            <a:endParaRPr lang="en-AU"/>
          </a:p>
        </p:txBody>
      </p:sp>
    </p:spTree>
    <p:extLst>
      <p:ext uri="{BB962C8B-B14F-4D97-AF65-F5344CB8AC3E}">
        <p14:creationId xmlns:p14="http://schemas.microsoft.com/office/powerpoint/2010/main" val="1336131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71FDE2-FD58-43FD-9CE2-B00B374BCE0B}" type="slidenum">
              <a:rPr lang="en-AU" smtClean="0"/>
              <a:pPr/>
              <a:t>10</a:t>
            </a:fld>
            <a:endParaRPr lang="en-AU"/>
          </a:p>
        </p:txBody>
      </p:sp>
    </p:spTree>
    <p:extLst>
      <p:ext uri="{BB962C8B-B14F-4D97-AF65-F5344CB8AC3E}">
        <p14:creationId xmlns:p14="http://schemas.microsoft.com/office/powerpoint/2010/main" val="1383766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894E0D-C07F-4622-ABAA-38A56864A2C7}" type="slidenum">
              <a:rPr lang="en-AU"/>
              <a:pPr/>
              <a:t>11</a:t>
            </a:fld>
            <a:endParaRPr lang="en-AU"/>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30778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71FDE2-FD58-43FD-9CE2-B00B374BCE0B}" type="slidenum">
              <a:rPr lang="en-AU" smtClean="0"/>
              <a:pPr/>
              <a:t>12</a:t>
            </a:fld>
            <a:endParaRPr lang="en-AU"/>
          </a:p>
        </p:txBody>
      </p:sp>
    </p:spTree>
    <p:extLst>
      <p:ext uri="{BB962C8B-B14F-4D97-AF65-F5344CB8AC3E}">
        <p14:creationId xmlns:p14="http://schemas.microsoft.com/office/powerpoint/2010/main" val="3677344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71FDE2-FD58-43FD-9CE2-B00B374BCE0B}" type="slidenum">
              <a:rPr lang="en-AU" smtClean="0"/>
              <a:pPr/>
              <a:t>13</a:t>
            </a:fld>
            <a:endParaRPr lang="en-AU"/>
          </a:p>
        </p:txBody>
      </p:sp>
    </p:spTree>
    <p:extLst>
      <p:ext uri="{BB962C8B-B14F-4D97-AF65-F5344CB8AC3E}">
        <p14:creationId xmlns:p14="http://schemas.microsoft.com/office/powerpoint/2010/main" val="25612688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r>
              <a:rPr lang="en-AU" dirty="0"/>
              <a:t>All navigation talked about in previous slides are “in-site” navigation </a:t>
            </a:r>
          </a:p>
          <a:p>
            <a:pPr lvl="1"/>
            <a:r>
              <a:rPr lang="en-AU" dirty="0"/>
              <a:t>Except for the in-text navigation which could lead the viewer away from the site</a:t>
            </a:r>
          </a:p>
          <a:p>
            <a:endParaRPr lang="en-US" dirty="0"/>
          </a:p>
        </p:txBody>
      </p:sp>
      <p:sp>
        <p:nvSpPr>
          <p:cNvPr id="4" name="Slide Number Placeholder 3"/>
          <p:cNvSpPr>
            <a:spLocks noGrp="1"/>
          </p:cNvSpPr>
          <p:nvPr>
            <p:ph type="sldNum" sz="quarter" idx="10"/>
          </p:nvPr>
        </p:nvSpPr>
        <p:spPr/>
        <p:txBody>
          <a:bodyPr/>
          <a:lstStyle/>
          <a:p>
            <a:fld id="{0771FDE2-FD58-43FD-9CE2-B00B374BCE0B}" type="slidenum">
              <a:rPr lang="en-AU" smtClean="0"/>
              <a:pPr/>
              <a:t>14</a:t>
            </a:fld>
            <a:endParaRPr lang="en-AU"/>
          </a:p>
        </p:txBody>
      </p:sp>
    </p:spTree>
    <p:extLst>
      <p:ext uri="{BB962C8B-B14F-4D97-AF65-F5344CB8AC3E}">
        <p14:creationId xmlns:p14="http://schemas.microsoft.com/office/powerpoint/2010/main" val="3028818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“unobtrusive” = small buttons, small text, inconspicuous placing.</a:t>
            </a:r>
          </a:p>
          <a:p>
            <a:endParaRPr lang="en-US" dirty="0"/>
          </a:p>
          <a:p>
            <a:pPr marL="342900" indent="-342900"/>
            <a:r>
              <a:rPr lang="en-AU" dirty="0"/>
              <a:t>Once users are familiar with the navigation structure, navigation text will no longer be read</a:t>
            </a:r>
          </a:p>
          <a:p>
            <a:pPr marL="342900" indent="-342900"/>
            <a:endParaRPr lang="en-AU" dirty="0"/>
          </a:p>
          <a:p>
            <a:pPr marL="342900" indent="-342900"/>
            <a:r>
              <a:rPr lang="en-AU" dirty="0"/>
              <a:t>Position and meaning are stored in long-term memory after only a few uses</a:t>
            </a:r>
          </a:p>
          <a:p>
            <a:pPr marL="342900" indent="-342900"/>
            <a:endParaRPr lang="en-AU" dirty="0"/>
          </a:p>
          <a:p>
            <a:pPr marL="342900" indent="-342900"/>
            <a:r>
              <a:rPr lang="en-AU" dirty="0"/>
              <a:t>This is why consistency in position and look is so important</a:t>
            </a:r>
          </a:p>
          <a:p>
            <a:pPr marL="342900" indent="-342900"/>
            <a:endParaRPr lang="en-AU" dirty="0"/>
          </a:p>
          <a:p>
            <a:endParaRPr lang="en-US" dirty="0"/>
          </a:p>
        </p:txBody>
      </p:sp>
      <p:sp>
        <p:nvSpPr>
          <p:cNvPr id="4" name="Slide Number Placeholder 3"/>
          <p:cNvSpPr>
            <a:spLocks noGrp="1"/>
          </p:cNvSpPr>
          <p:nvPr>
            <p:ph type="sldNum" sz="quarter" idx="10"/>
          </p:nvPr>
        </p:nvSpPr>
        <p:spPr/>
        <p:txBody>
          <a:bodyPr/>
          <a:lstStyle/>
          <a:p>
            <a:fld id="{0771FDE2-FD58-43FD-9CE2-B00B374BCE0B}" type="slidenum">
              <a:rPr lang="en-AU" smtClean="0"/>
              <a:pPr/>
              <a:t>15</a:t>
            </a:fld>
            <a:endParaRPr lang="en-AU"/>
          </a:p>
        </p:txBody>
      </p:sp>
    </p:spTree>
    <p:extLst>
      <p:ext uri="{BB962C8B-B14F-4D97-AF65-F5344CB8AC3E}">
        <p14:creationId xmlns:p14="http://schemas.microsoft.com/office/powerpoint/2010/main" val="1945136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discussed about Images in Week-03 as well. This is a refresh talk.</a:t>
            </a:r>
          </a:p>
        </p:txBody>
      </p:sp>
      <p:sp>
        <p:nvSpPr>
          <p:cNvPr id="4" name="Slide Number Placeholder 3"/>
          <p:cNvSpPr>
            <a:spLocks noGrp="1"/>
          </p:cNvSpPr>
          <p:nvPr>
            <p:ph type="sldNum" sz="quarter" idx="5"/>
          </p:nvPr>
        </p:nvSpPr>
        <p:spPr/>
        <p:txBody>
          <a:bodyPr/>
          <a:lstStyle/>
          <a:p>
            <a:fld id="{3C5D68BF-496A-42D2-A159-C1EBC09BAB5B}" type="slidenum">
              <a:rPr lang="en-AU" smtClean="0"/>
              <a:t>16</a:t>
            </a:fld>
            <a:endParaRPr lang="en-AU"/>
          </a:p>
        </p:txBody>
      </p:sp>
    </p:spTree>
    <p:extLst>
      <p:ext uri="{BB962C8B-B14F-4D97-AF65-F5344CB8AC3E}">
        <p14:creationId xmlns:p14="http://schemas.microsoft.com/office/powerpoint/2010/main" val="2255106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required </a:t>
            </a:r>
            <a:r>
              <a:rPr lang="en-AU" dirty="0">
                <a:solidFill>
                  <a:srgbClr val="FF0000"/>
                </a:solidFill>
              </a:rPr>
              <a:t>src</a:t>
            </a:r>
            <a:r>
              <a:rPr lang="en-AU" dirty="0"/>
              <a:t> attribute specifies the path (URL) to the image.</a:t>
            </a:r>
          </a:p>
          <a:p>
            <a:pPr lvl="1"/>
            <a:r>
              <a:rPr lang="en-AU" b="1" dirty="0">
                <a:solidFill>
                  <a:srgbClr val="FF0000"/>
                </a:solidFill>
              </a:rPr>
              <a:t>Note</a:t>
            </a:r>
            <a:r>
              <a:rPr lang="en-AU" b="1" dirty="0"/>
              <a:t>:</a:t>
            </a:r>
            <a:r>
              <a:rPr lang="en-AU" dirty="0"/>
              <a:t> When a web page loads; it is the browser, at that moment, that gets the image from a web server and inserts it into the page. Therefore, make sure that the image actually stays in the same spot in relation to the web page, otherwise your visitors will get a broken link icon. The broken link icon and the </a:t>
            </a:r>
            <a:r>
              <a:rPr lang="en-AU" dirty="0">
                <a:solidFill>
                  <a:srgbClr val="FF0000"/>
                </a:solidFill>
              </a:rPr>
              <a:t>alt</a:t>
            </a:r>
            <a:r>
              <a:rPr lang="en-AU" dirty="0"/>
              <a:t> text are shown if the browser cannot find the image.</a:t>
            </a:r>
          </a:p>
          <a:p>
            <a:r>
              <a:rPr lang="en-AU" dirty="0"/>
              <a:t>Try  </a:t>
            </a:r>
            <a:r>
              <a:rPr lang="en-AU" dirty="0">
                <a:hlinkClick r:id="rId3"/>
              </a:rPr>
              <a:t>https://www.w3schools.com/html/tryit.asp?filename=tryhtml_images_alt_chania</a:t>
            </a:r>
            <a:endParaRPr lang="en-AU" dirty="0"/>
          </a:p>
          <a:p>
            <a:pPr>
              <a:lnSpc>
                <a:spcPct val="107000"/>
              </a:lnSpc>
              <a:spcBef>
                <a:spcPts val="1440"/>
              </a:spcBef>
              <a:spcAft>
                <a:spcPts val="1440"/>
              </a:spcAft>
            </a:pP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The required </a:t>
            </a:r>
            <a:r>
              <a:rPr lang="en-AU" dirty="0">
                <a:solidFill>
                  <a:srgbClr val="DC143C"/>
                </a:solidFill>
                <a:latin typeface="Consolas" panose="020B0609020204030204" pitchFamily="49" charset="0"/>
                <a:ea typeface="Times New Roman" panose="02020603050405020304" pitchFamily="18" charset="0"/>
                <a:cs typeface="Courier New" panose="02070309020205020404" pitchFamily="49" charset="0"/>
              </a:rPr>
              <a:t>alt</a:t>
            </a: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attribute provides an alternate text for an image, if the user for some reason cannot view it (because of slow connection, an error in the src attribute, or if the user uses a screen reader).</a:t>
            </a:r>
            <a:endParaRPr lang="en-AU" sz="12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440"/>
              </a:spcBef>
              <a:spcAft>
                <a:spcPts val="1440"/>
              </a:spcAft>
            </a:pP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The value of the </a:t>
            </a:r>
            <a:r>
              <a:rPr lang="en-AU" dirty="0">
                <a:solidFill>
                  <a:srgbClr val="DC143C"/>
                </a:solidFill>
                <a:latin typeface="Consolas" panose="020B0609020204030204" pitchFamily="49" charset="0"/>
                <a:ea typeface="Times New Roman" panose="02020603050405020304" pitchFamily="18" charset="0"/>
                <a:cs typeface="Courier New" panose="02070309020205020404" pitchFamily="49" charset="0"/>
              </a:rPr>
              <a:t>alt</a:t>
            </a: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attribute should describe the image:</a:t>
            </a:r>
          </a:p>
          <a:p>
            <a:pPr marL="0" indent="0">
              <a:lnSpc>
                <a:spcPct val="107000"/>
              </a:lnSpc>
              <a:spcBef>
                <a:spcPts val="1440"/>
              </a:spcBef>
              <a:spcAft>
                <a:spcPts val="1440"/>
              </a:spcAft>
              <a:buNone/>
            </a:pPr>
            <a:r>
              <a:rPr lang="en-AU" sz="1200" dirty="0">
                <a:solidFill>
                  <a:srgbClr val="0000CD"/>
                </a:solidFill>
                <a:latin typeface="Consolas" panose="020B0609020204030204" pitchFamily="49" charset="0"/>
              </a:rPr>
              <a:t>&lt;</a:t>
            </a:r>
            <a:r>
              <a:rPr lang="en-AU" sz="1200" dirty="0">
                <a:solidFill>
                  <a:srgbClr val="A52A2A"/>
                </a:solidFill>
                <a:latin typeface="Consolas" panose="020B0609020204030204" pitchFamily="49" charset="0"/>
              </a:rPr>
              <a:t>img</a:t>
            </a:r>
            <a:r>
              <a:rPr lang="en-AU" sz="1200" dirty="0">
                <a:solidFill>
                  <a:srgbClr val="FF0000"/>
                </a:solidFill>
                <a:latin typeface="Consolas" panose="020B0609020204030204" pitchFamily="49" charset="0"/>
              </a:rPr>
              <a:t> src</a:t>
            </a:r>
            <a:r>
              <a:rPr lang="en-AU" sz="1200" dirty="0">
                <a:solidFill>
                  <a:srgbClr val="0000CD"/>
                </a:solidFill>
                <a:latin typeface="Consolas" panose="020B0609020204030204" pitchFamily="49" charset="0"/>
              </a:rPr>
              <a:t>="img_chania.jpg"</a:t>
            </a:r>
            <a:r>
              <a:rPr lang="en-AU" sz="1200" dirty="0">
                <a:solidFill>
                  <a:srgbClr val="FF0000"/>
                </a:solidFill>
                <a:latin typeface="Consolas" panose="020B0609020204030204" pitchFamily="49" charset="0"/>
              </a:rPr>
              <a:t> alt</a:t>
            </a:r>
            <a:r>
              <a:rPr lang="en-AU" sz="1200" dirty="0">
                <a:solidFill>
                  <a:srgbClr val="0000CD"/>
                </a:solidFill>
                <a:latin typeface="Consolas" panose="020B0609020204030204" pitchFamily="49" charset="0"/>
              </a:rPr>
              <a:t>="Flowers in Chania"&gt;</a:t>
            </a:r>
            <a:endParaRPr lang="en-AU" sz="1200" dirty="0">
              <a:latin typeface="Calibri" panose="020F0502020204030204" pitchFamily="34" charset="0"/>
              <a:ea typeface="Calibri" panose="020F0502020204030204" pitchFamily="34" charset="0"/>
              <a:cs typeface="Arial" panose="020B0604020202020204" pitchFamily="34" charset="0"/>
            </a:endParaRPr>
          </a:p>
          <a:p>
            <a:endParaRPr lang="en-AU" dirty="0"/>
          </a:p>
          <a:p>
            <a:endParaRPr lang="en-AU" dirty="0"/>
          </a:p>
        </p:txBody>
      </p:sp>
      <p:sp>
        <p:nvSpPr>
          <p:cNvPr id="4" name="Slide Number Placeholder 3"/>
          <p:cNvSpPr>
            <a:spLocks noGrp="1"/>
          </p:cNvSpPr>
          <p:nvPr>
            <p:ph type="sldNum" sz="quarter" idx="5"/>
          </p:nvPr>
        </p:nvSpPr>
        <p:spPr/>
        <p:txBody>
          <a:bodyPr/>
          <a:lstStyle/>
          <a:p>
            <a:fld id="{3C5D68BF-496A-42D2-A159-C1EBC09BAB5B}" type="slidenum">
              <a:rPr lang="en-AU" smtClean="0"/>
              <a:t>17</a:t>
            </a:fld>
            <a:endParaRPr lang="en-AU"/>
          </a:p>
        </p:txBody>
      </p:sp>
    </p:spTree>
    <p:extLst>
      <p:ext uri="{BB962C8B-B14F-4D97-AF65-F5344CB8AC3E}">
        <p14:creationId xmlns:p14="http://schemas.microsoft.com/office/powerpoint/2010/main" val="3013211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dirty="0">
                <a:solidFill>
                  <a:srgbClr val="000000"/>
                </a:solidFill>
                <a:latin typeface="Segoe UI" panose="020B0502040204020203" pitchFamily="34" charset="0"/>
              </a:rPr>
              <a:t>To use an Image as a link, put the </a:t>
            </a:r>
            <a:r>
              <a:rPr lang="en-AU" dirty="0">
                <a:solidFill>
                  <a:srgbClr val="FF0000"/>
                </a:solidFill>
                <a:latin typeface="Segoe UI" panose="020B0502040204020203" pitchFamily="34" charset="0"/>
              </a:rPr>
              <a:t>&lt;img&gt; </a:t>
            </a:r>
            <a:r>
              <a:rPr lang="en-AU" dirty="0">
                <a:solidFill>
                  <a:srgbClr val="000000"/>
                </a:solidFill>
                <a:latin typeface="Segoe UI" panose="020B0502040204020203" pitchFamily="34" charset="0"/>
              </a:rPr>
              <a:t>tag inside the </a:t>
            </a:r>
            <a:r>
              <a:rPr lang="en-AU" dirty="0">
                <a:solidFill>
                  <a:srgbClr val="FF0000"/>
                </a:solidFill>
                <a:latin typeface="Segoe UI" panose="020B0502040204020203" pitchFamily="34" charset="0"/>
              </a:rPr>
              <a:t>&lt;a&gt; </a:t>
            </a:r>
            <a:r>
              <a:rPr lang="en-AU" dirty="0">
                <a:solidFill>
                  <a:srgbClr val="000000"/>
                </a:solidFill>
                <a:latin typeface="Segoe UI" panose="020B0502040204020203" pitchFamily="34" charset="0"/>
              </a:rPr>
              <a:t>tag:</a:t>
            </a:r>
          </a:p>
          <a:p>
            <a:pPr marL="0" lvl="0" indent="0">
              <a:buNone/>
            </a:pPr>
            <a:r>
              <a:rPr lang="en-AU" sz="1200" dirty="0">
                <a:solidFill>
                  <a:srgbClr val="0000CD"/>
                </a:solidFill>
                <a:latin typeface="Consolas" panose="020B0609020204030204" pitchFamily="49" charset="0"/>
              </a:rPr>
              <a:t>&lt;</a:t>
            </a:r>
            <a:r>
              <a:rPr lang="en-AU" sz="1200" dirty="0">
                <a:solidFill>
                  <a:srgbClr val="A52A2A"/>
                </a:solidFill>
                <a:latin typeface="Consolas" panose="020B0609020204030204" pitchFamily="49" charset="0"/>
              </a:rPr>
              <a:t>a</a:t>
            </a:r>
            <a:r>
              <a:rPr lang="en-AU" sz="1200" dirty="0">
                <a:solidFill>
                  <a:srgbClr val="FF0000"/>
                </a:solidFill>
                <a:latin typeface="Consolas" panose="020B0609020204030204" pitchFamily="49" charset="0"/>
              </a:rPr>
              <a:t> </a:t>
            </a:r>
            <a:r>
              <a:rPr lang="en-AU" sz="1200" dirty="0" err="1">
                <a:solidFill>
                  <a:srgbClr val="FF0000"/>
                </a:solidFill>
                <a:latin typeface="Consolas" panose="020B0609020204030204" pitchFamily="49" charset="0"/>
              </a:rPr>
              <a:t>href</a:t>
            </a:r>
            <a:r>
              <a:rPr lang="en-AU" sz="1200" dirty="0">
                <a:solidFill>
                  <a:srgbClr val="0000CD"/>
                </a:solidFill>
                <a:latin typeface="Consolas" panose="020B0609020204030204" pitchFamily="49" charset="0"/>
              </a:rPr>
              <a:t>="default.asp"&gt; &lt;</a:t>
            </a:r>
            <a:r>
              <a:rPr lang="en-AU" sz="1200" dirty="0">
                <a:solidFill>
                  <a:srgbClr val="A52A2A"/>
                </a:solidFill>
                <a:latin typeface="Consolas" panose="020B0609020204030204" pitchFamily="49" charset="0"/>
              </a:rPr>
              <a:t>img</a:t>
            </a:r>
            <a:r>
              <a:rPr lang="en-AU" sz="1200" dirty="0">
                <a:solidFill>
                  <a:srgbClr val="FF0000"/>
                </a:solidFill>
                <a:latin typeface="Consolas" panose="020B0609020204030204" pitchFamily="49" charset="0"/>
              </a:rPr>
              <a:t> src</a:t>
            </a:r>
            <a:r>
              <a:rPr lang="en-AU" sz="1200" dirty="0">
                <a:solidFill>
                  <a:srgbClr val="0000CD"/>
                </a:solidFill>
                <a:latin typeface="Consolas" panose="020B0609020204030204" pitchFamily="49" charset="0"/>
              </a:rPr>
              <a:t>="smiley.gif"</a:t>
            </a:r>
            <a:r>
              <a:rPr lang="en-AU" sz="1200" dirty="0">
                <a:solidFill>
                  <a:srgbClr val="FF0000"/>
                </a:solidFill>
                <a:latin typeface="Consolas" panose="020B0609020204030204" pitchFamily="49" charset="0"/>
              </a:rPr>
              <a:t> alt</a:t>
            </a:r>
            <a:r>
              <a:rPr lang="en-AU" sz="1200" dirty="0">
                <a:solidFill>
                  <a:srgbClr val="0000CD"/>
                </a:solidFill>
                <a:latin typeface="Consolas" panose="020B0609020204030204" pitchFamily="49" charset="0"/>
              </a:rPr>
              <a:t>="HTML tutorial"</a:t>
            </a:r>
            <a:r>
              <a:rPr lang="en-AU" sz="1200" dirty="0">
                <a:solidFill>
                  <a:srgbClr val="FF0000"/>
                </a:solidFill>
                <a:latin typeface="Consolas" panose="020B0609020204030204" pitchFamily="49" charset="0"/>
              </a:rPr>
              <a:t> style</a:t>
            </a:r>
            <a:r>
              <a:rPr lang="en-AU" sz="1200" dirty="0">
                <a:solidFill>
                  <a:srgbClr val="0000CD"/>
                </a:solidFill>
                <a:latin typeface="Consolas" panose="020B0609020204030204" pitchFamily="49" charset="0"/>
              </a:rPr>
              <a:t>="width:42px;height:42px;"&gt; &lt;</a:t>
            </a:r>
            <a:r>
              <a:rPr lang="en-AU" sz="1200" dirty="0">
                <a:solidFill>
                  <a:srgbClr val="A52A2A"/>
                </a:solidFill>
                <a:latin typeface="Consolas" panose="020B0609020204030204" pitchFamily="49" charset="0"/>
              </a:rPr>
              <a:t>/a</a:t>
            </a:r>
            <a:r>
              <a:rPr lang="en-AU" sz="1200" dirty="0">
                <a:solidFill>
                  <a:srgbClr val="0000CD"/>
                </a:solidFill>
                <a:latin typeface="Consolas" panose="020B0609020204030204" pitchFamily="49" charset="0"/>
              </a:rPr>
              <a:t>&gt;</a:t>
            </a:r>
            <a:endParaRPr lang="en-AU" sz="1200" dirty="0">
              <a:solidFill>
                <a:srgbClr val="000000"/>
              </a:solidFill>
              <a:latin typeface="Segoe UI" panose="020B0502040204020203" pitchFamily="34" charset="0"/>
            </a:endParaRPr>
          </a:p>
          <a:p>
            <a:endParaRPr lang="en-US" dirty="0"/>
          </a:p>
        </p:txBody>
      </p:sp>
      <p:sp>
        <p:nvSpPr>
          <p:cNvPr id="4" name="Slide Number Placeholder 3"/>
          <p:cNvSpPr>
            <a:spLocks noGrp="1"/>
          </p:cNvSpPr>
          <p:nvPr>
            <p:ph type="sldNum" sz="quarter" idx="10"/>
          </p:nvPr>
        </p:nvSpPr>
        <p:spPr/>
        <p:txBody>
          <a:bodyPr/>
          <a:lstStyle/>
          <a:p>
            <a:fld id="{41DAE13F-53EE-44FD-9505-E953145094D6}" type="slidenum">
              <a:rPr lang="en-US" smtClean="0"/>
              <a:pPr/>
              <a:t>19</a:t>
            </a:fld>
            <a:endParaRPr lang="en-US"/>
          </a:p>
        </p:txBody>
      </p:sp>
    </p:spTree>
    <p:extLst>
      <p:ext uri="{BB962C8B-B14F-4D97-AF65-F5344CB8AC3E}">
        <p14:creationId xmlns:p14="http://schemas.microsoft.com/office/powerpoint/2010/main" val="2018477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dirty="0">
                <a:solidFill>
                  <a:srgbClr val="000000"/>
                </a:solidFill>
                <a:latin typeface="Segoe UI" panose="020B0502040204020203" pitchFamily="34" charset="0"/>
              </a:rPr>
              <a:t>Use the CSS </a:t>
            </a:r>
            <a:r>
              <a:rPr lang="en-AU" dirty="0">
                <a:solidFill>
                  <a:srgbClr val="FF0000"/>
                </a:solidFill>
                <a:latin typeface="Segoe UI" panose="020B0502040204020203" pitchFamily="34" charset="0"/>
              </a:rPr>
              <a:t>float</a:t>
            </a:r>
            <a:r>
              <a:rPr lang="en-AU" dirty="0">
                <a:solidFill>
                  <a:srgbClr val="000000"/>
                </a:solidFill>
                <a:latin typeface="Segoe UI" panose="020B0502040204020203" pitchFamily="34" charset="0"/>
              </a:rPr>
              <a:t> property to let the image float to the right or to the left of a text:</a:t>
            </a:r>
          </a:p>
          <a:p>
            <a:pPr lvl="0"/>
            <a:r>
              <a:rPr lang="en-AU" dirty="0">
                <a:solidFill>
                  <a:srgbClr val="000000"/>
                </a:solidFill>
                <a:latin typeface="Segoe UI" panose="020B0502040204020203" pitchFamily="34" charset="0"/>
              </a:rPr>
              <a:t>Try </a:t>
            </a:r>
            <a:r>
              <a:rPr lang="en-AU" dirty="0">
                <a:solidFill>
                  <a:srgbClr val="000000"/>
                </a:solidFill>
                <a:latin typeface="Segoe UI" panose="020B0502040204020203" pitchFamily="34" charset="0"/>
                <a:hlinkClick r:id="rId3"/>
              </a:rPr>
              <a:t>https://www.w3schools.com/html/tryit.asp?filename=tryhtml_images_float</a:t>
            </a:r>
            <a:endParaRPr lang="en-AU" dirty="0">
              <a:solidFill>
                <a:srgbClr val="000000"/>
              </a:solidFill>
              <a:latin typeface="Segoe UI" panose="020B0502040204020203" pitchFamily="34" charset="0"/>
            </a:endParaRPr>
          </a:p>
          <a:p>
            <a:endParaRPr lang="en-US" dirty="0"/>
          </a:p>
        </p:txBody>
      </p:sp>
      <p:sp>
        <p:nvSpPr>
          <p:cNvPr id="4" name="Slide Number Placeholder 3"/>
          <p:cNvSpPr>
            <a:spLocks noGrp="1"/>
          </p:cNvSpPr>
          <p:nvPr>
            <p:ph type="sldNum" sz="quarter" idx="10"/>
          </p:nvPr>
        </p:nvSpPr>
        <p:spPr/>
        <p:txBody>
          <a:bodyPr/>
          <a:lstStyle/>
          <a:p>
            <a:fld id="{41DAE13F-53EE-44FD-9505-E953145094D6}" type="slidenum">
              <a:rPr lang="en-US" smtClean="0"/>
              <a:pPr/>
              <a:t>20</a:t>
            </a:fld>
            <a:endParaRPr lang="en-US"/>
          </a:p>
        </p:txBody>
      </p:sp>
    </p:spTree>
    <p:extLst>
      <p:ext uri="{BB962C8B-B14F-4D97-AF65-F5344CB8AC3E}">
        <p14:creationId xmlns:p14="http://schemas.microsoft.com/office/powerpoint/2010/main" val="38140187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22</a:t>
            </a:fld>
            <a:endParaRPr lang="en-US"/>
          </a:p>
        </p:txBody>
      </p:sp>
    </p:spTree>
    <p:extLst>
      <p:ext uri="{BB962C8B-B14F-4D97-AF65-F5344CB8AC3E}">
        <p14:creationId xmlns:p14="http://schemas.microsoft.com/office/powerpoint/2010/main" val="2372065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23</a:t>
            </a:fld>
            <a:endParaRPr lang="en-US"/>
          </a:p>
        </p:txBody>
      </p:sp>
    </p:spTree>
    <p:extLst>
      <p:ext uri="{BB962C8B-B14F-4D97-AF65-F5344CB8AC3E}">
        <p14:creationId xmlns:p14="http://schemas.microsoft.com/office/powerpoint/2010/main" val="42623859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First line defines a </a:t>
            </a:r>
            <a:r>
              <a:rPr lang="en-US" dirty="0" err="1"/>
              <a:t>iFrame</a:t>
            </a:r>
            <a:r>
              <a:rPr lang="en-US" dirty="0"/>
              <a:t>.</a:t>
            </a:r>
          </a:p>
          <a:p>
            <a:r>
              <a:rPr lang="en-US" dirty="0"/>
              <a:t>Second line links a website to the </a:t>
            </a:r>
            <a:r>
              <a:rPr lang="en-US" dirty="0" err="1"/>
              <a:t>iFrame</a:t>
            </a:r>
            <a:r>
              <a:rPr lang="en-US"/>
              <a:t>.</a:t>
            </a:r>
          </a:p>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24</a:t>
            </a:fld>
            <a:endParaRPr lang="en-US"/>
          </a:p>
        </p:txBody>
      </p:sp>
    </p:spTree>
    <p:extLst>
      <p:ext uri="{BB962C8B-B14F-4D97-AF65-F5344CB8AC3E}">
        <p14:creationId xmlns:p14="http://schemas.microsoft.com/office/powerpoint/2010/main" val="15989001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25</a:t>
            </a:fld>
            <a:endParaRPr lang="en-US"/>
          </a:p>
        </p:txBody>
      </p:sp>
    </p:spTree>
    <p:extLst>
      <p:ext uri="{BB962C8B-B14F-4D97-AF65-F5344CB8AC3E}">
        <p14:creationId xmlns:p14="http://schemas.microsoft.com/office/powerpoint/2010/main" val="503688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26</a:t>
            </a:fld>
            <a:endParaRPr lang="en-US"/>
          </a:p>
        </p:txBody>
      </p:sp>
    </p:spTree>
    <p:extLst>
      <p:ext uri="{BB962C8B-B14F-4D97-AF65-F5344CB8AC3E}">
        <p14:creationId xmlns:p14="http://schemas.microsoft.com/office/powerpoint/2010/main" val="10247416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27</a:t>
            </a:fld>
            <a:endParaRPr lang="en-US"/>
          </a:p>
        </p:txBody>
      </p:sp>
    </p:spTree>
    <p:extLst>
      <p:ext uri="{BB962C8B-B14F-4D97-AF65-F5344CB8AC3E}">
        <p14:creationId xmlns:p14="http://schemas.microsoft.com/office/powerpoint/2010/main" val="36434772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28</a:t>
            </a:fld>
            <a:endParaRPr lang="en-US"/>
          </a:p>
        </p:txBody>
      </p:sp>
    </p:spTree>
    <p:extLst>
      <p:ext uri="{BB962C8B-B14F-4D97-AF65-F5344CB8AC3E}">
        <p14:creationId xmlns:p14="http://schemas.microsoft.com/office/powerpoint/2010/main" val="26821103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29</a:t>
            </a:fld>
            <a:endParaRPr lang="en-US"/>
          </a:p>
        </p:txBody>
      </p:sp>
    </p:spTree>
    <p:extLst>
      <p:ext uri="{BB962C8B-B14F-4D97-AF65-F5344CB8AC3E}">
        <p14:creationId xmlns:p14="http://schemas.microsoft.com/office/powerpoint/2010/main" val="21529727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200000"/>
              </a:lnSpc>
            </a:pPr>
            <a:r>
              <a:rPr lang="en-US" dirty="0"/>
              <a:t>Midterm test</a:t>
            </a:r>
          </a:p>
          <a:p>
            <a:pPr>
              <a:lnSpc>
                <a:spcPct val="200000"/>
              </a:lnSpc>
            </a:pPr>
            <a:r>
              <a:rPr lang="en-AU" dirty="0"/>
              <a:t>Designing the navigation for a website.</a:t>
            </a:r>
            <a:endParaRPr lang="en-US" dirty="0"/>
          </a:p>
          <a:p>
            <a:pPr>
              <a:lnSpc>
                <a:spcPct val="200000"/>
              </a:lnSpc>
            </a:pPr>
            <a:r>
              <a:rPr lang="en-US" dirty="0"/>
              <a:t>Embedded media,</a:t>
            </a:r>
          </a:p>
          <a:p>
            <a:pPr lvl="1"/>
            <a:r>
              <a:rPr lang="en-AU" dirty="0"/>
              <a:t>Embedded media</a:t>
            </a:r>
          </a:p>
          <a:p>
            <a:pPr lvl="1"/>
            <a:r>
              <a:rPr lang="en-AU" dirty="0"/>
              <a:t>YouTube Video</a:t>
            </a:r>
          </a:p>
          <a:p>
            <a:pPr lvl="1"/>
            <a:r>
              <a:rPr lang="en-AU" dirty="0"/>
              <a:t>Google Maps</a:t>
            </a:r>
          </a:p>
          <a:p>
            <a:pPr>
              <a:lnSpc>
                <a:spcPct val="200000"/>
              </a:lnSpc>
            </a:pPr>
            <a:r>
              <a:rPr lang="en-US" dirty="0"/>
              <a:t> advanced image use, </a:t>
            </a:r>
          </a:p>
          <a:p>
            <a:pPr lvl="1"/>
            <a:r>
              <a:rPr lang="en-AU" dirty="0"/>
              <a:t>their importance</a:t>
            </a:r>
          </a:p>
          <a:p>
            <a:pPr lvl="1"/>
            <a:r>
              <a:rPr lang="en-AU" dirty="0"/>
              <a:t>file format and performance</a:t>
            </a:r>
          </a:p>
          <a:p>
            <a:pPr>
              <a:lnSpc>
                <a:spcPct val="200000"/>
              </a:lnSpc>
            </a:pPr>
            <a:r>
              <a:rPr lang="en-US" dirty="0"/>
              <a:t>icons. 	</a:t>
            </a:r>
          </a:p>
          <a:p>
            <a:endParaRPr lang="en-AU" dirty="0"/>
          </a:p>
          <a:p>
            <a:endParaRPr lang="en-AU" dirty="0"/>
          </a:p>
        </p:txBody>
      </p:sp>
      <p:sp>
        <p:nvSpPr>
          <p:cNvPr id="4" name="Slide Number Placeholder 3"/>
          <p:cNvSpPr>
            <a:spLocks noGrp="1"/>
          </p:cNvSpPr>
          <p:nvPr>
            <p:ph type="sldNum" sz="quarter" idx="5"/>
          </p:nvPr>
        </p:nvSpPr>
        <p:spPr/>
        <p:txBody>
          <a:bodyPr/>
          <a:lstStyle/>
          <a:p>
            <a:fld id="{3C5D68BF-496A-42D2-A159-C1EBC09BAB5B}" type="slidenum">
              <a:rPr lang="en-AU" smtClean="0"/>
              <a:t>30</a:t>
            </a:fld>
            <a:endParaRPr lang="en-AU"/>
          </a:p>
        </p:txBody>
      </p:sp>
    </p:spTree>
    <p:extLst>
      <p:ext uri="{BB962C8B-B14F-4D97-AF65-F5344CB8AC3E}">
        <p14:creationId xmlns:p14="http://schemas.microsoft.com/office/powerpoint/2010/main" val="408248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EDB22C-E7C2-4D9B-9C3E-B3770423D9D6}"/>
              </a:ext>
            </a:extLst>
          </p:cNvPr>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BFCEA447-2275-4903-97D5-0EF4EF2648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6FF0323C-6842-42A1-AE34-80EECC9637D0}"/>
              </a:ext>
            </a:extLst>
          </p:cNvPr>
          <p:cNvSpPr>
            <a:spLocks noGrp="1"/>
          </p:cNvSpPr>
          <p:nvPr>
            <p:ph type="dt" sz="half" idx="10"/>
          </p:nvPr>
        </p:nvSpPr>
        <p:spPr/>
        <p:txBody>
          <a:bodyPr/>
          <a:lstStyle/>
          <a:p>
            <a:fld id="{E45AECDF-4D51-4BE2-A52E-75061839962F}" type="datetimeFigureOut">
              <a:rPr lang="en-US" smtClean="0"/>
              <a:t>8/22/2023</a:t>
            </a:fld>
            <a:endParaRPr lang="en-US"/>
          </a:p>
        </p:txBody>
      </p:sp>
      <p:sp>
        <p:nvSpPr>
          <p:cNvPr id="5" name="Footer Placeholder 4">
            <a:extLst>
              <a:ext uri="{FF2B5EF4-FFF2-40B4-BE49-F238E27FC236}">
                <a16:creationId xmlns:a16="http://schemas.microsoft.com/office/drawing/2014/main" xmlns="" id="{26CD285F-01C7-4064-AF1F-C986D7110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5B61DB0-E754-4632-BADF-5CEE7CA7B9C3}"/>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84271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27E172-530A-4D1A-B2C5-91C70AE41676}"/>
              </a:ext>
            </a:extLst>
          </p:cNvPr>
          <p:cNvSpPr>
            <a:spLocks noGrp="1"/>
          </p:cNvSpPr>
          <p:nvPr>
            <p:ph type="title"/>
          </p:nvPr>
        </p:nvSpPr>
        <p:spPr>
          <a:xfrm>
            <a:off x="838200" y="365125"/>
            <a:ext cx="10515600" cy="9302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7134E0C8-7DCF-48A5-B01B-72B77AC44C68}"/>
              </a:ext>
            </a:extLst>
          </p:cNvPr>
          <p:cNvSpPr>
            <a:spLocks noGrp="1"/>
          </p:cNvSpPr>
          <p:nvPr>
            <p:ph idx="1"/>
          </p:nvPr>
        </p:nvSpPr>
        <p:spPr>
          <a:xfrm>
            <a:off x="838200" y="1600200"/>
            <a:ext cx="10515600" cy="45767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415D8764-6F1E-416E-88F1-C40EC8969A40}"/>
              </a:ext>
            </a:extLst>
          </p:cNvPr>
          <p:cNvSpPr>
            <a:spLocks noGrp="1"/>
          </p:cNvSpPr>
          <p:nvPr>
            <p:ph type="dt" sz="half" idx="10"/>
          </p:nvPr>
        </p:nvSpPr>
        <p:spPr/>
        <p:txBody>
          <a:bodyPr/>
          <a:lstStyle/>
          <a:p>
            <a:fld id="{E45AECDF-4D51-4BE2-A52E-75061839962F}" type="datetimeFigureOut">
              <a:rPr lang="en-US" smtClean="0"/>
              <a:t>8/22/2023</a:t>
            </a:fld>
            <a:endParaRPr lang="en-US"/>
          </a:p>
        </p:txBody>
      </p:sp>
      <p:sp>
        <p:nvSpPr>
          <p:cNvPr id="5" name="Footer Placeholder 4">
            <a:extLst>
              <a:ext uri="{FF2B5EF4-FFF2-40B4-BE49-F238E27FC236}">
                <a16:creationId xmlns:a16="http://schemas.microsoft.com/office/drawing/2014/main" xmlns="" id="{A09A7AD7-758F-437C-8CE1-AFECB2DA0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79139AE-6A7F-4A3F-B55D-EF7BB338DD1B}"/>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49279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6A45D9-8D6E-462F-AC5F-7BB4715F8AB3}"/>
              </a:ext>
            </a:extLst>
          </p:cNvPr>
          <p:cNvSpPr>
            <a:spLocks noGrp="1"/>
          </p:cNvSpPr>
          <p:nvPr>
            <p:ph type="title"/>
          </p:nvPr>
        </p:nvSpPr>
        <p:spPr>
          <a:xfrm>
            <a:off x="831850" y="1709738"/>
            <a:ext cx="10515600" cy="2852737"/>
          </a:xfrm>
        </p:spPr>
        <p:txBody>
          <a:bodyPr anchor="b">
            <a:normAutofit/>
          </a:bodyPr>
          <a:lstStyle>
            <a:lvl1pPr>
              <a:defRPr sz="4800">
                <a:latin typeface="Bookman Old Style" panose="02050604050505020204" pitchFamily="18"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69611C77-EC1B-4D70-9E27-37B2E6C53C9B}"/>
              </a:ext>
            </a:extLst>
          </p:cNvPr>
          <p:cNvSpPr>
            <a:spLocks noGrp="1"/>
          </p:cNvSpPr>
          <p:nvPr>
            <p:ph type="body" idx="1"/>
          </p:nvPr>
        </p:nvSpPr>
        <p:spPr>
          <a:xfrm>
            <a:off x="831850" y="4589463"/>
            <a:ext cx="10515600" cy="1500187"/>
          </a:xfrm>
        </p:spPr>
        <p:txBody>
          <a:bodyPr/>
          <a:lstStyle>
            <a:lvl1pPr marL="0" indent="0">
              <a:buNone/>
              <a:defRPr sz="2400">
                <a:solidFill>
                  <a:schemeClr val="tx1"/>
                </a:solidFill>
                <a:latin typeface="Book Antiqua" panose="0204060205030503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9631775-49F7-4A48-B7C0-D9C11BD8F36E}"/>
              </a:ext>
            </a:extLst>
          </p:cNvPr>
          <p:cNvSpPr>
            <a:spLocks noGrp="1"/>
          </p:cNvSpPr>
          <p:nvPr>
            <p:ph type="dt" sz="half" idx="10"/>
          </p:nvPr>
        </p:nvSpPr>
        <p:spPr/>
        <p:txBody>
          <a:bodyPr/>
          <a:lstStyle/>
          <a:p>
            <a:fld id="{E45AECDF-4D51-4BE2-A52E-75061839962F}" type="datetimeFigureOut">
              <a:rPr lang="en-US" smtClean="0"/>
              <a:t>8/22/2023</a:t>
            </a:fld>
            <a:endParaRPr lang="en-US"/>
          </a:p>
        </p:txBody>
      </p:sp>
      <p:sp>
        <p:nvSpPr>
          <p:cNvPr id="5" name="Footer Placeholder 4">
            <a:extLst>
              <a:ext uri="{FF2B5EF4-FFF2-40B4-BE49-F238E27FC236}">
                <a16:creationId xmlns:a16="http://schemas.microsoft.com/office/drawing/2014/main" xmlns="" id="{9447C9EE-4580-41D5-B986-FDAE9A068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C141C14-7C63-4286-AD36-5C148DD01600}"/>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6163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897A15-60D4-4D51-8523-72BD3AF8B631}"/>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29B8C380-48F3-4C56-AD06-EB8A6D2663D5}"/>
              </a:ext>
            </a:extLst>
          </p:cNvPr>
          <p:cNvSpPr>
            <a:spLocks noGrp="1"/>
          </p:cNvSpPr>
          <p:nvPr>
            <p:ph sz="half" idx="1"/>
          </p:nvPr>
        </p:nvSpPr>
        <p:spPr>
          <a:xfrm>
            <a:off x="838200" y="1524000"/>
            <a:ext cx="5181600" cy="4652963"/>
          </a:xfrm>
        </p:spPr>
        <p:txBody>
          <a:bodyPr/>
          <a:lstStyle>
            <a:lvl1pPr>
              <a:defRPr sz="2400">
                <a:latin typeface="Book Antiqua" panose="02040602050305030304" pitchFamily="18" charset="0"/>
              </a:defRPr>
            </a:lvl1pPr>
            <a:lvl2pPr>
              <a:defRPr>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xmlns="" id="{417E5B96-8801-48EC-8518-84940648E4B1}"/>
              </a:ext>
            </a:extLst>
          </p:cNvPr>
          <p:cNvSpPr>
            <a:spLocks noGrp="1"/>
          </p:cNvSpPr>
          <p:nvPr>
            <p:ph sz="half" idx="2"/>
          </p:nvPr>
        </p:nvSpPr>
        <p:spPr>
          <a:xfrm>
            <a:off x="6172200" y="1524000"/>
            <a:ext cx="5181600" cy="46529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xmlns="" id="{051C1791-8B8D-451F-B33E-480EB0964ED6}"/>
              </a:ext>
            </a:extLst>
          </p:cNvPr>
          <p:cNvSpPr>
            <a:spLocks noGrp="1"/>
          </p:cNvSpPr>
          <p:nvPr>
            <p:ph type="dt" sz="half" idx="10"/>
          </p:nvPr>
        </p:nvSpPr>
        <p:spPr/>
        <p:txBody>
          <a:bodyPr/>
          <a:lstStyle/>
          <a:p>
            <a:fld id="{E45AECDF-4D51-4BE2-A52E-75061839962F}" type="datetimeFigureOut">
              <a:rPr lang="en-US" smtClean="0"/>
              <a:t>8/22/2023</a:t>
            </a:fld>
            <a:endParaRPr lang="en-US"/>
          </a:p>
        </p:txBody>
      </p:sp>
      <p:sp>
        <p:nvSpPr>
          <p:cNvPr id="6" name="Footer Placeholder 5">
            <a:extLst>
              <a:ext uri="{FF2B5EF4-FFF2-40B4-BE49-F238E27FC236}">
                <a16:creationId xmlns:a16="http://schemas.microsoft.com/office/drawing/2014/main" xmlns="" id="{CB850D6A-1B8C-41EC-8155-C991E24F4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34E6DD7-BAF3-4453-8ADD-14B605AB97BD}"/>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94168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7AA53F-EFA9-4935-9BA6-ACD23B63F8C9}"/>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xmlns="" id="{65DD2FFD-3B85-4820-9A85-46D1063768EA}"/>
              </a:ext>
            </a:extLst>
          </p:cNvPr>
          <p:cNvSpPr>
            <a:spLocks noGrp="1"/>
          </p:cNvSpPr>
          <p:nvPr>
            <p:ph type="dt" sz="half" idx="10"/>
          </p:nvPr>
        </p:nvSpPr>
        <p:spPr/>
        <p:txBody>
          <a:bodyPr/>
          <a:lstStyle/>
          <a:p>
            <a:fld id="{E45AECDF-4D51-4BE2-A52E-75061839962F}" type="datetimeFigureOut">
              <a:rPr lang="en-US" smtClean="0"/>
              <a:t>8/22/2023</a:t>
            </a:fld>
            <a:endParaRPr lang="en-US"/>
          </a:p>
        </p:txBody>
      </p:sp>
      <p:sp>
        <p:nvSpPr>
          <p:cNvPr id="4" name="Footer Placeholder 3">
            <a:extLst>
              <a:ext uri="{FF2B5EF4-FFF2-40B4-BE49-F238E27FC236}">
                <a16:creationId xmlns:a16="http://schemas.microsoft.com/office/drawing/2014/main" xmlns="" id="{40843DD0-9099-4073-9F4D-FA7CE1F1E5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6EAF83C7-3C4A-4E06-A6EC-CCE99DC6B71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76961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0655C52-F4AE-48FF-B7ED-E59B9B30B770}"/>
              </a:ext>
            </a:extLst>
          </p:cNvPr>
          <p:cNvSpPr>
            <a:spLocks noGrp="1"/>
          </p:cNvSpPr>
          <p:nvPr>
            <p:ph type="dt" sz="half" idx="10"/>
          </p:nvPr>
        </p:nvSpPr>
        <p:spPr/>
        <p:txBody>
          <a:bodyPr/>
          <a:lstStyle/>
          <a:p>
            <a:fld id="{E45AECDF-4D51-4BE2-A52E-75061839962F}" type="datetimeFigureOut">
              <a:rPr lang="en-US" smtClean="0"/>
              <a:t>8/22/2023</a:t>
            </a:fld>
            <a:endParaRPr lang="en-US"/>
          </a:p>
        </p:txBody>
      </p:sp>
      <p:sp>
        <p:nvSpPr>
          <p:cNvPr id="3" name="Footer Placeholder 2">
            <a:extLst>
              <a:ext uri="{FF2B5EF4-FFF2-40B4-BE49-F238E27FC236}">
                <a16:creationId xmlns:a16="http://schemas.microsoft.com/office/drawing/2014/main" xmlns="" id="{1170CF46-11FE-48D1-B8B9-CAECA0EDD1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1AC6CEEA-32CF-4EDC-B2A9-66DF66C7486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3044786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6B7B79-C372-4208-9243-122D500E17BD}"/>
              </a:ext>
            </a:extLst>
          </p:cNvPr>
          <p:cNvSpPr>
            <a:spLocks noGrp="1"/>
          </p:cNvSpPr>
          <p:nvPr>
            <p:ph type="title"/>
          </p:nvPr>
        </p:nvSpPr>
        <p:spPr>
          <a:xfrm>
            <a:off x="839788" y="457200"/>
            <a:ext cx="3932237" cy="1600200"/>
          </a:xfrm>
        </p:spPr>
        <p:txBody>
          <a:bodyPr anchor="b"/>
          <a:lstStyle>
            <a:lvl1pPr>
              <a:defRPr sz="32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116D3DEE-3AA0-40D2-B769-CFE4018E1A9A}"/>
              </a:ext>
            </a:extLst>
          </p:cNvPr>
          <p:cNvSpPr>
            <a:spLocks noGrp="1"/>
          </p:cNvSpPr>
          <p:nvPr>
            <p:ph idx="1"/>
          </p:nvPr>
        </p:nvSpPr>
        <p:spPr>
          <a:xfrm>
            <a:off x="5183188" y="987425"/>
            <a:ext cx="6172200" cy="4873625"/>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xmlns="" id="{C69934A8-77AF-408B-B458-B54836913E45}"/>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4DBEAF5-DB43-4606-9EAD-D4DFF04E9AD0}"/>
              </a:ext>
            </a:extLst>
          </p:cNvPr>
          <p:cNvSpPr>
            <a:spLocks noGrp="1"/>
          </p:cNvSpPr>
          <p:nvPr>
            <p:ph type="dt" sz="half" idx="10"/>
          </p:nvPr>
        </p:nvSpPr>
        <p:spPr/>
        <p:txBody>
          <a:bodyPr/>
          <a:lstStyle/>
          <a:p>
            <a:fld id="{E45AECDF-4D51-4BE2-A52E-75061839962F}" type="datetimeFigureOut">
              <a:rPr lang="en-US" smtClean="0"/>
              <a:t>8/22/2023</a:t>
            </a:fld>
            <a:endParaRPr lang="en-US"/>
          </a:p>
        </p:txBody>
      </p:sp>
      <p:sp>
        <p:nvSpPr>
          <p:cNvPr id="6" name="Footer Placeholder 5">
            <a:extLst>
              <a:ext uri="{FF2B5EF4-FFF2-40B4-BE49-F238E27FC236}">
                <a16:creationId xmlns:a16="http://schemas.microsoft.com/office/drawing/2014/main" xmlns="" id="{2F9FE0FD-4B71-401F-8A4E-A66DEE7296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7D4E9A-31D9-4729-B33A-373227767EBE}"/>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3602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D6BC55-C3D8-407B-834B-CECFFB5DE733}"/>
              </a:ext>
            </a:extLst>
          </p:cNvPr>
          <p:cNvSpPr>
            <a:spLocks noGrp="1"/>
          </p:cNvSpPr>
          <p:nvPr>
            <p:ph type="title"/>
          </p:nvPr>
        </p:nvSpPr>
        <p:spPr>
          <a:xfrm>
            <a:off x="839788" y="457200"/>
            <a:ext cx="3932237" cy="1600200"/>
          </a:xfrm>
        </p:spPr>
        <p:txBody>
          <a:bodyPr anchor="b">
            <a:normAutofit/>
          </a:bodyPr>
          <a:lstStyle>
            <a:lvl1pPr>
              <a:defRPr sz="2800">
                <a:latin typeface="Bookman Old Style" panose="02050604050505020204" pitchFamily="18" charset="0"/>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xmlns="" id="{04226BAC-83CF-4F24-B598-08F19EA61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xmlns="" id="{BB4D9986-C85E-462F-86EC-A99E04E0C84C}"/>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41FD837-8440-405F-8CDC-D907FDE06860}"/>
              </a:ext>
            </a:extLst>
          </p:cNvPr>
          <p:cNvSpPr>
            <a:spLocks noGrp="1"/>
          </p:cNvSpPr>
          <p:nvPr>
            <p:ph type="dt" sz="half" idx="10"/>
          </p:nvPr>
        </p:nvSpPr>
        <p:spPr/>
        <p:txBody>
          <a:bodyPr/>
          <a:lstStyle/>
          <a:p>
            <a:fld id="{E45AECDF-4D51-4BE2-A52E-75061839962F}" type="datetimeFigureOut">
              <a:rPr lang="en-US" smtClean="0"/>
              <a:t>8/22/2023</a:t>
            </a:fld>
            <a:endParaRPr lang="en-US"/>
          </a:p>
        </p:txBody>
      </p:sp>
      <p:sp>
        <p:nvSpPr>
          <p:cNvPr id="6" name="Footer Placeholder 5">
            <a:extLst>
              <a:ext uri="{FF2B5EF4-FFF2-40B4-BE49-F238E27FC236}">
                <a16:creationId xmlns:a16="http://schemas.microsoft.com/office/drawing/2014/main" xmlns="" id="{BB8B99F4-866C-4C1F-8FDA-F5B6DE8A72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0B63BB6-94D8-4898-AC43-C5544E5D6E32}"/>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1776557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xmlns="" id="{058A4960-2CF9-4F7B-B4C7-6C13F4FEF05D}"/>
              </a:ext>
            </a:extLst>
          </p:cNvPr>
          <p:cNvSpPr>
            <a:spLocks noChangeArrowheads="1"/>
          </p:cNvSpPr>
          <p:nvPr userDrawn="1"/>
        </p:nvSpPr>
        <p:spPr bwMode="auto">
          <a:xfrm>
            <a:off x="6501271" y="2133600"/>
            <a:ext cx="5538329" cy="3031720"/>
          </a:xfrm>
          <a:prstGeom prst="rect">
            <a:avLst/>
          </a:prstGeom>
          <a:solidFill>
            <a:srgbClr val="35363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2567" tIns="36284" rIns="72567" bIns="36284" numCol="1" anchor="t" anchorCtr="0" compatLnSpc="1">
            <a:prstTxWarp prst="textNoShape">
              <a:avLst/>
            </a:prstTxWarp>
          </a:bodyPr>
          <a:lstStyle/>
          <a:p>
            <a:endParaRPr lang="zh-CN" altLang="en-US" sz="1428"/>
          </a:p>
        </p:txBody>
      </p:sp>
      <p:sp>
        <p:nvSpPr>
          <p:cNvPr id="7" name="Freeform 8">
            <a:extLst>
              <a:ext uri="{FF2B5EF4-FFF2-40B4-BE49-F238E27FC236}">
                <a16:creationId xmlns:a16="http://schemas.microsoft.com/office/drawing/2014/main" xmlns="" id="{C0E71FB0-7939-4DDF-A383-231D84E07241}"/>
              </a:ext>
            </a:extLst>
          </p:cNvPr>
          <p:cNvSpPr>
            <a:spLocks/>
          </p:cNvSpPr>
          <p:nvPr userDrawn="1"/>
        </p:nvSpPr>
        <p:spPr bwMode="auto">
          <a:xfrm>
            <a:off x="136585" y="2152291"/>
            <a:ext cx="6694046" cy="3031721"/>
          </a:xfrm>
          <a:custGeom>
            <a:avLst/>
            <a:gdLst>
              <a:gd name="T0" fmla="*/ 4054 w 4054"/>
              <a:gd name="T1" fmla="*/ 804 h 1623"/>
              <a:gd name="T2" fmla="*/ 3860 w 4054"/>
              <a:gd name="T3" fmla="*/ 631 h 1623"/>
              <a:gd name="T4" fmla="*/ 3860 w 4054"/>
              <a:gd name="T5" fmla="*/ 0 h 1623"/>
              <a:gd name="T6" fmla="*/ 0 w 4054"/>
              <a:gd name="T7" fmla="*/ 0 h 1623"/>
              <a:gd name="T8" fmla="*/ 0 w 4054"/>
              <a:gd name="T9" fmla="*/ 1623 h 1623"/>
              <a:gd name="T10" fmla="*/ 3860 w 4054"/>
              <a:gd name="T11" fmla="*/ 1623 h 1623"/>
              <a:gd name="T12" fmla="*/ 3860 w 4054"/>
              <a:gd name="T13" fmla="*/ 976 h 1623"/>
              <a:gd name="T14" fmla="*/ 4054 w 4054"/>
              <a:gd name="T15" fmla="*/ 804 h 1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54" h="1623">
                <a:moveTo>
                  <a:pt x="4054" y="804"/>
                </a:moveTo>
                <a:lnTo>
                  <a:pt x="3860" y="631"/>
                </a:lnTo>
                <a:lnTo>
                  <a:pt x="3860" y="0"/>
                </a:lnTo>
                <a:lnTo>
                  <a:pt x="0" y="0"/>
                </a:lnTo>
                <a:lnTo>
                  <a:pt x="0" y="1623"/>
                </a:lnTo>
                <a:lnTo>
                  <a:pt x="3860" y="1623"/>
                </a:lnTo>
                <a:lnTo>
                  <a:pt x="3860" y="976"/>
                </a:lnTo>
                <a:lnTo>
                  <a:pt x="4054" y="804"/>
                </a:lnTo>
                <a:close/>
              </a:path>
            </a:pathLst>
          </a:custGeom>
          <a:gradFill>
            <a:gsLst>
              <a:gs pos="0">
                <a:srgbClr val="FFFF00">
                  <a:alpha val="30000"/>
                </a:srgbClr>
              </a:gs>
              <a:gs pos="50000">
                <a:srgbClr val="FFFF00">
                  <a:alpha val="52000"/>
                </a:srgbClr>
              </a:gs>
              <a:gs pos="100000">
                <a:schemeClr val="accent1">
                  <a:tint val="23500"/>
                  <a:satMod val="160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2567" tIns="36284" rIns="72567" bIns="36284" numCol="1" anchor="t" anchorCtr="0" compatLnSpc="1">
            <a:prstTxWarp prst="textNoShape">
              <a:avLst/>
            </a:prstTxWarp>
          </a:bodyPr>
          <a:lstStyle/>
          <a:p>
            <a:endParaRPr lang="zh-CN" altLang="en-US" sz="1428" dirty="0"/>
          </a:p>
        </p:txBody>
      </p:sp>
      <p:pic>
        <p:nvPicPr>
          <p:cNvPr id="6" name="Picture 5" descr="A picture containing object&#10;&#10;Description automatically generated">
            <a:extLst>
              <a:ext uri="{FF2B5EF4-FFF2-40B4-BE49-F238E27FC236}">
                <a16:creationId xmlns:a16="http://schemas.microsoft.com/office/drawing/2014/main" xmlns="" id="{EE829E3D-5DC5-4C91-B8B5-3B7110E1DE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44046" y="1438"/>
            <a:ext cx="7665790" cy="1827362"/>
          </a:xfrm>
          <a:prstGeom prst="rect">
            <a:avLst/>
          </a:prstGeom>
        </p:spPr>
      </p:pic>
      <p:sp>
        <p:nvSpPr>
          <p:cNvPr id="3" name="Text Placeholder 2">
            <a:extLst>
              <a:ext uri="{FF2B5EF4-FFF2-40B4-BE49-F238E27FC236}">
                <a16:creationId xmlns:a16="http://schemas.microsoft.com/office/drawing/2014/main" xmlns="" id="{DEF0205C-9ED4-4F7F-9D8A-6727FF2865C7}"/>
              </a:ext>
            </a:extLst>
          </p:cNvPr>
          <p:cNvSpPr>
            <a:spLocks noGrp="1"/>
          </p:cNvSpPr>
          <p:nvPr>
            <p:ph type="body" sz="quarter" idx="10"/>
          </p:nvPr>
        </p:nvSpPr>
        <p:spPr>
          <a:xfrm>
            <a:off x="914400" y="2971800"/>
            <a:ext cx="4776330" cy="685800"/>
          </a:xfrm>
        </p:spPr>
        <p:txBody>
          <a:bodyPr/>
          <a:lstStyle>
            <a:lvl1pPr>
              <a:defRPr>
                <a:latin typeface="Bookman Old Style" panose="02050604050505020204" pitchFamily="18" charset="0"/>
              </a:defRPr>
            </a:lvl1pPr>
          </a:lstStyle>
          <a:p>
            <a:pPr lvl="0"/>
            <a:r>
              <a:rPr lang="en-US"/>
              <a:t>Click to edit Master text styles</a:t>
            </a:r>
          </a:p>
        </p:txBody>
      </p:sp>
      <p:sp>
        <p:nvSpPr>
          <p:cNvPr id="5" name="Text Placeholder 4">
            <a:extLst>
              <a:ext uri="{FF2B5EF4-FFF2-40B4-BE49-F238E27FC236}">
                <a16:creationId xmlns:a16="http://schemas.microsoft.com/office/drawing/2014/main" xmlns="" id="{5DEB8F57-8DD4-44E9-AC18-A7A8C7131C9F}"/>
              </a:ext>
            </a:extLst>
          </p:cNvPr>
          <p:cNvSpPr>
            <a:spLocks noGrp="1"/>
          </p:cNvSpPr>
          <p:nvPr>
            <p:ph type="body" sz="quarter" idx="11"/>
          </p:nvPr>
        </p:nvSpPr>
        <p:spPr>
          <a:xfrm>
            <a:off x="7086600" y="2970663"/>
            <a:ext cx="4191000" cy="914400"/>
          </a:xfrm>
        </p:spPr>
        <p:txBody>
          <a:bodyPr>
            <a:normAutofit/>
          </a:bodyPr>
          <a:lstStyle>
            <a:lvl1pPr>
              <a:defRPr sz="2800">
                <a:solidFill>
                  <a:schemeClr val="bg1"/>
                </a:solidFill>
                <a:latin typeface="Bookman Old Style" panose="02050604050505020204" pitchFamily="18" charset="0"/>
              </a:defRPr>
            </a:lvl1pPr>
          </a:lstStyle>
          <a:p>
            <a:pPr lvl="0"/>
            <a:r>
              <a:rPr lang="en-US"/>
              <a:t>Click to edit Master text styles</a:t>
            </a:r>
          </a:p>
        </p:txBody>
      </p:sp>
    </p:spTree>
    <p:extLst>
      <p:ext uri="{BB962C8B-B14F-4D97-AF65-F5344CB8AC3E}">
        <p14:creationId xmlns:p14="http://schemas.microsoft.com/office/powerpoint/2010/main" val="267538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5000" r="-6000" b="-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D8D7EAF-242D-4B80-9DDE-E75E2110C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B71D8C2-8A15-46F1-A685-6BDE75347A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03E8A7B-EC95-43F8-8F85-BA5FC1C306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5AECDF-4D51-4BE2-A52E-75061839962F}" type="datetimeFigureOut">
              <a:rPr lang="en-US" smtClean="0"/>
              <a:t>8/22/2023</a:t>
            </a:fld>
            <a:endParaRPr lang="en-US"/>
          </a:p>
        </p:txBody>
      </p:sp>
      <p:sp>
        <p:nvSpPr>
          <p:cNvPr id="5" name="Footer Placeholder 4">
            <a:extLst>
              <a:ext uri="{FF2B5EF4-FFF2-40B4-BE49-F238E27FC236}">
                <a16:creationId xmlns:a16="http://schemas.microsoft.com/office/drawing/2014/main" xmlns="" id="{7A938BF8-A7D3-44B9-9393-07DE8B836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54D48635-2CA3-476A-A1E5-2809B06A1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6110E-6F6A-430F-BA2C-264668399F0E}" type="slidenum">
              <a:rPr lang="en-US" smtClean="0"/>
              <a:t>‹#›</a:t>
            </a:fld>
            <a:endParaRPr lang="en-US"/>
          </a:p>
        </p:txBody>
      </p:sp>
      <p:pic>
        <p:nvPicPr>
          <p:cNvPr id="8" name="Picture 7" descr="A picture containing racket, holding, hitting, woman&#10;&#10;Description automatically generated">
            <a:extLst>
              <a:ext uri="{FF2B5EF4-FFF2-40B4-BE49-F238E27FC236}">
                <a16:creationId xmlns:a16="http://schemas.microsoft.com/office/drawing/2014/main" xmlns="" id="{1F5731C2-29BF-4169-8176-7D7E8F362DA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297" y="0"/>
            <a:ext cx="12275297" cy="6811777"/>
          </a:xfrm>
          <a:prstGeom prst="rect">
            <a:avLst/>
          </a:prstGeom>
        </p:spPr>
      </p:pic>
    </p:spTree>
    <p:extLst>
      <p:ext uri="{BB962C8B-B14F-4D97-AF65-F5344CB8AC3E}">
        <p14:creationId xmlns:p14="http://schemas.microsoft.com/office/powerpoint/2010/main" val="2443031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hyperlink" Target="https://www.w3schools.com/html/tryit.asp?filename=tryhtml_iframe_height_width" TargetMode="External"/><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hyperlink" Target="https://www.w3schools.com/html/tryit.asp?filename=tryhtml_iframe_target" TargetMode="External"/><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hyperlink" Target="https://google-map-generator.com/" TargetMode="External"/><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b="-11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E85A57C-D93F-440A-A179-9167EF529797}"/>
              </a:ext>
            </a:extLst>
          </p:cNvPr>
          <p:cNvSpPr>
            <a:spLocks noGrp="1"/>
          </p:cNvSpPr>
          <p:nvPr>
            <p:ph type="body" sz="quarter" idx="10"/>
          </p:nvPr>
        </p:nvSpPr>
        <p:spPr/>
        <p:txBody>
          <a:bodyPr/>
          <a:lstStyle/>
          <a:p>
            <a:pPr marL="0" indent="0">
              <a:buNone/>
            </a:pPr>
            <a:r>
              <a:rPr lang="en-AU" dirty="0"/>
              <a:t>Web Development </a:t>
            </a:r>
          </a:p>
        </p:txBody>
      </p:sp>
      <p:sp>
        <p:nvSpPr>
          <p:cNvPr id="3" name="Text Placeholder 2">
            <a:extLst>
              <a:ext uri="{FF2B5EF4-FFF2-40B4-BE49-F238E27FC236}">
                <a16:creationId xmlns:a16="http://schemas.microsoft.com/office/drawing/2014/main" xmlns="" id="{94875C1C-3858-44F5-9117-CB658AFD44E3}"/>
              </a:ext>
            </a:extLst>
          </p:cNvPr>
          <p:cNvSpPr>
            <a:spLocks noGrp="1"/>
          </p:cNvSpPr>
          <p:nvPr>
            <p:ph type="body" sz="quarter" idx="11"/>
          </p:nvPr>
        </p:nvSpPr>
        <p:spPr/>
        <p:txBody>
          <a:bodyPr vert="horz" lIns="91440" tIns="45720" rIns="91440" bIns="45720" rtlCol="0">
            <a:normAutofit/>
          </a:bodyPr>
          <a:lstStyle/>
          <a:p>
            <a:pPr marL="0" indent="0">
              <a:buNone/>
            </a:pPr>
            <a:r>
              <a:rPr lang="en-AU" dirty="0">
                <a:solidFill>
                  <a:schemeClr val="tx1"/>
                </a:solidFill>
              </a:rPr>
              <a:t>Week #06</a:t>
            </a:r>
          </a:p>
        </p:txBody>
      </p:sp>
    </p:spTree>
    <p:extLst>
      <p:ext uri="{BB962C8B-B14F-4D97-AF65-F5344CB8AC3E}">
        <p14:creationId xmlns:p14="http://schemas.microsoft.com/office/powerpoint/2010/main" val="715634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66722-80F4-4358-A03A-B90207A379F2}"/>
              </a:ext>
            </a:extLst>
          </p:cNvPr>
          <p:cNvSpPr>
            <a:spLocks noGrp="1"/>
          </p:cNvSpPr>
          <p:nvPr>
            <p:ph type="title"/>
          </p:nvPr>
        </p:nvSpPr>
        <p:spPr/>
        <p:txBody>
          <a:bodyPr/>
          <a:lstStyle/>
          <a:p>
            <a:r>
              <a:rPr lang="en-AU" dirty="0">
                <a:solidFill>
                  <a:schemeClr val="bg1"/>
                </a:solidFill>
              </a:rPr>
              <a:t>This Week</a:t>
            </a:r>
          </a:p>
        </p:txBody>
      </p:sp>
      <p:sp>
        <p:nvSpPr>
          <p:cNvPr id="3" name="Content Placeholder 2">
            <a:extLst>
              <a:ext uri="{FF2B5EF4-FFF2-40B4-BE49-F238E27FC236}">
                <a16:creationId xmlns:a16="http://schemas.microsoft.com/office/drawing/2014/main" xmlns="" id="{E853B393-0F2E-4B7F-A349-A00432CBDA3B}"/>
              </a:ext>
            </a:extLst>
          </p:cNvPr>
          <p:cNvSpPr>
            <a:spLocks noGrp="1"/>
          </p:cNvSpPr>
          <p:nvPr>
            <p:ph idx="1"/>
          </p:nvPr>
        </p:nvSpPr>
        <p:spPr>
          <a:xfrm>
            <a:off x="838200" y="1219200"/>
            <a:ext cx="10515600" cy="4957763"/>
          </a:xfrm>
        </p:spPr>
        <p:txBody>
          <a:bodyPr>
            <a:normAutofit lnSpcReduction="10000"/>
          </a:bodyPr>
          <a:lstStyle/>
          <a:p>
            <a:pPr>
              <a:lnSpc>
                <a:spcPct val="200000"/>
              </a:lnSpc>
            </a:pPr>
            <a:r>
              <a:rPr lang="en-AU" dirty="0"/>
              <a:t>Designing the navigation for a website.</a:t>
            </a:r>
            <a:endParaRPr lang="en-US" dirty="0"/>
          </a:p>
          <a:p>
            <a:pPr>
              <a:lnSpc>
                <a:spcPct val="200000"/>
              </a:lnSpc>
            </a:pPr>
            <a:r>
              <a:rPr lang="en-US" dirty="0"/>
              <a:t>Embedded media,</a:t>
            </a:r>
          </a:p>
          <a:p>
            <a:pPr lvl="1"/>
            <a:r>
              <a:rPr lang="en-AU" dirty="0"/>
              <a:t>Embedded media</a:t>
            </a:r>
          </a:p>
          <a:p>
            <a:pPr lvl="1"/>
            <a:r>
              <a:rPr lang="en-AU" dirty="0"/>
              <a:t>YouTube Video</a:t>
            </a:r>
          </a:p>
          <a:p>
            <a:pPr lvl="1"/>
            <a:r>
              <a:rPr lang="en-AU" dirty="0"/>
              <a:t>Google Maps</a:t>
            </a:r>
          </a:p>
          <a:p>
            <a:pPr>
              <a:lnSpc>
                <a:spcPct val="200000"/>
              </a:lnSpc>
            </a:pPr>
            <a:r>
              <a:rPr lang="en-US" dirty="0"/>
              <a:t> advanced image use, </a:t>
            </a:r>
          </a:p>
          <a:p>
            <a:pPr lvl="1"/>
            <a:r>
              <a:rPr lang="en-AU" dirty="0"/>
              <a:t>their importance</a:t>
            </a:r>
          </a:p>
          <a:p>
            <a:pPr lvl="1"/>
            <a:r>
              <a:rPr lang="en-AU" dirty="0"/>
              <a:t>file format and performance</a:t>
            </a:r>
          </a:p>
          <a:p>
            <a:pPr>
              <a:lnSpc>
                <a:spcPct val="200000"/>
              </a:lnSpc>
            </a:pPr>
            <a:r>
              <a:rPr lang="en-US" dirty="0"/>
              <a:t>icons. 	</a:t>
            </a:r>
          </a:p>
          <a:p>
            <a:endParaRPr lang="en-AU" dirty="0"/>
          </a:p>
        </p:txBody>
      </p:sp>
    </p:spTree>
    <p:extLst>
      <p:ext uri="{BB962C8B-B14F-4D97-AF65-F5344CB8AC3E}">
        <p14:creationId xmlns:p14="http://schemas.microsoft.com/office/powerpoint/2010/main" val="776537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3" name="Rectangle 5"/>
          <p:cNvSpPr>
            <a:spLocks noGrp="1" noChangeArrowheads="1"/>
          </p:cNvSpPr>
          <p:nvPr>
            <p:ph idx="1"/>
          </p:nvPr>
        </p:nvSpPr>
        <p:spPr/>
        <p:txBody>
          <a:bodyPr>
            <a:normAutofit/>
          </a:bodyPr>
          <a:lstStyle/>
          <a:p>
            <a:pPr marL="342900" indent="-342900"/>
            <a:r>
              <a:rPr lang="en-AU" dirty="0"/>
              <a:t>The foundation on which you build everything else</a:t>
            </a:r>
            <a:endParaRPr lang="en-US" dirty="0"/>
          </a:p>
          <a:p>
            <a:pPr marL="342900" indent="-342900"/>
            <a:endParaRPr lang="en-AU" dirty="0"/>
          </a:p>
          <a:p>
            <a:pPr marL="342900" indent="-342900"/>
            <a:r>
              <a:rPr lang="en-AU" dirty="0"/>
              <a:t>A well-designed structure makes it easy to define a navigation system</a:t>
            </a:r>
            <a:endParaRPr lang="en-US" dirty="0"/>
          </a:p>
          <a:p>
            <a:pPr marL="342900" indent="-342900"/>
            <a:endParaRPr lang="en-AU" dirty="0"/>
          </a:p>
          <a:p>
            <a:pPr marL="342900" indent="-342900"/>
            <a:r>
              <a:rPr lang="en-US" dirty="0"/>
              <a:t>Once structure and navigation systems are in place a page template will be built.</a:t>
            </a:r>
          </a:p>
          <a:p>
            <a:pPr marL="342900" indent="-342900"/>
            <a:endParaRPr lang="en-US" dirty="0"/>
          </a:p>
          <a:p>
            <a:pPr marL="342900" indent="-342900"/>
            <a:r>
              <a:rPr lang="en-US" dirty="0"/>
              <a:t>A well-designed site structure gives immediate feedback regarding the structure of the design</a:t>
            </a:r>
          </a:p>
          <a:p>
            <a:pPr marL="342900" indent="-342900"/>
            <a:endParaRPr lang="en-US" dirty="0"/>
          </a:p>
        </p:txBody>
      </p:sp>
      <p:sp>
        <p:nvSpPr>
          <p:cNvPr id="27652" name="Rectangle 4"/>
          <p:cNvSpPr>
            <a:spLocks noGrp="1" noChangeArrowheads="1"/>
          </p:cNvSpPr>
          <p:nvPr>
            <p:ph type="title"/>
          </p:nvPr>
        </p:nvSpPr>
        <p:spPr/>
        <p:txBody>
          <a:bodyPr vert="horz" lIns="91440" tIns="45720" rIns="91440" bIns="45720" rtlCol="0" anchor="ctr">
            <a:normAutofit/>
          </a:bodyPr>
          <a:lstStyle/>
          <a:p>
            <a:r>
              <a:rPr lang="en-AU" dirty="0">
                <a:solidFill>
                  <a:schemeClr val="bg1"/>
                </a:solidFill>
              </a:rPr>
              <a:t>Site Structure / Site Map</a:t>
            </a:r>
          </a:p>
        </p:txBody>
      </p:sp>
    </p:spTree>
    <p:extLst>
      <p:ext uri="{BB962C8B-B14F-4D97-AF65-F5344CB8AC3E}">
        <p14:creationId xmlns:p14="http://schemas.microsoft.com/office/powerpoint/2010/main" val="292601809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5411" name="Rectangle 3"/>
          <p:cNvSpPr>
            <a:spLocks noGrp="1" noChangeArrowheads="1"/>
          </p:cNvSpPr>
          <p:nvPr>
            <p:ph idx="1"/>
          </p:nvPr>
        </p:nvSpPr>
        <p:spPr/>
        <p:txBody>
          <a:bodyPr/>
          <a:lstStyle/>
          <a:p>
            <a:pPr marL="342900" indent="-342900"/>
            <a:r>
              <a:rPr lang="en-US" dirty="0"/>
              <a:t>Most people prefer to see a tree-structure type of map rather than text</a:t>
            </a:r>
          </a:p>
          <a:p>
            <a:pPr marL="342900" indent="-342900"/>
            <a:endParaRPr lang="en-US" dirty="0"/>
          </a:p>
          <a:p>
            <a:pPr marL="342900" indent="-342900"/>
            <a:r>
              <a:rPr lang="en-US" dirty="0"/>
              <a:t>Detailed blueprints also show </a:t>
            </a:r>
            <a:r>
              <a:rPr lang="en-AU" dirty="0"/>
              <a:t>on- and off-site links</a:t>
            </a:r>
          </a:p>
          <a:p>
            <a:pPr marL="342900" indent="-342900"/>
            <a:endParaRPr lang="en-AU" dirty="0"/>
          </a:p>
          <a:p>
            <a:pPr marL="342900" indent="-342900"/>
            <a:r>
              <a:rPr lang="en-AU" dirty="0"/>
              <a:t>Look at the next slides to see</a:t>
            </a:r>
          </a:p>
          <a:p>
            <a:pPr marL="1085850" lvl="1" indent="-342900"/>
            <a:r>
              <a:rPr lang="en-AU" dirty="0"/>
              <a:t>a screen shot of the navigation of the Wentworth Institute of Higher Education (our College)</a:t>
            </a:r>
          </a:p>
          <a:p>
            <a:pPr marL="1085850" lvl="1" indent="-342900"/>
            <a:r>
              <a:rPr lang="en-AU" dirty="0"/>
              <a:t>a partial site map of the Wentworth Institute of Higher Education</a:t>
            </a:r>
          </a:p>
        </p:txBody>
      </p:sp>
      <p:sp>
        <p:nvSpPr>
          <p:cNvPr id="145410" name="Rectangle 2"/>
          <p:cNvSpPr>
            <a:spLocks noGrp="1" noChangeArrowheads="1"/>
          </p:cNvSpPr>
          <p:nvPr>
            <p:ph type="title"/>
          </p:nvPr>
        </p:nvSpPr>
        <p:spPr/>
        <p:txBody>
          <a:bodyPr vert="horz" lIns="91440" tIns="45720" rIns="91440" bIns="45720" rtlCol="0" anchor="ctr">
            <a:normAutofit/>
          </a:bodyPr>
          <a:lstStyle/>
          <a:p>
            <a:r>
              <a:rPr lang="en-US" dirty="0">
                <a:solidFill>
                  <a:schemeClr val="bg1"/>
                </a:solidFill>
              </a:rPr>
              <a:t>Site map</a:t>
            </a:r>
            <a:endParaRPr lang="en-AU" dirty="0">
              <a:solidFill>
                <a:schemeClr val="bg1"/>
              </a:solidFill>
            </a:endParaRPr>
          </a:p>
        </p:txBody>
      </p:sp>
    </p:spTree>
    <p:extLst>
      <p:ext uri="{BB962C8B-B14F-4D97-AF65-F5344CB8AC3E}">
        <p14:creationId xmlns:p14="http://schemas.microsoft.com/office/powerpoint/2010/main" val="325124049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bg>
      <p:bgPr>
        <a:blipFill dpi="0" rotWithShape="1">
          <a:blip r:embed="rId3">
            <a:lum/>
          </a:blip>
          <a:srcRect/>
          <a:stretch>
            <a:fillRect t="-25000" r="-6000" b="-4000"/>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0684D28-FBEE-4932-9259-33799BE80743}"/>
              </a:ext>
            </a:extLst>
          </p:cNvPr>
          <p:cNvPicPr>
            <a:picLocks noChangeAspect="1"/>
          </p:cNvPicPr>
          <p:nvPr/>
        </p:nvPicPr>
        <p:blipFill>
          <a:blip r:embed="rId4"/>
          <a:stretch>
            <a:fillRect/>
          </a:stretch>
        </p:blipFill>
        <p:spPr>
          <a:xfrm>
            <a:off x="711200" y="152400"/>
            <a:ext cx="10490200" cy="5664708"/>
          </a:xfrm>
          <a:prstGeom prst="rect">
            <a:avLst/>
          </a:prstGeom>
        </p:spPr>
      </p:pic>
    </p:spTree>
    <p:extLst>
      <p:ext uri="{BB962C8B-B14F-4D97-AF65-F5344CB8AC3E}">
        <p14:creationId xmlns:p14="http://schemas.microsoft.com/office/powerpoint/2010/main" val="370518207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vert="horz" lIns="91440" tIns="45720" rIns="91440" bIns="45720" rtlCol="0" anchor="ctr">
            <a:normAutofit/>
          </a:bodyPr>
          <a:lstStyle/>
          <a:p>
            <a:r>
              <a:rPr lang="en-AU" dirty="0">
                <a:solidFill>
                  <a:schemeClr val="bg1"/>
                </a:solidFill>
              </a:rPr>
              <a:t>Website Sitemap </a:t>
            </a:r>
          </a:p>
        </p:txBody>
      </p:sp>
      <p:pic>
        <p:nvPicPr>
          <p:cNvPr id="3" name="Picture 2">
            <a:extLst>
              <a:ext uri="{FF2B5EF4-FFF2-40B4-BE49-F238E27FC236}">
                <a16:creationId xmlns:a16="http://schemas.microsoft.com/office/drawing/2014/main" xmlns="" id="{2B27A44D-25F3-4F5A-83DB-31402A3ECECA}"/>
              </a:ext>
            </a:extLst>
          </p:cNvPr>
          <p:cNvPicPr>
            <a:picLocks noChangeAspect="1"/>
          </p:cNvPicPr>
          <p:nvPr/>
        </p:nvPicPr>
        <p:blipFill>
          <a:blip r:embed="rId3"/>
          <a:stretch>
            <a:fillRect/>
          </a:stretch>
        </p:blipFill>
        <p:spPr>
          <a:xfrm>
            <a:off x="381000" y="1295399"/>
            <a:ext cx="3638102" cy="4639323"/>
          </a:xfrm>
          <a:prstGeom prst="rect">
            <a:avLst/>
          </a:prstGeom>
        </p:spPr>
      </p:pic>
      <p:pic>
        <p:nvPicPr>
          <p:cNvPr id="6" name="Picture 5">
            <a:extLst>
              <a:ext uri="{FF2B5EF4-FFF2-40B4-BE49-F238E27FC236}">
                <a16:creationId xmlns:a16="http://schemas.microsoft.com/office/drawing/2014/main" xmlns="" id="{71657416-FD91-426D-A699-EB6ACB60B4E2}"/>
              </a:ext>
            </a:extLst>
          </p:cNvPr>
          <p:cNvPicPr>
            <a:picLocks noChangeAspect="1"/>
          </p:cNvPicPr>
          <p:nvPr/>
        </p:nvPicPr>
        <p:blipFill>
          <a:blip r:embed="rId4"/>
          <a:stretch>
            <a:fillRect/>
          </a:stretch>
        </p:blipFill>
        <p:spPr>
          <a:xfrm>
            <a:off x="5867400" y="1295400"/>
            <a:ext cx="5715798" cy="4639322"/>
          </a:xfrm>
          <a:prstGeom prst="rect">
            <a:avLst/>
          </a:prstGeom>
        </p:spPr>
      </p:pic>
    </p:spTree>
    <p:extLst>
      <p:ext uri="{BB962C8B-B14F-4D97-AF65-F5344CB8AC3E}">
        <p14:creationId xmlns:p14="http://schemas.microsoft.com/office/powerpoint/2010/main" val="4123304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47800"/>
            <a:ext cx="10515600" cy="4576763"/>
          </a:xfrm>
        </p:spPr>
        <p:txBody>
          <a:bodyPr>
            <a:normAutofit/>
          </a:bodyPr>
          <a:lstStyle/>
          <a:p>
            <a:pPr marL="342900" indent="-342900"/>
            <a:r>
              <a:rPr lang="en-AU" dirty="0"/>
              <a:t>Define Navigation </a:t>
            </a:r>
            <a:endParaRPr lang="en-US" dirty="0"/>
          </a:p>
          <a:p>
            <a:pPr lvl="1"/>
            <a:r>
              <a:rPr lang="en-AU" dirty="0"/>
              <a:t>How will users use the site? </a:t>
            </a:r>
            <a:endParaRPr lang="en-US" dirty="0"/>
          </a:p>
          <a:p>
            <a:pPr lvl="1"/>
            <a:r>
              <a:rPr lang="en-AU" dirty="0"/>
              <a:t>How will they get from one place to another? </a:t>
            </a:r>
            <a:endParaRPr lang="en-US" dirty="0"/>
          </a:p>
          <a:p>
            <a:pPr lvl="1"/>
            <a:r>
              <a:rPr lang="en-AU" dirty="0"/>
              <a:t>How do you prevent them from getting lost?</a:t>
            </a:r>
          </a:p>
          <a:p>
            <a:pPr lvl="1"/>
            <a:endParaRPr lang="en-US" dirty="0"/>
          </a:p>
          <a:p>
            <a:pPr marL="342900" indent="-342900"/>
            <a:r>
              <a:rPr lang="en-AU" dirty="0"/>
              <a:t>Designing good navigation is an art</a:t>
            </a:r>
          </a:p>
          <a:p>
            <a:pPr marL="342900" indent="-342900"/>
            <a:endParaRPr lang="en-AU" dirty="0"/>
          </a:p>
          <a:p>
            <a:pPr marL="342900" indent="-342900"/>
            <a:r>
              <a:rPr lang="en-AU" dirty="0"/>
              <a:t>Well-planned web sites suggest every type of navigation required</a:t>
            </a:r>
          </a:p>
        </p:txBody>
      </p:sp>
      <p:sp>
        <p:nvSpPr>
          <p:cNvPr id="2" name="Title 1"/>
          <p:cNvSpPr>
            <a:spLocks noGrp="1"/>
          </p:cNvSpPr>
          <p:nvPr>
            <p:ph type="title"/>
          </p:nvPr>
        </p:nvSpPr>
        <p:spPr/>
        <p:txBody>
          <a:bodyPr vert="horz" lIns="91440" tIns="45720" rIns="91440" bIns="45720" rtlCol="0" anchor="ctr">
            <a:normAutofit/>
          </a:bodyPr>
          <a:lstStyle/>
          <a:p>
            <a:r>
              <a:rPr lang="en-AU" dirty="0">
                <a:solidFill>
                  <a:schemeClr val="bg1"/>
                </a:solidFill>
              </a:rPr>
              <a:t>Navigation</a:t>
            </a:r>
          </a:p>
        </p:txBody>
      </p:sp>
    </p:spTree>
    <p:extLst>
      <p:ext uri="{BB962C8B-B14F-4D97-AF65-F5344CB8AC3E}">
        <p14:creationId xmlns:p14="http://schemas.microsoft.com/office/powerpoint/2010/main" val="1837397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
          <p:cNvSpPr>
            <a:spLocks noGrp="1"/>
          </p:cNvSpPr>
          <p:nvPr>
            <p:ph type="title"/>
          </p:nvPr>
        </p:nvSpPr>
        <p:spPr>
          <a:xfrm>
            <a:off x="609600" y="319284"/>
            <a:ext cx="10668000" cy="747516"/>
          </a:xfrm>
        </p:spPr>
        <p:txBody>
          <a:bodyPr vert="horz" lIns="91440" tIns="45720" rIns="91440" bIns="45720" rtlCol="0" anchor="ctr">
            <a:normAutofit/>
          </a:bodyPr>
          <a:lstStyle/>
          <a:p>
            <a:r>
              <a:rPr lang="en-AU" dirty="0">
                <a:solidFill>
                  <a:schemeClr val="bg1"/>
                </a:solidFill>
              </a:rPr>
              <a:t>Illogical Navigation Groupings (lingscars.com)</a:t>
            </a:r>
          </a:p>
        </p:txBody>
      </p:sp>
      <p:pic>
        <p:nvPicPr>
          <p:cNvPr id="12" name="Picture 11">
            <a:extLst>
              <a:ext uri="{FF2B5EF4-FFF2-40B4-BE49-F238E27FC236}">
                <a16:creationId xmlns:a16="http://schemas.microsoft.com/office/drawing/2014/main" xmlns="" id="{4A0EE041-60B0-4655-A1DE-152526FA39E9}"/>
              </a:ext>
            </a:extLst>
          </p:cNvPr>
          <p:cNvPicPr>
            <a:picLocks noChangeAspect="1"/>
          </p:cNvPicPr>
          <p:nvPr/>
        </p:nvPicPr>
        <p:blipFill>
          <a:blip r:embed="rId3"/>
          <a:stretch>
            <a:fillRect/>
          </a:stretch>
        </p:blipFill>
        <p:spPr>
          <a:xfrm>
            <a:off x="2362200" y="1279634"/>
            <a:ext cx="7239000" cy="4892566"/>
          </a:xfrm>
          <a:prstGeom prst="rect">
            <a:avLst/>
          </a:prstGeom>
        </p:spPr>
      </p:pic>
    </p:spTree>
    <p:extLst>
      <p:ext uri="{BB962C8B-B14F-4D97-AF65-F5344CB8AC3E}">
        <p14:creationId xmlns:p14="http://schemas.microsoft.com/office/powerpoint/2010/main" val="2555265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AU" sz="2800" dirty="0"/>
              <a:t>Global</a:t>
            </a:r>
          </a:p>
          <a:p>
            <a:r>
              <a:rPr lang="en-AU" sz="2800" dirty="0"/>
              <a:t>Primary</a:t>
            </a:r>
          </a:p>
          <a:p>
            <a:r>
              <a:rPr lang="en-AU" sz="2800" dirty="0"/>
              <a:t>Secondary</a:t>
            </a:r>
          </a:p>
          <a:p>
            <a:r>
              <a:rPr lang="en-AU" sz="2800" dirty="0"/>
              <a:t>Tertiary</a:t>
            </a:r>
          </a:p>
          <a:p>
            <a:r>
              <a:rPr lang="en-AU" sz="2800" dirty="0"/>
              <a:t>Utility</a:t>
            </a:r>
          </a:p>
          <a:p>
            <a:r>
              <a:rPr lang="en-AU" sz="2800" dirty="0"/>
              <a:t>Footer</a:t>
            </a:r>
          </a:p>
          <a:p>
            <a:r>
              <a:rPr lang="en-AU" sz="2800" dirty="0"/>
              <a:t>Local</a:t>
            </a:r>
          </a:p>
          <a:p>
            <a:r>
              <a:rPr lang="en-AU" sz="2800" dirty="0"/>
              <a:t>In-text links</a:t>
            </a:r>
          </a:p>
        </p:txBody>
      </p:sp>
      <p:sp>
        <p:nvSpPr>
          <p:cNvPr id="2" name="Title 1"/>
          <p:cNvSpPr>
            <a:spLocks noGrp="1"/>
          </p:cNvSpPr>
          <p:nvPr>
            <p:ph type="title"/>
          </p:nvPr>
        </p:nvSpPr>
        <p:spPr/>
        <p:txBody>
          <a:bodyPr vert="horz" lIns="91440" tIns="45720" rIns="91440" bIns="45720" rtlCol="0" anchor="ctr">
            <a:normAutofit/>
          </a:bodyPr>
          <a:lstStyle/>
          <a:p>
            <a:r>
              <a:rPr lang="en-AU" dirty="0">
                <a:solidFill>
                  <a:schemeClr val="bg1"/>
                </a:solidFill>
              </a:rPr>
              <a:t>Navigation Terminology</a:t>
            </a:r>
          </a:p>
        </p:txBody>
      </p:sp>
    </p:spTree>
    <p:extLst>
      <p:ext uri="{BB962C8B-B14F-4D97-AF65-F5344CB8AC3E}">
        <p14:creationId xmlns:p14="http://schemas.microsoft.com/office/powerpoint/2010/main" val="232529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42900" indent="-342900"/>
            <a:r>
              <a:rPr lang="en-AU" dirty="0"/>
              <a:t>Also referred to as top-level navigation</a:t>
            </a:r>
          </a:p>
          <a:p>
            <a:pPr marL="342900" indent="-342900"/>
            <a:r>
              <a:rPr lang="en-AU" dirty="0"/>
              <a:t>Navigation that is </a:t>
            </a:r>
            <a:r>
              <a:rPr lang="en-AU" i="1" dirty="0">
                <a:solidFill>
                  <a:srgbClr val="FF0000"/>
                </a:solidFill>
              </a:rPr>
              <a:t>accessible from all pages</a:t>
            </a:r>
          </a:p>
          <a:p>
            <a:pPr marL="342900" indent="-342900"/>
            <a:r>
              <a:rPr lang="en-AU" dirty="0"/>
              <a:t>Consistent look and feel across the entire site</a:t>
            </a:r>
          </a:p>
          <a:p>
            <a:pPr marL="342900" indent="-342900"/>
            <a:r>
              <a:rPr lang="en-AU" dirty="0"/>
              <a:t>Global navigation consists of primary pieces of navigation – menu links</a:t>
            </a:r>
          </a:p>
          <a:p>
            <a:pPr marL="342900" indent="-342900"/>
            <a:r>
              <a:rPr lang="en-AU" dirty="0"/>
              <a:t>Primary pieces of navigation may be further divided into secondary navigation</a:t>
            </a:r>
          </a:p>
          <a:p>
            <a:pPr marL="342900" indent="-342900"/>
            <a:endParaRPr lang="en-AU" dirty="0"/>
          </a:p>
          <a:p>
            <a:pPr marL="342900" indent="-342900"/>
            <a:endParaRPr lang="en-AU" dirty="0"/>
          </a:p>
          <a:p>
            <a:pPr marL="342900" indent="-342900"/>
            <a:endParaRPr lang="en-AU" dirty="0"/>
          </a:p>
        </p:txBody>
      </p:sp>
      <p:sp>
        <p:nvSpPr>
          <p:cNvPr id="2" name="Title 1"/>
          <p:cNvSpPr>
            <a:spLocks noGrp="1"/>
          </p:cNvSpPr>
          <p:nvPr>
            <p:ph type="title"/>
          </p:nvPr>
        </p:nvSpPr>
        <p:spPr/>
        <p:txBody>
          <a:bodyPr vert="horz" lIns="91440" tIns="45720" rIns="91440" bIns="45720" rtlCol="0" anchor="ctr">
            <a:normAutofit/>
          </a:bodyPr>
          <a:lstStyle/>
          <a:p>
            <a:r>
              <a:rPr lang="en-AU" dirty="0">
                <a:solidFill>
                  <a:schemeClr val="bg1"/>
                </a:solidFill>
              </a:rPr>
              <a:t>Global/primary/secondary</a:t>
            </a:r>
          </a:p>
        </p:txBody>
      </p:sp>
    </p:spTree>
    <p:extLst>
      <p:ext uri="{BB962C8B-B14F-4D97-AF65-F5344CB8AC3E}">
        <p14:creationId xmlns:p14="http://schemas.microsoft.com/office/powerpoint/2010/main" val="3252916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bg>
      <p:bgPr>
        <a:blipFill dpi="0" rotWithShape="1">
          <a:blip r:embed="rId3">
            <a:lum/>
          </a:blip>
          <a:srcRect/>
          <a:stretch>
            <a:fillRect t="-25000" r="-6000" b="-4000"/>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889F59DD-CEE9-4882-B432-D3DBA4383523}"/>
              </a:ext>
            </a:extLst>
          </p:cNvPr>
          <p:cNvPicPr>
            <a:picLocks noChangeAspect="1"/>
          </p:cNvPicPr>
          <p:nvPr/>
        </p:nvPicPr>
        <p:blipFill>
          <a:blip r:embed="rId4"/>
          <a:stretch>
            <a:fillRect/>
          </a:stretch>
        </p:blipFill>
        <p:spPr>
          <a:xfrm>
            <a:off x="1066800" y="228600"/>
            <a:ext cx="10439400" cy="5637276"/>
          </a:xfrm>
          <a:prstGeom prst="rect">
            <a:avLst/>
          </a:prstGeom>
        </p:spPr>
      </p:pic>
    </p:spTree>
    <p:extLst>
      <p:ext uri="{BB962C8B-B14F-4D97-AF65-F5344CB8AC3E}">
        <p14:creationId xmlns:p14="http://schemas.microsoft.com/office/powerpoint/2010/main" val="369276713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342900" indent="-342900"/>
            <a:r>
              <a:rPr lang="en-AU" dirty="0"/>
              <a:t>If student services in the previous slide has a menu it is called Tertiary navigation.</a:t>
            </a:r>
          </a:p>
          <a:p>
            <a:pPr marL="342900" indent="-342900"/>
            <a:r>
              <a:rPr lang="en-AU" dirty="0"/>
              <a:t>We don’t want to have it. </a:t>
            </a:r>
          </a:p>
          <a:p>
            <a:pPr marL="342900" indent="-342900"/>
            <a:endParaRPr lang="en-AU" dirty="0"/>
          </a:p>
          <a:p>
            <a:pPr marL="342900" indent="-342900"/>
            <a:r>
              <a:rPr lang="en-AU" dirty="0"/>
              <a:t>If tertiary navigation is necessary consider re-categorization of pages</a:t>
            </a:r>
          </a:p>
        </p:txBody>
      </p:sp>
      <p:sp>
        <p:nvSpPr>
          <p:cNvPr id="2" name="Title 1"/>
          <p:cNvSpPr>
            <a:spLocks noGrp="1"/>
          </p:cNvSpPr>
          <p:nvPr>
            <p:ph type="title"/>
          </p:nvPr>
        </p:nvSpPr>
        <p:spPr/>
        <p:txBody>
          <a:bodyPr vert="horz" lIns="91440" tIns="45720" rIns="91440" bIns="45720" rtlCol="0" anchor="ctr">
            <a:normAutofit/>
          </a:bodyPr>
          <a:lstStyle/>
          <a:p>
            <a:r>
              <a:rPr lang="en-AU" dirty="0">
                <a:solidFill>
                  <a:schemeClr val="bg1"/>
                </a:solidFill>
              </a:rPr>
              <a:t>Tertiary</a:t>
            </a:r>
          </a:p>
        </p:txBody>
      </p:sp>
    </p:spTree>
    <p:extLst>
      <p:ext uri="{BB962C8B-B14F-4D97-AF65-F5344CB8AC3E}">
        <p14:creationId xmlns:p14="http://schemas.microsoft.com/office/powerpoint/2010/main" val="2910042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AU" dirty="0">
                <a:solidFill>
                  <a:schemeClr val="bg1"/>
                </a:solidFill>
              </a:rPr>
              <a:t>Utility &amp; Footer</a:t>
            </a:r>
          </a:p>
        </p:txBody>
      </p:sp>
      <p:sp>
        <p:nvSpPr>
          <p:cNvPr id="3" name="Content Placeholder 2"/>
          <p:cNvSpPr>
            <a:spLocks noGrp="1"/>
          </p:cNvSpPr>
          <p:nvPr>
            <p:ph idx="1"/>
          </p:nvPr>
        </p:nvSpPr>
        <p:spPr/>
        <p:txBody>
          <a:bodyPr/>
          <a:lstStyle/>
          <a:p>
            <a:r>
              <a:rPr lang="en-AU" dirty="0"/>
              <a:t>Utility = “leftovers” for which there is no category</a:t>
            </a:r>
          </a:p>
          <a:p>
            <a:pPr lvl="1"/>
            <a:r>
              <a:rPr lang="en-AU" i="1" dirty="0">
                <a:solidFill>
                  <a:srgbClr val="FF0000"/>
                </a:solidFill>
              </a:rPr>
              <a:t>Search, Facebook, Twitter, LinkedIn, in WIN website are Utility navigation.</a:t>
            </a:r>
          </a:p>
          <a:p>
            <a:endParaRPr lang="en-AU" dirty="0"/>
          </a:p>
          <a:p>
            <a:r>
              <a:rPr lang="en-AU" dirty="0"/>
              <a:t>Size of utility navigation is usually equal to the footer size</a:t>
            </a:r>
          </a:p>
          <a:p>
            <a:endParaRPr lang="en-AU" dirty="0"/>
          </a:p>
          <a:p>
            <a:r>
              <a:rPr lang="en-AU" dirty="0"/>
              <a:t>Still considered to be global because of access on all pages</a:t>
            </a:r>
          </a:p>
          <a:p>
            <a:endParaRPr lang="en-AU" dirty="0"/>
          </a:p>
          <a:p>
            <a:r>
              <a:rPr lang="en-AU" b="1" dirty="0"/>
              <a:t>Footer navigation</a:t>
            </a:r>
            <a:r>
              <a:rPr lang="en-AU" dirty="0"/>
              <a:t>, although global, relates to contact links only </a:t>
            </a:r>
          </a:p>
          <a:p>
            <a:pPr lvl="1"/>
            <a:r>
              <a:rPr lang="en-AU" dirty="0"/>
              <a:t>Almost always contains an email link to the “webmaster”</a:t>
            </a:r>
          </a:p>
          <a:p>
            <a:pPr lvl="1"/>
            <a:r>
              <a:rPr lang="en-AU" dirty="0"/>
              <a:t>Usually also has  a link to the design firm or designer</a:t>
            </a:r>
          </a:p>
          <a:p>
            <a:pPr lvl="1"/>
            <a:endParaRPr lang="en-AU" dirty="0"/>
          </a:p>
        </p:txBody>
      </p:sp>
    </p:spTree>
    <p:extLst>
      <p:ext uri="{BB962C8B-B14F-4D97-AF65-F5344CB8AC3E}">
        <p14:creationId xmlns:p14="http://schemas.microsoft.com/office/powerpoint/2010/main" val="38436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24000"/>
            <a:ext cx="10515600" cy="4652963"/>
          </a:xfrm>
        </p:spPr>
        <p:txBody>
          <a:bodyPr>
            <a:normAutofit/>
          </a:bodyPr>
          <a:lstStyle/>
          <a:p>
            <a:pPr marL="342900" indent="-342900"/>
            <a:r>
              <a:rPr lang="en-AU" dirty="0"/>
              <a:t>Local navigation pieces are contained within one section of a website</a:t>
            </a:r>
          </a:p>
          <a:p>
            <a:pPr marL="342900" indent="-342900"/>
            <a:endParaRPr lang="en-AU" dirty="0"/>
          </a:p>
          <a:p>
            <a:pPr marL="342900" indent="-342900"/>
            <a:r>
              <a:rPr lang="en-AU" dirty="0"/>
              <a:t>Local navigation can have primary and secondary navigation</a:t>
            </a:r>
          </a:p>
          <a:p>
            <a:pPr marL="342900" indent="-342900"/>
            <a:endParaRPr lang="en-AU" dirty="0"/>
          </a:p>
          <a:p>
            <a:pPr marL="342900" indent="-342900"/>
            <a:r>
              <a:rPr lang="en-AU" dirty="0"/>
              <a:t>“in-text” refers to all the links contained within the information</a:t>
            </a:r>
          </a:p>
          <a:p>
            <a:pPr lvl="1"/>
            <a:r>
              <a:rPr lang="en-AU" dirty="0"/>
              <a:t>These may lead off-site, or within the site but off-page</a:t>
            </a:r>
          </a:p>
          <a:p>
            <a:pPr lvl="1"/>
            <a:endParaRPr lang="en-AU" dirty="0"/>
          </a:p>
          <a:p>
            <a:pPr marL="342900" indent="-342900"/>
            <a:endParaRPr lang="en-AU" dirty="0"/>
          </a:p>
        </p:txBody>
      </p:sp>
      <p:sp>
        <p:nvSpPr>
          <p:cNvPr id="2" name="Title 1"/>
          <p:cNvSpPr>
            <a:spLocks noGrp="1"/>
          </p:cNvSpPr>
          <p:nvPr>
            <p:ph type="title"/>
          </p:nvPr>
        </p:nvSpPr>
        <p:spPr>
          <a:xfrm>
            <a:off x="838200" y="365125"/>
            <a:ext cx="10515600" cy="854075"/>
          </a:xfrm>
        </p:spPr>
        <p:txBody>
          <a:bodyPr vert="horz" lIns="91440" tIns="45720" rIns="91440" bIns="45720" rtlCol="0" anchor="ctr">
            <a:normAutofit/>
          </a:bodyPr>
          <a:lstStyle/>
          <a:p>
            <a:r>
              <a:rPr lang="en-AU" dirty="0">
                <a:solidFill>
                  <a:schemeClr val="bg1"/>
                </a:solidFill>
              </a:rPr>
              <a:t>Local &amp; in-text</a:t>
            </a:r>
          </a:p>
        </p:txBody>
      </p:sp>
    </p:spTree>
    <p:extLst>
      <p:ext uri="{BB962C8B-B14F-4D97-AF65-F5344CB8AC3E}">
        <p14:creationId xmlns:p14="http://schemas.microsoft.com/office/powerpoint/2010/main" val="2329372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342900" indent="-342900"/>
            <a:r>
              <a:rPr lang="en-AU" dirty="0"/>
              <a:t>Navigation should be unobtrusive but prominent</a:t>
            </a:r>
          </a:p>
          <a:p>
            <a:pPr marL="342900" indent="-342900"/>
            <a:endParaRPr lang="en-AU" dirty="0"/>
          </a:p>
          <a:p>
            <a:pPr marL="342900" indent="-342900"/>
            <a:r>
              <a:rPr lang="en-AU" dirty="0"/>
              <a:t>Text on navigation buttons should never exceed 12 pixels</a:t>
            </a:r>
          </a:p>
          <a:p>
            <a:pPr marL="342900" indent="-342900"/>
            <a:endParaRPr lang="en-AU" dirty="0"/>
          </a:p>
          <a:p>
            <a:pPr marL="342900" indent="-342900"/>
            <a:r>
              <a:rPr lang="en-AU" dirty="0"/>
              <a:t>Text should always be smaller in size than body text</a:t>
            </a:r>
          </a:p>
          <a:p>
            <a:pPr marL="342900" indent="-342900"/>
            <a:endParaRPr lang="en-AU" dirty="0"/>
          </a:p>
          <a:p>
            <a:pPr lvl="1"/>
            <a:endParaRPr lang="en-AU" dirty="0"/>
          </a:p>
        </p:txBody>
      </p:sp>
      <p:sp>
        <p:nvSpPr>
          <p:cNvPr id="2" name="Title 1"/>
          <p:cNvSpPr>
            <a:spLocks noGrp="1"/>
          </p:cNvSpPr>
          <p:nvPr>
            <p:ph type="title"/>
          </p:nvPr>
        </p:nvSpPr>
        <p:spPr/>
        <p:txBody>
          <a:bodyPr vert="horz" lIns="91440" tIns="45720" rIns="91440" bIns="45720" rtlCol="0" anchor="ctr">
            <a:normAutofit/>
          </a:bodyPr>
          <a:lstStyle/>
          <a:p>
            <a:r>
              <a:rPr lang="en-AU" dirty="0">
                <a:solidFill>
                  <a:schemeClr val="bg1"/>
                </a:solidFill>
              </a:rPr>
              <a:t>Users &amp; navigation</a:t>
            </a:r>
          </a:p>
        </p:txBody>
      </p:sp>
    </p:spTree>
    <p:extLst>
      <p:ext uri="{BB962C8B-B14F-4D97-AF65-F5344CB8AC3E}">
        <p14:creationId xmlns:p14="http://schemas.microsoft.com/office/powerpoint/2010/main" val="1163510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3235E266-0D81-47CE-AF77-18141A9569E9}"/>
              </a:ext>
            </a:extLst>
          </p:cNvPr>
          <p:cNvSpPr>
            <a:spLocks noGrp="1"/>
          </p:cNvSpPr>
          <p:nvPr>
            <p:ph type="title"/>
          </p:nvPr>
        </p:nvSpPr>
        <p:spPr/>
        <p:txBody>
          <a:bodyPr vert="horz" lIns="91440" tIns="45720" rIns="91440" bIns="45720" rtlCol="0" anchor="ctr">
            <a:normAutofit/>
          </a:bodyPr>
          <a:lstStyle/>
          <a:p>
            <a:r>
              <a:rPr lang="en-AU" dirty="0">
                <a:solidFill>
                  <a:schemeClr val="bg1"/>
                </a:solidFill>
              </a:rPr>
              <a:t>Images</a:t>
            </a:r>
          </a:p>
        </p:txBody>
      </p:sp>
      <p:sp>
        <p:nvSpPr>
          <p:cNvPr id="8" name="Content Placeholder 7">
            <a:extLst>
              <a:ext uri="{FF2B5EF4-FFF2-40B4-BE49-F238E27FC236}">
                <a16:creationId xmlns:a16="http://schemas.microsoft.com/office/drawing/2014/main" xmlns="" id="{4B0E03ED-076E-4A87-9417-8C2D51A54449}"/>
              </a:ext>
            </a:extLst>
          </p:cNvPr>
          <p:cNvSpPr>
            <a:spLocks noGrp="1"/>
          </p:cNvSpPr>
          <p:nvPr>
            <p:ph idx="1"/>
          </p:nvPr>
        </p:nvSpPr>
        <p:spPr/>
        <p:txBody>
          <a:bodyPr/>
          <a:lstStyle/>
          <a:p>
            <a:pPr marL="342900" lvl="0" indent="-342900" algn="l">
              <a:buFont typeface="Arial" panose="020B0604020202020204" pitchFamily="34" charset="0"/>
              <a:buChar char="•"/>
            </a:pPr>
            <a:r>
              <a:rPr lang="en-AU" dirty="0"/>
              <a:t>Appropriate use of images is important</a:t>
            </a:r>
          </a:p>
          <a:p>
            <a:pPr lvl="1" algn="l"/>
            <a:r>
              <a:rPr lang="en-AU" dirty="0"/>
              <a:t>–can make a huge difference to page load time</a:t>
            </a:r>
          </a:p>
          <a:p>
            <a:pPr lvl="1" algn="l"/>
            <a:r>
              <a:rPr lang="en-AU" dirty="0"/>
              <a:t>–can enhance / disrupt visual flow</a:t>
            </a:r>
          </a:p>
          <a:p>
            <a:pPr lvl="1" algn="l"/>
            <a:r>
              <a:rPr lang="en-AU" dirty="0"/>
              <a:t>–can make page cluttered / reduce readability</a:t>
            </a:r>
          </a:p>
          <a:p>
            <a:pPr lvl="1" algn="l"/>
            <a:r>
              <a:rPr lang="en-AU" dirty="0"/>
              <a:t>–can cause compatibility issues</a:t>
            </a:r>
          </a:p>
          <a:p>
            <a:pPr lvl="1" algn="l"/>
            <a:r>
              <a:rPr lang="en-AU" dirty="0"/>
              <a:t>–can cause layout issues</a:t>
            </a:r>
            <a:endParaRPr lang="en-AU" sz="2200" baseline="30000" dirty="0"/>
          </a:p>
          <a:p>
            <a:endParaRPr lang="en-AU" dirty="0"/>
          </a:p>
        </p:txBody>
      </p:sp>
    </p:spTree>
    <p:extLst>
      <p:ext uri="{BB962C8B-B14F-4D97-AF65-F5344CB8AC3E}">
        <p14:creationId xmlns:p14="http://schemas.microsoft.com/office/powerpoint/2010/main" val="3521356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AU" dirty="0">
                <a:solidFill>
                  <a:schemeClr val="bg1"/>
                </a:solidFill>
              </a:rPr>
              <a:t>HTML Images Syntax</a:t>
            </a:r>
          </a:p>
        </p:txBody>
      </p:sp>
      <p:sp>
        <p:nvSpPr>
          <p:cNvPr id="10" name="Content Placeholder 9">
            <a:extLst>
              <a:ext uri="{FF2B5EF4-FFF2-40B4-BE49-F238E27FC236}">
                <a16:creationId xmlns:a16="http://schemas.microsoft.com/office/drawing/2014/main" xmlns="" id="{BFE37FED-9CED-4CA0-B861-531AE8141955}"/>
              </a:ext>
            </a:extLst>
          </p:cNvPr>
          <p:cNvSpPr>
            <a:spLocks noGrp="1"/>
          </p:cNvSpPr>
          <p:nvPr>
            <p:ph idx="1"/>
          </p:nvPr>
        </p:nvSpPr>
        <p:spPr/>
        <p:txBody>
          <a:bodyPr>
            <a:normAutofit fontScale="85000" lnSpcReduction="20000"/>
          </a:bodyPr>
          <a:lstStyle/>
          <a:p>
            <a:pPr>
              <a:lnSpc>
                <a:spcPct val="107000"/>
              </a:lnSpc>
              <a:spcBef>
                <a:spcPts val="1440"/>
              </a:spcBef>
              <a:spcAft>
                <a:spcPts val="1440"/>
              </a:spcAft>
            </a:pP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The HTML</a:t>
            </a:r>
            <a:r>
              <a:rPr lang="en-AU" sz="29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r>
              <a:rPr lang="en-AU" sz="2900" dirty="0">
                <a:solidFill>
                  <a:srgbClr val="DC143C"/>
                </a:solidFill>
                <a:latin typeface="Consolas" panose="020B0609020204030204" pitchFamily="49" charset="0"/>
                <a:ea typeface="Times New Roman" panose="02020603050405020304" pitchFamily="18" charset="0"/>
                <a:cs typeface="Courier New" panose="02070309020205020404" pitchFamily="49" charset="0"/>
              </a:rPr>
              <a:t>&lt;img&gt;</a:t>
            </a:r>
            <a:r>
              <a:rPr lang="en-AU" sz="29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tag is used to embed an image in a web page.</a:t>
            </a:r>
            <a:endParaRPr lang="en-AU" sz="2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440"/>
              </a:spcBef>
              <a:spcAft>
                <a:spcPts val="1440"/>
              </a:spcAft>
            </a:pP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Images are not technically inserted into a web page; images are linked to web pages. The </a:t>
            </a:r>
            <a:r>
              <a:rPr lang="en-AU" sz="2900" dirty="0">
                <a:solidFill>
                  <a:srgbClr val="DC143C"/>
                </a:solidFill>
                <a:latin typeface="Consolas" panose="020B0609020204030204" pitchFamily="49" charset="0"/>
                <a:ea typeface="Times New Roman" panose="02020603050405020304" pitchFamily="18" charset="0"/>
                <a:cs typeface="Courier New" panose="02070309020205020404" pitchFamily="49" charset="0"/>
              </a:rPr>
              <a:t>&lt;img&gt;</a:t>
            </a: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tag creates a holding space for the referenced image.</a:t>
            </a:r>
            <a:endParaRPr lang="en-AU" sz="2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440"/>
              </a:spcBef>
              <a:spcAft>
                <a:spcPts val="1440"/>
              </a:spcAft>
            </a:pP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The </a:t>
            </a:r>
            <a:r>
              <a:rPr lang="en-AU" sz="2900" dirty="0">
                <a:solidFill>
                  <a:srgbClr val="DC143C"/>
                </a:solidFill>
                <a:latin typeface="Consolas" panose="020B0609020204030204" pitchFamily="49" charset="0"/>
                <a:ea typeface="Times New Roman" panose="02020603050405020304" pitchFamily="18" charset="0"/>
                <a:cs typeface="Courier New" panose="02070309020205020404" pitchFamily="49" charset="0"/>
              </a:rPr>
              <a:t>&lt;img&gt;</a:t>
            </a: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tag is empty, it contains attributes only, and does not have a closing tag.</a:t>
            </a:r>
            <a:endParaRPr lang="en-AU" sz="2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440"/>
              </a:spcBef>
              <a:spcAft>
                <a:spcPts val="1440"/>
              </a:spcAft>
            </a:pP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The </a:t>
            </a:r>
            <a:r>
              <a:rPr lang="en-AU" sz="3200" dirty="0">
                <a:solidFill>
                  <a:srgbClr val="DC143C"/>
                </a:solidFill>
                <a:latin typeface="Consolas" panose="020B0609020204030204" pitchFamily="49" charset="0"/>
                <a:ea typeface="Times New Roman" panose="02020603050405020304" pitchFamily="18" charset="0"/>
                <a:cs typeface="Courier New" panose="02070309020205020404" pitchFamily="49" charset="0"/>
              </a:rPr>
              <a:t>&lt;img&gt;</a:t>
            </a: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tag has two required attributes:</a:t>
            </a:r>
            <a:endParaRPr lang="en-AU" sz="2400" dirty="0">
              <a:latin typeface="Calibri" panose="020F0502020204030204" pitchFamily="34" charset="0"/>
              <a:ea typeface="Calibri" panose="020F0502020204030204" pitchFamily="34" charset="0"/>
              <a:cs typeface="Arial" panose="020B0604020202020204" pitchFamily="34" charset="0"/>
            </a:endParaRPr>
          </a:p>
          <a:p>
            <a:pPr marL="800100" lvl="1" indent="-342900">
              <a:lnSpc>
                <a:spcPct val="107000"/>
              </a:lnSpc>
              <a:spcAft>
                <a:spcPts val="800"/>
              </a:spcAft>
              <a:buSzPts val="1000"/>
              <a:buFont typeface="Symbol" panose="05050102010706020507" pitchFamily="18" charset="2"/>
              <a:buChar char=""/>
              <a:tabLst>
                <a:tab pos="457200" algn="l"/>
              </a:tabLst>
            </a:pP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src - Specifies the path to the image</a:t>
            </a:r>
            <a:endParaRPr lang="en-AU" sz="2000" dirty="0">
              <a:solidFill>
                <a:srgbClr val="000000"/>
              </a:solidFill>
              <a:latin typeface="Calibri" panose="020F0502020204030204" pitchFamily="34" charset="0"/>
              <a:ea typeface="Calibri" panose="020F0502020204030204" pitchFamily="34" charset="0"/>
              <a:cs typeface="Arial" panose="020B0604020202020204" pitchFamily="34" charset="0"/>
            </a:endParaRPr>
          </a:p>
          <a:p>
            <a:pPr marL="800100" lvl="1" indent="-342900">
              <a:lnSpc>
                <a:spcPct val="107000"/>
              </a:lnSpc>
              <a:spcAft>
                <a:spcPts val="800"/>
              </a:spcAft>
              <a:buSzPts val="1000"/>
              <a:buFont typeface="Symbol" panose="05050102010706020507" pitchFamily="18" charset="2"/>
              <a:buChar char=""/>
              <a:tabLst>
                <a:tab pos="457200" algn="l"/>
              </a:tabLst>
            </a:pPr>
            <a:r>
              <a:rPr lang="en-AU"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alt - Specifies an alternate text for the image</a:t>
            </a:r>
            <a:endParaRPr lang="en-AU" sz="2000" dirty="0">
              <a:solidFill>
                <a:srgbClr val="000000"/>
              </a:solidFill>
              <a:latin typeface="Calibri" panose="020F0502020204030204" pitchFamily="34" charset="0"/>
              <a:ea typeface="Times New Roman" panose="02020603050405020304" pitchFamily="18" charset="0"/>
              <a:cs typeface="Arial" panose="020B0604020202020204" pitchFamily="34" charset="0"/>
            </a:endParaRPr>
          </a:p>
          <a:p>
            <a:pPr marL="0" indent="0">
              <a:lnSpc>
                <a:spcPct val="107000"/>
              </a:lnSpc>
              <a:spcAft>
                <a:spcPts val="800"/>
              </a:spcAft>
              <a:buNone/>
            </a:pPr>
            <a:r>
              <a:rPr lang="en-AU" dirty="0">
                <a:solidFill>
                  <a:srgbClr val="0000CD"/>
                </a:solidFill>
                <a:latin typeface="Consolas" panose="020B0609020204030204" pitchFamily="49" charset="0"/>
                <a:ea typeface="Calibri" panose="020F0502020204030204" pitchFamily="34" charset="0"/>
                <a:cs typeface="Arial" panose="020B0604020202020204" pitchFamily="34" charset="0"/>
              </a:rPr>
              <a:t>         &lt;</a:t>
            </a:r>
            <a:r>
              <a:rPr lang="en-AU" dirty="0">
                <a:solidFill>
                  <a:srgbClr val="A52A2A"/>
                </a:solidFill>
                <a:latin typeface="Consolas" panose="020B0609020204030204" pitchFamily="49" charset="0"/>
                <a:ea typeface="Calibri" panose="020F0502020204030204" pitchFamily="34" charset="0"/>
                <a:cs typeface="Arial" panose="020B0604020202020204" pitchFamily="34" charset="0"/>
              </a:rPr>
              <a:t>img</a:t>
            </a:r>
            <a:r>
              <a:rPr lang="en-AU" dirty="0">
                <a:solidFill>
                  <a:srgbClr val="FF0000"/>
                </a:solidFill>
                <a:latin typeface="Consolas" panose="020B0609020204030204" pitchFamily="49" charset="0"/>
                <a:ea typeface="Calibri" panose="020F0502020204030204" pitchFamily="34" charset="0"/>
                <a:cs typeface="Arial" panose="020B0604020202020204" pitchFamily="34" charset="0"/>
              </a:rPr>
              <a:t> src</a:t>
            </a:r>
            <a:r>
              <a:rPr lang="en-AU" dirty="0">
                <a:solidFill>
                  <a:srgbClr val="0000CD"/>
                </a:solidFill>
                <a:latin typeface="Consolas" panose="020B0609020204030204" pitchFamily="49" charset="0"/>
                <a:ea typeface="Calibri" panose="020F0502020204030204" pitchFamily="34" charset="0"/>
                <a:cs typeface="Arial" panose="020B0604020202020204" pitchFamily="34" charset="0"/>
              </a:rPr>
              <a:t>="</a:t>
            </a:r>
            <a:r>
              <a:rPr lang="en-AU" i="1" dirty="0" err="1">
                <a:solidFill>
                  <a:srgbClr val="0000CD"/>
                </a:solidFill>
                <a:latin typeface="Consolas" panose="020B0609020204030204" pitchFamily="49" charset="0"/>
                <a:ea typeface="Calibri" panose="020F0502020204030204" pitchFamily="34" charset="0"/>
                <a:cs typeface="Arial" panose="020B0604020202020204" pitchFamily="34" charset="0"/>
              </a:rPr>
              <a:t>url</a:t>
            </a:r>
            <a:r>
              <a:rPr lang="en-AU" dirty="0">
                <a:solidFill>
                  <a:srgbClr val="0000CD"/>
                </a:solidFill>
                <a:latin typeface="Consolas" panose="020B0609020204030204" pitchFamily="49" charset="0"/>
                <a:ea typeface="Calibri" panose="020F0502020204030204" pitchFamily="34" charset="0"/>
                <a:cs typeface="Arial" panose="020B0604020202020204" pitchFamily="34" charset="0"/>
              </a:rPr>
              <a:t>"</a:t>
            </a:r>
            <a:r>
              <a:rPr lang="en-AU" dirty="0">
                <a:solidFill>
                  <a:srgbClr val="FF0000"/>
                </a:solidFill>
                <a:latin typeface="Consolas" panose="020B0609020204030204" pitchFamily="49" charset="0"/>
                <a:ea typeface="Calibri" panose="020F0502020204030204" pitchFamily="34" charset="0"/>
                <a:cs typeface="Arial" panose="020B0604020202020204" pitchFamily="34" charset="0"/>
              </a:rPr>
              <a:t> alt</a:t>
            </a:r>
            <a:r>
              <a:rPr lang="en-AU" dirty="0">
                <a:solidFill>
                  <a:srgbClr val="0000CD"/>
                </a:solidFill>
                <a:latin typeface="Consolas" panose="020B0609020204030204" pitchFamily="49" charset="0"/>
                <a:ea typeface="Calibri" panose="020F0502020204030204" pitchFamily="34" charset="0"/>
                <a:cs typeface="Arial" panose="020B0604020202020204" pitchFamily="34" charset="0"/>
              </a:rPr>
              <a:t>="</a:t>
            </a:r>
            <a:r>
              <a:rPr lang="en-AU" i="1" dirty="0" err="1">
                <a:solidFill>
                  <a:srgbClr val="0000CD"/>
                </a:solidFill>
                <a:latin typeface="Consolas" panose="020B0609020204030204" pitchFamily="49" charset="0"/>
                <a:ea typeface="Calibri" panose="020F0502020204030204" pitchFamily="34" charset="0"/>
                <a:cs typeface="Arial" panose="020B0604020202020204" pitchFamily="34" charset="0"/>
              </a:rPr>
              <a:t>alternatetext</a:t>
            </a:r>
            <a:r>
              <a:rPr lang="en-AU" dirty="0">
                <a:solidFill>
                  <a:srgbClr val="0000CD"/>
                </a:solidFill>
                <a:latin typeface="Consolas" panose="020B0609020204030204" pitchFamily="49" charset="0"/>
                <a:ea typeface="Calibri" panose="020F0502020204030204" pitchFamily="34" charset="0"/>
                <a:cs typeface="Arial" panose="020B0604020202020204" pitchFamily="34" charset="0"/>
              </a:rPr>
              <a:t>"&gt;</a:t>
            </a:r>
            <a:endParaRPr lang="en-AU" sz="2400" dirty="0">
              <a:latin typeface="Calibri" panose="020F0502020204030204" pitchFamily="34" charset="0"/>
              <a:ea typeface="Calibri" panose="020F050202020403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39798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fontScale="90000"/>
          </a:bodyPr>
          <a:lstStyle/>
          <a:p>
            <a:r>
              <a:rPr lang="en-AU" dirty="0">
                <a:solidFill>
                  <a:schemeClr val="bg1"/>
                </a:solidFill>
              </a:rPr>
              <a:t>Image Size - Width and Height</a:t>
            </a:r>
            <a:br>
              <a:rPr lang="en-AU" dirty="0">
                <a:solidFill>
                  <a:schemeClr val="bg1"/>
                </a:solidFill>
              </a:rPr>
            </a:br>
            <a:endParaRPr lang="en-AU" dirty="0">
              <a:solidFill>
                <a:schemeClr val="bg1"/>
              </a:solidFill>
            </a:endParaRPr>
          </a:p>
        </p:txBody>
      </p:sp>
      <p:sp>
        <p:nvSpPr>
          <p:cNvPr id="2" name="Content Placeholder 1"/>
          <p:cNvSpPr>
            <a:spLocks noGrp="1"/>
          </p:cNvSpPr>
          <p:nvPr>
            <p:ph idx="1"/>
          </p:nvPr>
        </p:nvSpPr>
        <p:spPr/>
        <p:txBody>
          <a:bodyPr>
            <a:normAutofit/>
          </a:bodyPr>
          <a:lstStyle/>
          <a:p>
            <a:pPr lvl="0"/>
            <a:r>
              <a:rPr lang="en-AU" dirty="0"/>
              <a:t>You can use the style attribute to specify the width and height of an image.</a:t>
            </a:r>
          </a:p>
          <a:p>
            <a:pPr lvl="0"/>
            <a:r>
              <a:rPr lang="en-AU" dirty="0"/>
              <a:t>Example: </a:t>
            </a:r>
          </a:p>
          <a:p>
            <a:pPr marL="0" lvl="0" indent="0">
              <a:buNone/>
            </a:pPr>
            <a:r>
              <a:rPr lang="en-AU" sz="2000" i="1" dirty="0">
                <a:solidFill>
                  <a:srgbClr val="FF0000"/>
                </a:solidFill>
              </a:rPr>
              <a:t>&lt;img src="img_girl.jpg" alt="Girl in a jacket" style="width:500px;height:600px;"&gt;</a:t>
            </a:r>
          </a:p>
          <a:p>
            <a:pPr lvl="0"/>
            <a:endParaRPr lang="en-AU" dirty="0"/>
          </a:p>
          <a:p>
            <a:r>
              <a:rPr lang="en-AU" dirty="0"/>
              <a:t>Alternatively, you can use the width and height attributes:</a:t>
            </a:r>
          </a:p>
          <a:p>
            <a:r>
              <a:rPr lang="en-AU" dirty="0"/>
              <a:t>Example:</a:t>
            </a:r>
          </a:p>
          <a:p>
            <a:pPr marL="0" indent="0">
              <a:buNone/>
            </a:pPr>
            <a:r>
              <a:rPr lang="en-AU" sz="2000" i="1" dirty="0">
                <a:solidFill>
                  <a:srgbClr val="FF0000"/>
                </a:solidFill>
              </a:rPr>
              <a:t>&lt;img src="img_girl.jpg" alt="Girl in a jacket" width="500" height="600"&gt;</a:t>
            </a:r>
          </a:p>
          <a:p>
            <a:endParaRPr lang="en-AU" dirty="0"/>
          </a:p>
          <a:p>
            <a:r>
              <a:rPr lang="en-AU" dirty="0"/>
              <a:t>Note: The width and height attributes always define the width and height of the image in pixels.</a:t>
            </a:r>
          </a:p>
        </p:txBody>
      </p:sp>
    </p:spTree>
    <p:extLst>
      <p:ext uri="{BB962C8B-B14F-4D97-AF65-F5344CB8AC3E}">
        <p14:creationId xmlns:p14="http://schemas.microsoft.com/office/powerpoint/2010/main" val="3777817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Images in other locations</a:t>
            </a:r>
          </a:p>
        </p:txBody>
      </p:sp>
      <p:sp>
        <p:nvSpPr>
          <p:cNvPr id="78851" name="Rectangle 3"/>
          <p:cNvSpPr>
            <a:spLocks noGrp="1" noChangeArrowheads="1"/>
          </p:cNvSpPr>
          <p:nvPr>
            <p:ph idx="1"/>
            <p:custDataLst>
              <p:tags r:id="rId3"/>
            </p:custDataLst>
          </p:nvPr>
        </p:nvSpPr>
        <p:spPr/>
        <p:txBody>
          <a:bodyPr/>
          <a:lstStyle/>
          <a:p>
            <a:r>
              <a:rPr lang="en-AU" dirty="0"/>
              <a:t>Images in Another Folder</a:t>
            </a:r>
          </a:p>
          <a:p>
            <a:pPr lvl="1"/>
            <a:r>
              <a:rPr lang="en-AU" dirty="0"/>
              <a:t>If you have your images in a sub-folder, you must include the folder name in the </a:t>
            </a:r>
            <a:r>
              <a:rPr lang="en-AU" dirty="0" err="1"/>
              <a:t>src</a:t>
            </a:r>
            <a:r>
              <a:rPr lang="en-AU" dirty="0"/>
              <a:t> attribute</a:t>
            </a:r>
          </a:p>
          <a:p>
            <a:pPr marL="457200" lvl="1" indent="0">
              <a:buNone/>
            </a:pPr>
            <a:r>
              <a:rPr lang="en-AU" sz="1800" i="1" dirty="0">
                <a:solidFill>
                  <a:srgbClr val="FF0000"/>
                </a:solidFill>
              </a:rPr>
              <a:t>&lt;</a:t>
            </a:r>
            <a:r>
              <a:rPr lang="en-AU" sz="1800" i="1" dirty="0" err="1">
                <a:solidFill>
                  <a:srgbClr val="FF0000"/>
                </a:solidFill>
              </a:rPr>
              <a:t>img</a:t>
            </a:r>
            <a:r>
              <a:rPr lang="en-AU" sz="1800" i="1" dirty="0">
                <a:solidFill>
                  <a:srgbClr val="FF0000"/>
                </a:solidFill>
              </a:rPr>
              <a:t> </a:t>
            </a:r>
            <a:r>
              <a:rPr lang="en-AU" sz="1800" i="1" dirty="0" err="1">
                <a:solidFill>
                  <a:srgbClr val="FF0000"/>
                </a:solidFill>
              </a:rPr>
              <a:t>src</a:t>
            </a:r>
            <a:r>
              <a:rPr lang="en-AU" sz="1800" i="1" dirty="0">
                <a:solidFill>
                  <a:srgbClr val="FF0000"/>
                </a:solidFill>
              </a:rPr>
              <a:t>="/images/html5.gif" alt="HTML5 Icon" style="width:128px;height:128px;"&gt;</a:t>
            </a:r>
          </a:p>
          <a:p>
            <a:pPr lvl="1"/>
            <a:endParaRPr lang="en-AU" i="1" dirty="0">
              <a:solidFill>
                <a:srgbClr val="FF0000"/>
              </a:solidFill>
            </a:endParaRPr>
          </a:p>
          <a:p>
            <a:r>
              <a:rPr lang="en-AU" dirty="0"/>
              <a:t>Images on Another Server/Website</a:t>
            </a:r>
          </a:p>
          <a:p>
            <a:pPr lvl="1"/>
            <a:r>
              <a:rPr lang="en-AU" dirty="0"/>
              <a:t>Some web sites point to an image on another server.</a:t>
            </a:r>
          </a:p>
          <a:p>
            <a:pPr lvl="1"/>
            <a:r>
              <a:rPr lang="en-AU" dirty="0"/>
              <a:t>To point to an image on another server, you must specify an absolute (full) URL in the </a:t>
            </a:r>
            <a:r>
              <a:rPr lang="en-AU" dirty="0" err="1"/>
              <a:t>src</a:t>
            </a:r>
            <a:r>
              <a:rPr lang="en-AU" dirty="0"/>
              <a:t> attribute:</a:t>
            </a:r>
          </a:p>
          <a:p>
            <a:pPr marL="457200" lvl="1" indent="0">
              <a:buNone/>
            </a:pPr>
            <a:r>
              <a:rPr lang="en-AU" sz="1800" i="1" dirty="0">
                <a:solidFill>
                  <a:srgbClr val="FF0000"/>
                </a:solidFill>
              </a:rPr>
              <a:t>&lt;</a:t>
            </a:r>
            <a:r>
              <a:rPr lang="en-AU" sz="1800" i="1" dirty="0" err="1">
                <a:solidFill>
                  <a:srgbClr val="FF0000"/>
                </a:solidFill>
              </a:rPr>
              <a:t>img</a:t>
            </a:r>
            <a:r>
              <a:rPr lang="en-AU" sz="1800" i="1" dirty="0">
                <a:solidFill>
                  <a:srgbClr val="FF0000"/>
                </a:solidFill>
              </a:rPr>
              <a:t> </a:t>
            </a:r>
            <a:r>
              <a:rPr lang="en-AU" sz="1800" i="1" dirty="0" err="1">
                <a:solidFill>
                  <a:srgbClr val="FF0000"/>
                </a:solidFill>
              </a:rPr>
              <a:t>src</a:t>
            </a:r>
            <a:r>
              <a:rPr lang="en-AU" sz="1800" i="1" dirty="0">
                <a:solidFill>
                  <a:srgbClr val="FF0000"/>
                </a:solidFill>
              </a:rPr>
              <a:t>="https://www.w3schools.com/images/w3schools_green.jpg" alt="W3Schools.com"&gt;</a:t>
            </a:r>
          </a:p>
          <a:p>
            <a:pPr marL="457200" lvl="1" indent="0">
              <a:buNone/>
            </a:pPr>
            <a:endParaRPr lang="en-AU" dirty="0"/>
          </a:p>
        </p:txBody>
      </p:sp>
    </p:spTree>
    <p:custDataLst>
      <p:tags r:id="rId1"/>
    </p:custDataLst>
    <p:extLst>
      <p:ext uri="{BB962C8B-B14F-4D97-AF65-F5344CB8AC3E}">
        <p14:creationId xmlns:p14="http://schemas.microsoft.com/office/powerpoint/2010/main" val="1796800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Common Image Formats</a:t>
            </a:r>
          </a:p>
        </p:txBody>
      </p:sp>
      <p:sp>
        <p:nvSpPr>
          <p:cNvPr id="48131" name="Rectangle 3"/>
          <p:cNvSpPr>
            <a:spLocks noGrp="1" noChangeArrowheads="1"/>
          </p:cNvSpPr>
          <p:nvPr>
            <p:ph idx="1"/>
            <p:custDataLst>
              <p:tags r:id="rId3"/>
            </p:custDataLst>
          </p:nvPr>
        </p:nvSpPr>
        <p:spPr/>
        <p:txBody>
          <a:bodyPr/>
          <a:lstStyle/>
          <a:p>
            <a:pPr lvl="0"/>
            <a:r>
              <a:rPr lang="en-AU" dirty="0"/>
              <a:t>Here are the most common image file types, which are supported in all browsers (Chrome, Edge, Firefox, Safari, Opera):</a:t>
            </a:r>
          </a:p>
          <a:p>
            <a:pPr lvl="0"/>
            <a:endParaRPr lang="en-AU" dirty="0"/>
          </a:p>
        </p:txBody>
      </p:sp>
      <p:pic>
        <p:nvPicPr>
          <p:cNvPr id="2" name="Picture 1"/>
          <p:cNvPicPr>
            <a:picLocks noChangeAspect="1"/>
          </p:cNvPicPr>
          <p:nvPr/>
        </p:nvPicPr>
        <p:blipFill>
          <a:blip r:embed="rId6"/>
          <a:stretch>
            <a:fillRect/>
          </a:stretch>
        </p:blipFill>
        <p:spPr>
          <a:xfrm>
            <a:off x="1066800" y="2521496"/>
            <a:ext cx="10190933" cy="3041104"/>
          </a:xfrm>
          <a:prstGeom prst="rect">
            <a:avLst/>
          </a:prstGeom>
        </p:spPr>
      </p:pic>
    </p:spTree>
    <p:custDataLst>
      <p:tags r:id="rId1"/>
    </p:custDataLst>
    <p:extLst>
      <p:ext uri="{BB962C8B-B14F-4D97-AF65-F5344CB8AC3E}">
        <p14:creationId xmlns:p14="http://schemas.microsoft.com/office/powerpoint/2010/main" val="3037762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AU" dirty="0">
                <a:solidFill>
                  <a:schemeClr val="bg1"/>
                </a:solidFill>
              </a:rPr>
              <a:t>Embedded media</a:t>
            </a:r>
          </a:p>
        </p:txBody>
      </p:sp>
      <p:sp>
        <p:nvSpPr>
          <p:cNvPr id="2" name="Content Placeholder 1"/>
          <p:cNvSpPr>
            <a:spLocks noGrp="1"/>
          </p:cNvSpPr>
          <p:nvPr>
            <p:ph idx="1"/>
          </p:nvPr>
        </p:nvSpPr>
        <p:spPr/>
        <p:txBody>
          <a:bodyPr/>
          <a:lstStyle/>
          <a:p>
            <a:r>
              <a:rPr lang="en-AU" dirty="0"/>
              <a:t>Inline frame – </a:t>
            </a:r>
            <a:r>
              <a:rPr lang="en-AU" b="1" i="1" dirty="0">
                <a:solidFill>
                  <a:srgbClr val="FF0000"/>
                </a:solidFill>
              </a:rPr>
              <a:t>iframe</a:t>
            </a:r>
          </a:p>
          <a:p>
            <a:pPr lvl="1"/>
            <a:r>
              <a:rPr lang="en-AU" dirty="0"/>
              <a:t>An HTML iframe is used to display a web page within a web page.</a:t>
            </a:r>
          </a:p>
          <a:p>
            <a:pPr lvl="1"/>
            <a:endParaRPr lang="en-AU" dirty="0"/>
          </a:p>
          <a:p>
            <a:pPr lvl="1"/>
            <a:r>
              <a:rPr lang="en-AU" dirty="0"/>
              <a:t>The HTML &lt;iframe&gt; tag specifies an inline frame.</a:t>
            </a:r>
          </a:p>
          <a:p>
            <a:pPr lvl="1"/>
            <a:endParaRPr lang="en-AU" dirty="0"/>
          </a:p>
          <a:p>
            <a:pPr lvl="1"/>
            <a:r>
              <a:rPr lang="en-AU" dirty="0"/>
              <a:t>An inline frame is used to embed another document within the current HTML document.</a:t>
            </a:r>
          </a:p>
          <a:p>
            <a:pPr marL="457200" lvl="1" indent="0">
              <a:buNone/>
            </a:pPr>
            <a:r>
              <a:rPr lang="en-AU" i="1" dirty="0">
                <a:solidFill>
                  <a:srgbClr val="FF0000"/>
                </a:solidFill>
              </a:rPr>
              <a:t>Syntax: &lt;iframe </a:t>
            </a:r>
            <a:r>
              <a:rPr lang="en-AU" i="1" dirty="0" err="1">
                <a:solidFill>
                  <a:srgbClr val="FF0000"/>
                </a:solidFill>
              </a:rPr>
              <a:t>src</a:t>
            </a:r>
            <a:r>
              <a:rPr lang="en-AU" i="1" dirty="0">
                <a:solidFill>
                  <a:srgbClr val="FF0000"/>
                </a:solidFill>
              </a:rPr>
              <a:t>="</a:t>
            </a:r>
            <a:r>
              <a:rPr lang="en-AU" i="1" dirty="0" err="1">
                <a:solidFill>
                  <a:srgbClr val="FF0000"/>
                </a:solidFill>
              </a:rPr>
              <a:t>url</a:t>
            </a:r>
            <a:r>
              <a:rPr lang="en-AU" i="1" dirty="0">
                <a:solidFill>
                  <a:srgbClr val="FF0000"/>
                </a:solidFill>
              </a:rPr>
              <a:t>" title="description"&gt;</a:t>
            </a:r>
          </a:p>
        </p:txBody>
      </p:sp>
    </p:spTree>
    <p:extLst>
      <p:ext uri="{BB962C8B-B14F-4D97-AF65-F5344CB8AC3E}">
        <p14:creationId xmlns:p14="http://schemas.microsoft.com/office/powerpoint/2010/main" val="2546598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iframe - Set Height and Width</a:t>
            </a:r>
          </a:p>
        </p:txBody>
      </p:sp>
      <p:sp>
        <p:nvSpPr>
          <p:cNvPr id="50179" name="Rectangle 3"/>
          <p:cNvSpPr>
            <a:spLocks noGrp="1" noChangeArrowheads="1"/>
          </p:cNvSpPr>
          <p:nvPr>
            <p:ph idx="1"/>
            <p:custDataLst>
              <p:tags r:id="rId3"/>
            </p:custDataLst>
          </p:nvPr>
        </p:nvSpPr>
        <p:spPr/>
        <p:txBody>
          <a:bodyPr/>
          <a:lstStyle/>
          <a:p>
            <a:r>
              <a:rPr lang="en-AU" dirty="0"/>
              <a:t>Use the height and width attributes to specify the size of the </a:t>
            </a:r>
            <a:r>
              <a:rPr lang="en-AU" dirty="0" err="1"/>
              <a:t>iframe</a:t>
            </a:r>
            <a:r>
              <a:rPr lang="en-AU" dirty="0"/>
              <a:t>.</a:t>
            </a:r>
          </a:p>
          <a:p>
            <a:endParaRPr lang="en-AU" dirty="0"/>
          </a:p>
          <a:p>
            <a:r>
              <a:rPr lang="en-AU" dirty="0"/>
              <a:t>The height and width are specified in pixels by default:</a:t>
            </a:r>
          </a:p>
          <a:p>
            <a:endParaRPr lang="en-AU" dirty="0"/>
          </a:p>
          <a:p>
            <a:pPr marL="0" indent="0">
              <a:buNone/>
            </a:pPr>
            <a:r>
              <a:rPr lang="en-AU" sz="2000" i="1" dirty="0">
                <a:solidFill>
                  <a:srgbClr val="FF0000"/>
                </a:solidFill>
              </a:rPr>
              <a:t>&lt;iframe </a:t>
            </a:r>
            <a:r>
              <a:rPr lang="en-AU" sz="2000" i="1" dirty="0" err="1">
                <a:solidFill>
                  <a:srgbClr val="FF0000"/>
                </a:solidFill>
              </a:rPr>
              <a:t>src</a:t>
            </a:r>
            <a:r>
              <a:rPr lang="en-AU" sz="2000" i="1" dirty="0">
                <a:solidFill>
                  <a:srgbClr val="FF0000"/>
                </a:solidFill>
              </a:rPr>
              <a:t>="demo_iframe.htm" height="200" width="300" title="Iframe Example"&gt;&lt;/iframe&gt;</a:t>
            </a:r>
          </a:p>
          <a:p>
            <a:endParaRPr lang="en-AU" dirty="0"/>
          </a:p>
          <a:p>
            <a:r>
              <a:rPr lang="en-AU" dirty="0"/>
              <a:t>Try </a:t>
            </a:r>
            <a:r>
              <a:rPr lang="en-AU" dirty="0">
                <a:hlinkClick r:id="rId6"/>
              </a:rPr>
              <a:t>https://www.w3schools.com/html/tryit.asp?filename=tryhtml_iframe_height_width</a:t>
            </a:r>
            <a:endParaRPr lang="en-AU" dirty="0"/>
          </a:p>
          <a:p>
            <a:endParaRPr lang="en-US" dirty="0"/>
          </a:p>
        </p:txBody>
      </p:sp>
    </p:spTree>
    <p:custDataLst>
      <p:tags r:id="rId1"/>
    </p:custDataLst>
    <p:extLst>
      <p:ext uri="{BB962C8B-B14F-4D97-AF65-F5344CB8AC3E}">
        <p14:creationId xmlns:p14="http://schemas.microsoft.com/office/powerpoint/2010/main" val="2760156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iframe - Remove the Border</a:t>
            </a:r>
          </a:p>
        </p:txBody>
      </p:sp>
      <p:sp>
        <p:nvSpPr>
          <p:cNvPr id="55299" name="Rectangle 3"/>
          <p:cNvSpPr>
            <a:spLocks noGrp="1" noChangeArrowheads="1"/>
          </p:cNvSpPr>
          <p:nvPr>
            <p:ph idx="1"/>
            <p:custDataLst>
              <p:tags r:id="rId3"/>
            </p:custDataLst>
          </p:nvPr>
        </p:nvSpPr>
        <p:spPr/>
        <p:txBody>
          <a:bodyPr/>
          <a:lstStyle/>
          <a:p>
            <a:r>
              <a:rPr lang="en-AU" dirty="0"/>
              <a:t>By default, an iframe has a border around it.</a:t>
            </a:r>
          </a:p>
          <a:p>
            <a:r>
              <a:rPr lang="en-AU" dirty="0"/>
              <a:t>To remove the border, add the style attribute and use the CSS border property:</a:t>
            </a:r>
          </a:p>
          <a:p>
            <a:pPr marL="0" indent="0">
              <a:buNone/>
            </a:pPr>
            <a:r>
              <a:rPr lang="en-AU" sz="2000" i="1" dirty="0">
                <a:solidFill>
                  <a:srgbClr val="FF0000"/>
                </a:solidFill>
              </a:rPr>
              <a:t>&lt;iframe src="demo_iframe.htm" style="</a:t>
            </a:r>
            <a:r>
              <a:rPr lang="en-AU" sz="2000" i="1" dirty="0" err="1">
                <a:solidFill>
                  <a:srgbClr val="FF0000"/>
                </a:solidFill>
              </a:rPr>
              <a:t>border:none</a:t>
            </a:r>
            <a:r>
              <a:rPr lang="en-AU" sz="2000" i="1" dirty="0">
                <a:solidFill>
                  <a:srgbClr val="FF0000"/>
                </a:solidFill>
              </a:rPr>
              <a:t>;" title="Iframe Example"&gt;&lt;/</a:t>
            </a:r>
            <a:r>
              <a:rPr lang="en-AU" sz="2000" i="1" dirty="0" err="1">
                <a:solidFill>
                  <a:srgbClr val="FF0000"/>
                </a:solidFill>
              </a:rPr>
              <a:t>iframe</a:t>
            </a:r>
            <a:r>
              <a:rPr lang="en-AU" sz="2000" i="1" dirty="0">
                <a:solidFill>
                  <a:srgbClr val="FF0000"/>
                </a:solidFill>
              </a:rPr>
              <a:t>&gt;</a:t>
            </a:r>
          </a:p>
          <a:p>
            <a:pPr marL="0" indent="0">
              <a:buNone/>
            </a:pPr>
            <a:endParaRPr lang="en-AU" sz="2000" i="1" dirty="0">
              <a:solidFill>
                <a:srgbClr val="FF0000"/>
              </a:solidFill>
            </a:endParaRPr>
          </a:p>
          <a:p>
            <a:r>
              <a:rPr lang="en-AU" dirty="0"/>
              <a:t>With CSS, you can also change the size, style and </a:t>
            </a:r>
            <a:r>
              <a:rPr lang="en-AU" dirty="0" err="1"/>
              <a:t>color</a:t>
            </a:r>
            <a:r>
              <a:rPr lang="en-AU" dirty="0"/>
              <a:t> of the iframe's border:</a:t>
            </a:r>
          </a:p>
          <a:p>
            <a:pPr marL="0" indent="0">
              <a:buNone/>
            </a:pPr>
            <a:r>
              <a:rPr lang="en-AU" sz="2000" i="1" dirty="0">
                <a:solidFill>
                  <a:srgbClr val="FF0000"/>
                </a:solidFill>
              </a:rPr>
              <a:t>&lt;iframe </a:t>
            </a:r>
            <a:r>
              <a:rPr lang="en-AU" sz="2000" i="1" dirty="0" err="1">
                <a:solidFill>
                  <a:srgbClr val="FF0000"/>
                </a:solidFill>
              </a:rPr>
              <a:t>src</a:t>
            </a:r>
            <a:r>
              <a:rPr lang="en-AU" sz="2000" i="1" dirty="0">
                <a:solidFill>
                  <a:srgbClr val="FF0000"/>
                </a:solidFill>
              </a:rPr>
              <a:t>="demo_iframe.htm" style="border:2px solid red;" title="Iframe Example"&gt;&lt;/iframe&gt;</a:t>
            </a:r>
          </a:p>
        </p:txBody>
      </p:sp>
    </p:spTree>
    <p:custDataLst>
      <p:tags r:id="rId1"/>
    </p:custDataLst>
    <p:extLst>
      <p:ext uri="{BB962C8B-B14F-4D97-AF65-F5344CB8AC3E}">
        <p14:creationId xmlns:p14="http://schemas.microsoft.com/office/powerpoint/2010/main" val="1292798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US" dirty="0" err="1">
                <a:solidFill>
                  <a:schemeClr val="bg1"/>
                </a:solidFill>
              </a:rPr>
              <a:t>i</a:t>
            </a:r>
            <a:r>
              <a:rPr lang="en-AU" dirty="0">
                <a:solidFill>
                  <a:schemeClr val="bg1"/>
                </a:solidFill>
              </a:rPr>
              <a:t>frame - Target for a Link</a:t>
            </a:r>
          </a:p>
        </p:txBody>
      </p:sp>
      <p:sp>
        <p:nvSpPr>
          <p:cNvPr id="55299" name="Rectangle 3"/>
          <p:cNvSpPr>
            <a:spLocks noGrp="1" noChangeArrowheads="1"/>
          </p:cNvSpPr>
          <p:nvPr>
            <p:ph idx="1"/>
            <p:custDataLst>
              <p:tags r:id="rId3"/>
            </p:custDataLst>
          </p:nvPr>
        </p:nvSpPr>
        <p:spPr/>
        <p:txBody>
          <a:bodyPr>
            <a:normAutofit fontScale="92500"/>
          </a:bodyPr>
          <a:lstStyle/>
          <a:p>
            <a:r>
              <a:rPr lang="en-AU" dirty="0"/>
              <a:t>An iframe can be used as the target frame for a link.</a:t>
            </a:r>
          </a:p>
          <a:p>
            <a:endParaRPr lang="en-AU" dirty="0"/>
          </a:p>
          <a:p>
            <a:r>
              <a:rPr lang="en-AU" dirty="0"/>
              <a:t>The target attribute of the link must refer to the name attribute of the iframe:</a:t>
            </a:r>
          </a:p>
          <a:p>
            <a:pPr marL="0" indent="0">
              <a:buNone/>
            </a:pPr>
            <a:r>
              <a:rPr lang="en-AU" i="1" dirty="0">
                <a:solidFill>
                  <a:srgbClr val="FF0000"/>
                </a:solidFill>
              </a:rPr>
              <a:t>&lt;iframe src="demo_iframe.htm" name="</a:t>
            </a:r>
            <a:r>
              <a:rPr lang="en-AU" i="1" dirty="0" err="1">
                <a:solidFill>
                  <a:srgbClr val="FF0000"/>
                </a:solidFill>
              </a:rPr>
              <a:t>iframe_a</a:t>
            </a:r>
            <a:r>
              <a:rPr lang="en-AU" i="1" dirty="0">
                <a:solidFill>
                  <a:srgbClr val="FF0000"/>
                </a:solidFill>
              </a:rPr>
              <a:t>" title="Iframe Example"&gt;&lt;/iframe&gt;</a:t>
            </a:r>
            <a:br>
              <a:rPr lang="en-AU" i="1" dirty="0">
                <a:solidFill>
                  <a:srgbClr val="FF0000"/>
                </a:solidFill>
              </a:rPr>
            </a:br>
            <a:r>
              <a:rPr lang="en-AU" dirty="0"/>
              <a:t/>
            </a:r>
            <a:br>
              <a:rPr lang="en-AU" dirty="0"/>
            </a:br>
            <a:r>
              <a:rPr lang="en-AU" sz="2200" i="1" dirty="0">
                <a:solidFill>
                  <a:srgbClr val="FF0000"/>
                </a:solidFill>
              </a:rPr>
              <a:t>&lt;p&gt;&lt;a </a:t>
            </a:r>
            <a:r>
              <a:rPr lang="en-AU" sz="2200" i="1" dirty="0" err="1">
                <a:solidFill>
                  <a:srgbClr val="FF0000"/>
                </a:solidFill>
              </a:rPr>
              <a:t>href</a:t>
            </a:r>
            <a:r>
              <a:rPr lang="en-AU" sz="2200" i="1" dirty="0">
                <a:solidFill>
                  <a:srgbClr val="FF0000"/>
                </a:solidFill>
              </a:rPr>
              <a:t>="https://www.w3schools.com" target="</a:t>
            </a:r>
            <a:r>
              <a:rPr lang="en-AU" sz="2200" i="1" dirty="0" err="1">
                <a:solidFill>
                  <a:srgbClr val="FF0000"/>
                </a:solidFill>
              </a:rPr>
              <a:t>iframe_a</a:t>
            </a:r>
            <a:r>
              <a:rPr lang="en-AU" sz="2200" i="1" dirty="0">
                <a:solidFill>
                  <a:srgbClr val="FF0000"/>
                </a:solidFill>
              </a:rPr>
              <a:t>"&gt;W3Schools.com&lt;/a&gt;&lt;/p&gt;</a:t>
            </a:r>
            <a:endParaRPr lang="en-AU" i="1" dirty="0">
              <a:solidFill>
                <a:srgbClr val="FF0000"/>
              </a:solidFill>
            </a:endParaRPr>
          </a:p>
          <a:p>
            <a:endParaRPr lang="en-AU" dirty="0"/>
          </a:p>
          <a:p>
            <a:endParaRPr lang="en-AU" dirty="0"/>
          </a:p>
          <a:p>
            <a:r>
              <a:rPr lang="en-AU" dirty="0"/>
              <a:t>Try </a:t>
            </a:r>
            <a:r>
              <a:rPr lang="en-AU" dirty="0">
                <a:hlinkClick r:id="rId6"/>
              </a:rPr>
              <a:t>https://www.w3schools.com/html/tryit.asp?filename=tryhtml_iframe_target</a:t>
            </a:r>
            <a:endParaRPr lang="en-AU" dirty="0"/>
          </a:p>
          <a:p>
            <a:endParaRPr lang="en-AU" dirty="0"/>
          </a:p>
        </p:txBody>
      </p:sp>
    </p:spTree>
    <p:custDataLst>
      <p:tags r:id="rId1"/>
    </p:custDataLst>
    <p:extLst>
      <p:ext uri="{BB962C8B-B14F-4D97-AF65-F5344CB8AC3E}">
        <p14:creationId xmlns:p14="http://schemas.microsoft.com/office/powerpoint/2010/main" val="2000789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YouTube video</a:t>
            </a:r>
          </a:p>
        </p:txBody>
      </p:sp>
      <p:sp>
        <p:nvSpPr>
          <p:cNvPr id="55299" name="Rectangle 3"/>
          <p:cNvSpPr>
            <a:spLocks noGrp="1" noChangeArrowheads="1"/>
          </p:cNvSpPr>
          <p:nvPr>
            <p:ph idx="1"/>
            <p:custDataLst>
              <p:tags r:id="rId3"/>
            </p:custDataLst>
          </p:nvPr>
        </p:nvSpPr>
        <p:spPr/>
        <p:txBody>
          <a:bodyPr/>
          <a:lstStyle/>
          <a:p>
            <a:r>
              <a:rPr lang="en-AU" dirty="0"/>
              <a:t>Using iframe element (with YouTube controls)</a:t>
            </a:r>
          </a:p>
          <a:p>
            <a:r>
              <a:rPr lang="en-AU" sz="2000" i="1" dirty="0">
                <a:solidFill>
                  <a:srgbClr val="FF0000"/>
                </a:solidFill>
              </a:rPr>
              <a:t>&lt;iframe width="420" height="315“ src="https://www.youtube.com/embed/tgbNymZ7vqY"&gt;</a:t>
            </a:r>
            <a:br>
              <a:rPr lang="en-AU" sz="2000" i="1" dirty="0">
                <a:solidFill>
                  <a:srgbClr val="FF0000"/>
                </a:solidFill>
              </a:rPr>
            </a:br>
            <a:r>
              <a:rPr lang="en-AU" sz="2000" i="1" dirty="0">
                <a:solidFill>
                  <a:srgbClr val="FF0000"/>
                </a:solidFill>
              </a:rPr>
              <a:t>&lt;/iframe&gt;</a:t>
            </a:r>
          </a:p>
        </p:txBody>
      </p:sp>
    </p:spTree>
    <p:custDataLst>
      <p:tags r:id="rId1"/>
    </p:custDataLst>
    <p:extLst>
      <p:ext uri="{BB962C8B-B14F-4D97-AF65-F5344CB8AC3E}">
        <p14:creationId xmlns:p14="http://schemas.microsoft.com/office/powerpoint/2010/main" val="2369192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Google map</a:t>
            </a:r>
            <a:endParaRPr lang="en-US" dirty="0">
              <a:solidFill>
                <a:schemeClr val="bg1"/>
              </a:solidFill>
            </a:endParaRPr>
          </a:p>
        </p:txBody>
      </p:sp>
      <p:sp>
        <p:nvSpPr>
          <p:cNvPr id="16" name="Content Placeholder 15">
            <a:extLst>
              <a:ext uri="{FF2B5EF4-FFF2-40B4-BE49-F238E27FC236}">
                <a16:creationId xmlns:a16="http://schemas.microsoft.com/office/drawing/2014/main" xmlns="" id="{C81A3136-0BCC-4AC3-B7C7-74C42E59E715}"/>
              </a:ext>
            </a:extLst>
          </p:cNvPr>
          <p:cNvSpPr>
            <a:spLocks noGrp="1"/>
          </p:cNvSpPr>
          <p:nvPr>
            <p:ph idx="1"/>
          </p:nvPr>
        </p:nvSpPr>
        <p:spPr/>
        <p:txBody>
          <a:bodyPr/>
          <a:lstStyle/>
          <a:p>
            <a:r>
              <a:rPr lang="en-AU" sz="2000" i="1" dirty="0">
                <a:solidFill>
                  <a:srgbClr val="FF0000"/>
                </a:solidFill>
              </a:rPr>
              <a:t>&lt;div class="</a:t>
            </a:r>
            <a:r>
              <a:rPr lang="en-AU" sz="2000" i="1" dirty="0" err="1">
                <a:solidFill>
                  <a:srgbClr val="FF0000"/>
                </a:solidFill>
              </a:rPr>
              <a:t>mapouter</a:t>
            </a:r>
            <a:r>
              <a:rPr lang="en-AU" sz="2000" i="1" dirty="0">
                <a:solidFill>
                  <a:srgbClr val="FF0000"/>
                </a:solidFill>
              </a:rPr>
              <a:t>"&gt;&lt;div class="</a:t>
            </a:r>
            <a:r>
              <a:rPr lang="en-AU" sz="2000" i="1" dirty="0" err="1">
                <a:solidFill>
                  <a:srgbClr val="FF0000"/>
                </a:solidFill>
              </a:rPr>
              <a:t>gmap_canvas</a:t>
            </a:r>
            <a:r>
              <a:rPr lang="en-AU" sz="2000" i="1" dirty="0">
                <a:solidFill>
                  <a:srgbClr val="FF0000"/>
                </a:solidFill>
              </a:rPr>
              <a:t>"&gt;&lt;</a:t>
            </a:r>
            <a:r>
              <a:rPr lang="en-AU" sz="2000" i="1" dirty="0" err="1">
                <a:solidFill>
                  <a:srgbClr val="FF0000"/>
                </a:solidFill>
              </a:rPr>
              <a:t>iframe</a:t>
            </a:r>
            <a:r>
              <a:rPr lang="en-AU" sz="2000" i="1" dirty="0">
                <a:solidFill>
                  <a:srgbClr val="FF0000"/>
                </a:solidFill>
              </a:rPr>
              <a:t> width="600" height="500" id="</a:t>
            </a:r>
            <a:r>
              <a:rPr lang="en-AU" sz="2000" i="1" dirty="0" err="1">
                <a:solidFill>
                  <a:srgbClr val="FF0000"/>
                </a:solidFill>
              </a:rPr>
              <a:t>gmap_canvas</a:t>
            </a:r>
            <a:r>
              <a:rPr lang="en-AU" sz="2000" i="1" dirty="0">
                <a:solidFill>
                  <a:srgbClr val="FF0000"/>
                </a:solidFill>
              </a:rPr>
              <a:t>" src="https://maps.google.com/</a:t>
            </a:r>
            <a:r>
              <a:rPr lang="en-AU" sz="2000" i="1" dirty="0" err="1">
                <a:solidFill>
                  <a:srgbClr val="FF0000"/>
                </a:solidFill>
              </a:rPr>
              <a:t>maps?q</a:t>
            </a:r>
            <a:r>
              <a:rPr lang="en-AU" sz="2000" i="1" dirty="0">
                <a:solidFill>
                  <a:srgbClr val="FF0000"/>
                </a:solidFill>
              </a:rPr>
              <a:t>=302-306%20Elizabeth%20Street&amp;t=&amp;z=13&amp;ie=UTF8&amp;iwloc=&amp;output=embed" frameborder="0" scrolling="no" </a:t>
            </a:r>
            <a:r>
              <a:rPr lang="en-AU" sz="2000" i="1" dirty="0" err="1">
                <a:solidFill>
                  <a:srgbClr val="FF0000"/>
                </a:solidFill>
              </a:rPr>
              <a:t>marginheight</a:t>
            </a:r>
            <a:r>
              <a:rPr lang="en-AU" sz="2000" i="1" dirty="0">
                <a:solidFill>
                  <a:srgbClr val="FF0000"/>
                </a:solidFill>
              </a:rPr>
              <a:t>="0" </a:t>
            </a:r>
            <a:r>
              <a:rPr lang="en-AU" sz="2000" i="1" dirty="0" err="1">
                <a:solidFill>
                  <a:srgbClr val="FF0000"/>
                </a:solidFill>
              </a:rPr>
              <a:t>marginwidth</a:t>
            </a:r>
            <a:r>
              <a:rPr lang="en-AU" sz="2000" i="1" dirty="0">
                <a:solidFill>
                  <a:srgbClr val="FF0000"/>
                </a:solidFill>
              </a:rPr>
              <a:t>="0"&gt;&lt;/</a:t>
            </a:r>
            <a:r>
              <a:rPr lang="en-AU" sz="2000" i="1" dirty="0" err="1">
                <a:solidFill>
                  <a:srgbClr val="FF0000"/>
                </a:solidFill>
              </a:rPr>
              <a:t>iframe</a:t>
            </a:r>
            <a:r>
              <a:rPr lang="en-AU" sz="2000" i="1" dirty="0">
                <a:solidFill>
                  <a:srgbClr val="FF0000"/>
                </a:solidFill>
              </a:rPr>
              <a:t>&gt;&lt;a </a:t>
            </a:r>
            <a:r>
              <a:rPr lang="en-AU" sz="2000" i="1" dirty="0" err="1">
                <a:solidFill>
                  <a:srgbClr val="FF0000"/>
                </a:solidFill>
              </a:rPr>
              <a:t>href</a:t>
            </a:r>
            <a:r>
              <a:rPr lang="en-AU" sz="2000" i="1" dirty="0">
                <a:solidFill>
                  <a:srgbClr val="FF0000"/>
                </a:solidFill>
              </a:rPr>
              <a:t>="https://fmovies-online.net"&gt;</a:t>
            </a:r>
            <a:r>
              <a:rPr lang="en-AU" sz="2000" i="1" dirty="0" err="1">
                <a:solidFill>
                  <a:srgbClr val="FF0000"/>
                </a:solidFill>
              </a:rPr>
              <a:t>fmovies</a:t>
            </a:r>
            <a:r>
              <a:rPr lang="en-AU" sz="2000" i="1" dirty="0">
                <a:solidFill>
                  <a:srgbClr val="FF0000"/>
                </a:solidFill>
              </a:rPr>
              <a:t>&lt;/a&gt;&lt;</a:t>
            </a:r>
            <a:r>
              <a:rPr lang="en-AU" sz="2000" i="1" dirty="0" err="1">
                <a:solidFill>
                  <a:srgbClr val="FF0000"/>
                </a:solidFill>
              </a:rPr>
              <a:t>br</a:t>
            </a:r>
            <a:r>
              <a:rPr lang="en-AU" sz="2000" i="1" dirty="0">
                <a:solidFill>
                  <a:srgbClr val="FF0000"/>
                </a:solidFill>
              </a:rPr>
              <a:t>&gt;&lt;style&gt;.</a:t>
            </a:r>
            <a:r>
              <a:rPr lang="en-AU" sz="2000" i="1" dirty="0" err="1">
                <a:solidFill>
                  <a:srgbClr val="FF0000"/>
                </a:solidFill>
              </a:rPr>
              <a:t>mapouter</a:t>
            </a:r>
            <a:r>
              <a:rPr lang="en-AU" sz="2000" i="1" dirty="0">
                <a:solidFill>
                  <a:srgbClr val="FF0000"/>
                </a:solidFill>
              </a:rPr>
              <a:t>{position:relative;text-align:right;height:500px;width:600px;}&lt;/style&gt;&lt;a </a:t>
            </a:r>
            <a:r>
              <a:rPr lang="en-AU" sz="2000" i="1" dirty="0" err="1">
                <a:solidFill>
                  <a:srgbClr val="FF0000"/>
                </a:solidFill>
              </a:rPr>
              <a:t>href</a:t>
            </a:r>
            <a:r>
              <a:rPr lang="en-AU" sz="2000" i="1" dirty="0">
                <a:solidFill>
                  <a:srgbClr val="FF0000"/>
                </a:solidFill>
              </a:rPr>
              <a:t>="https://www.embedgooglemap.net"&gt;how to add a google map to a website&lt;/a&gt;&lt;style&gt;.</a:t>
            </a:r>
            <a:r>
              <a:rPr lang="en-AU" sz="2000" i="1" dirty="0" err="1">
                <a:solidFill>
                  <a:srgbClr val="FF0000"/>
                </a:solidFill>
              </a:rPr>
              <a:t>gmap_canvas</a:t>
            </a:r>
            <a:r>
              <a:rPr lang="en-AU" sz="2000" i="1" dirty="0">
                <a:solidFill>
                  <a:srgbClr val="FF0000"/>
                </a:solidFill>
              </a:rPr>
              <a:t> {overflow:hidden;background:none!important;height:500px;width:600px;}&lt;/style&gt;&lt;/div&gt;&lt;/div&gt;</a:t>
            </a:r>
          </a:p>
          <a:p>
            <a:r>
              <a:rPr lang="en-AU" dirty="0"/>
              <a:t>If you copy paste the above code in a webpage you will see our college on Google map.</a:t>
            </a:r>
          </a:p>
          <a:p>
            <a:endParaRPr lang="en-AU" dirty="0"/>
          </a:p>
          <a:p>
            <a:r>
              <a:rPr lang="en-AU" dirty="0"/>
              <a:t>You may use </a:t>
            </a:r>
            <a:r>
              <a:rPr lang="en-AU" dirty="0">
                <a:hlinkClick r:id="rId5"/>
              </a:rPr>
              <a:t>https://google-map-generator.com/</a:t>
            </a:r>
            <a:r>
              <a:rPr lang="en-AU" dirty="0"/>
              <a:t> to generate the src</a:t>
            </a:r>
          </a:p>
          <a:p>
            <a:endParaRPr lang="en-AU" dirty="0"/>
          </a:p>
        </p:txBody>
      </p:sp>
    </p:spTree>
    <p:custDataLst>
      <p:tags r:id="rId1"/>
    </p:custDataLst>
    <p:extLst>
      <p:ext uri="{BB962C8B-B14F-4D97-AF65-F5344CB8AC3E}">
        <p14:creationId xmlns:p14="http://schemas.microsoft.com/office/powerpoint/2010/main" val="1481397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Video</a:t>
            </a:r>
          </a:p>
        </p:txBody>
      </p:sp>
      <p:sp>
        <p:nvSpPr>
          <p:cNvPr id="55299" name="Rectangle 3"/>
          <p:cNvSpPr>
            <a:spLocks noGrp="1" noChangeArrowheads="1"/>
          </p:cNvSpPr>
          <p:nvPr>
            <p:ph idx="1"/>
            <p:custDataLst>
              <p:tags r:id="rId3"/>
            </p:custDataLst>
          </p:nvPr>
        </p:nvSpPr>
        <p:spPr/>
        <p:txBody>
          <a:bodyPr/>
          <a:lstStyle/>
          <a:p>
            <a:r>
              <a:rPr lang="en-AU" dirty="0"/>
              <a:t>The HTML &lt;video&gt; element is used to show a video on a web page.</a:t>
            </a:r>
          </a:p>
          <a:p>
            <a:pPr marL="0" indent="0">
              <a:buNone/>
            </a:pPr>
            <a:r>
              <a:rPr lang="en-AU" sz="2000" i="1" dirty="0">
                <a:solidFill>
                  <a:srgbClr val="FF0000"/>
                </a:solidFill>
              </a:rPr>
              <a:t>&lt;video width="320" height="240" controls&gt;</a:t>
            </a:r>
            <a:br>
              <a:rPr lang="en-AU" sz="2000" i="1" dirty="0">
                <a:solidFill>
                  <a:srgbClr val="FF0000"/>
                </a:solidFill>
              </a:rPr>
            </a:br>
            <a:r>
              <a:rPr lang="en-AU" sz="2000" i="1" dirty="0">
                <a:solidFill>
                  <a:srgbClr val="FF0000"/>
                </a:solidFill>
              </a:rPr>
              <a:t>  &lt;source </a:t>
            </a:r>
            <a:r>
              <a:rPr lang="en-AU" sz="2000" i="1" dirty="0" err="1">
                <a:solidFill>
                  <a:srgbClr val="FF0000"/>
                </a:solidFill>
              </a:rPr>
              <a:t>src</a:t>
            </a:r>
            <a:r>
              <a:rPr lang="en-AU" sz="2000" i="1" dirty="0">
                <a:solidFill>
                  <a:srgbClr val="FF0000"/>
                </a:solidFill>
              </a:rPr>
              <a:t>="movie.mp4" type="video/mp4"&gt;</a:t>
            </a:r>
            <a:br>
              <a:rPr lang="en-AU" sz="2000" i="1" dirty="0">
                <a:solidFill>
                  <a:srgbClr val="FF0000"/>
                </a:solidFill>
              </a:rPr>
            </a:br>
            <a:r>
              <a:rPr lang="en-AU" sz="2000" i="1" dirty="0">
                <a:solidFill>
                  <a:srgbClr val="FF0000"/>
                </a:solidFill>
              </a:rPr>
              <a:t>  &lt;source </a:t>
            </a:r>
            <a:r>
              <a:rPr lang="en-AU" sz="2000" i="1" dirty="0" err="1">
                <a:solidFill>
                  <a:srgbClr val="FF0000"/>
                </a:solidFill>
              </a:rPr>
              <a:t>src</a:t>
            </a:r>
            <a:r>
              <a:rPr lang="en-AU" sz="2000" i="1" dirty="0">
                <a:solidFill>
                  <a:srgbClr val="FF0000"/>
                </a:solidFill>
              </a:rPr>
              <a:t>="movie.ogg" type="video/</a:t>
            </a:r>
            <a:r>
              <a:rPr lang="en-AU" sz="2000" i="1" dirty="0" err="1">
                <a:solidFill>
                  <a:srgbClr val="FF0000"/>
                </a:solidFill>
              </a:rPr>
              <a:t>ogg</a:t>
            </a:r>
            <a:r>
              <a:rPr lang="en-AU" sz="2000" i="1" dirty="0">
                <a:solidFill>
                  <a:srgbClr val="FF0000"/>
                </a:solidFill>
              </a:rPr>
              <a:t>"&gt;</a:t>
            </a:r>
            <a:br>
              <a:rPr lang="en-AU" sz="2000" i="1" dirty="0">
                <a:solidFill>
                  <a:srgbClr val="FF0000"/>
                </a:solidFill>
              </a:rPr>
            </a:br>
            <a:r>
              <a:rPr lang="en-AU" sz="2000" i="1" dirty="0">
                <a:solidFill>
                  <a:srgbClr val="FF0000"/>
                </a:solidFill>
              </a:rPr>
              <a:t>&lt;/video&gt;</a:t>
            </a:r>
          </a:p>
          <a:p>
            <a:r>
              <a:rPr lang="en-AU" dirty="0"/>
              <a:t>The controls attribute adds video controls, like play, pause, and volume.</a:t>
            </a:r>
          </a:p>
          <a:p>
            <a:r>
              <a:rPr lang="en-AU" dirty="0"/>
              <a:t>It is a good idea to always include width and height attributes. If height and width are not set, the page might flicker while the video loads.</a:t>
            </a:r>
          </a:p>
          <a:p>
            <a:r>
              <a:rPr lang="en-AU" dirty="0"/>
              <a:t>The &lt;source&gt; element allows you to specify alternative video files which the browser may choose from. The browser will use the first recognized format.</a:t>
            </a:r>
          </a:p>
        </p:txBody>
      </p:sp>
    </p:spTree>
    <p:custDataLst>
      <p:tags r:id="rId1"/>
    </p:custDataLst>
    <p:extLst>
      <p:ext uri="{BB962C8B-B14F-4D97-AF65-F5344CB8AC3E}">
        <p14:creationId xmlns:p14="http://schemas.microsoft.com/office/powerpoint/2010/main" val="3666187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HTML &lt;video&gt; controls</a:t>
            </a:r>
          </a:p>
        </p:txBody>
      </p:sp>
      <p:sp>
        <p:nvSpPr>
          <p:cNvPr id="55299" name="Rectangle 3"/>
          <p:cNvSpPr>
            <a:spLocks noGrp="1" noChangeArrowheads="1"/>
          </p:cNvSpPr>
          <p:nvPr>
            <p:ph idx="1"/>
            <p:custDataLst>
              <p:tags r:id="rId3"/>
            </p:custDataLst>
          </p:nvPr>
        </p:nvSpPr>
        <p:spPr/>
        <p:txBody>
          <a:bodyPr/>
          <a:lstStyle/>
          <a:p>
            <a:r>
              <a:rPr lang="en-AU" dirty="0"/>
              <a:t>To start a video automatically, use the </a:t>
            </a:r>
            <a:r>
              <a:rPr lang="en-AU" dirty="0" err="1"/>
              <a:t>autoplay</a:t>
            </a:r>
            <a:r>
              <a:rPr lang="en-AU" dirty="0"/>
              <a:t> attribute:</a:t>
            </a:r>
          </a:p>
          <a:p>
            <a:r>
              <a:rPr lang="en-AU" dirty="0"/>
              <a:t>&lt;video width="320" height="240" </a:t>
            </a:r>
            <a:r>
              <a:rPr lang="en-AU" dirty="0" err="1"/>
              <a:t>autoplay</a:t>
            </a:r>
            <a:r>
              <a:rPr lang="en-AU" dirty="0"/>
              <a:t>&gt;</a:t>
            </a:r>
          </a:p>
          <a:p>
            <a:endParaRPr lang="en-AU" dirty="0"/>
          </a:p>
          <a:p>
            <a:r>
              <a:rPr lang="en-AU" dirty="0"/>
              <a:t>Add muted after </a:t>
            </a:r>
            <a:r>
              <a:rPr lang="en-AU" dirty="0" err="1"/>
              <a:t>autoplay</a:t>
            </a:r>
            <a:r>
              <a:rPr lang="en-AU" dirty="0"/>
              <a:t> to let your video start playing automatically (but muted):</a:t>
            </a:r>
          </a:p>
          <a:p>
            <a:r>
              <a:rPr lang="en-AU" dirty="0"/>
              <a:t>&lt;video width="320" height="240" </a:t>
            </a:r>
            <a:r>
              <a:rPr lang="en-AU" dirty="0" err="1"/>
              <a:t>autoplay</a:t>
            </a:r>
            <a:r>
              <a:rPr lang="en-AU" dirty="0"/>
              <a:t> muted&gt;</a:t>
            </a:r>
          </a:p>
        </p:txBody>
      </p:sp>
    </p:spTree>
    <p:custDataLst>
      <p:tags r:id="rId1"/>
    </p:custDataLst>
    <p:extLst>
      <p:ext uri="{BB962C8B-B14F-4D97-AF65-F5344CB8AC3E}">
        <p14:creationId xmlns:p14="http://schemas.microsoft.com/office/powerpoint/2010/main" val="3874221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Audio</a:t>
            </a:r>
          </a:p>
        </p:txBody>
      </p:sp>
      <p:sp>
        <p:nvSpPr>
          <p:cNvPr id="55299" name="Rectangle 3"/>
          <p:cNvSpPr>
            <a:spLocks noGrp="1" noChangeArrowheads="1"/>
          </p:cNvSpPr>
          <p:nvPr>
            <p:ph idx="1"/>
            <p:custDataLst>
              <p:tags r:id="rId3"/>
            </p:custDataLst>
          </p:nvPr>
        </p:nvSpPr>
        <p:spPr/>
        <p:txBody>
          <a:bodyPr>
            <a:normAutofit fontScale="92500"/>
          </a:bodyPr>
          <a:lstStyle/>
          <a:p>
            <a:r>
              <a:rPr lang="en-AU" dirty="0"/>
              <a:t>The HTML &lt;audio&gt; element is used to play an audio file on a web page.</a:t>
            </a:r>
          </a:p>
          <a:p>
            <a:r>
              <a:rPr lang="en-AU" sz="2200" i="1" dirty="0">
                <a:solidFill>
                  <a:srgbClr val="FF0000"/>
                </a:solidFill>
              </a:rPr>
              <a:t>&lt;audio controls&gt;</a:t>
            </a:r>
            <a:br>
              <a:rPr lang="en-AU" sz="2200" i="1" dirty="0">
                <a:solidFill>
                  <a:srgbClr val="FF0000"/>
                </a:solidFill>
              </a:rPr>
            </a:br>
            <a:r>
              <a:rPr lang="en-AU" sz="2200" i="1" dirty="0">
                <a:solidFill>
                  <a:srgbClr val="FF0000"/>
                </a:solidFill>
              </a:rPr>
              <a:t>  &lt;source </a:t>
            </a:r>
            <a:r>
              <a:rPr lang="en-AU" sz="2200" i="1" dirty="0" err="1">
                <a:solidFill>
                  <a:srgbClr val="FF0000"/>
                </a:solidFill>
              </a:rPr>
              <a:t>src</a:t>
            </a:r>
            <a:r>
              <a:rPr lang="en-AU" sz="2200" i="1" dirty="0">
                <a:solidFill>
                  <a:srgbClr val="FF0000"/>
                </a:solidFill>
              </a:rPr>
              <a:t>="horse.ogg" type="audio/</a:t>
            </a:r>
            <a:r>
              <a:rPr lang="en-AU" sz="2200" i="1" dirty="0" err="1">
                <a:solidFill>
                  <a:srgbClr val="FF0000"/>
                </a:solidFill>
              </a:rPr>
              <a:t>ogg</a:t>
            </a:r>
            <a:r>
              <a:rPr lang="en-AU" sz="2200" i="1" dirty="0">
                <a:solidFill>
                  <a:srgbClr val="FF0000"/>
                </a:solidFill>
              </a:rPr>
              <a:t>"&gt;</a:t>
            </a:r>
            <a:br>
              <a:rPr lang="en-AU" sz="2200" i="1" dirty="0">
                <a:solidFill>
                  <a:srgbClr val="FF0000"/>
                </a:solidFill>
              </a:rPr>
            </a:br>
            <a:r>
              <a:rPr lang="en-AU" sz="2200" i="1" dirty="0">
                <a:solidFill>
                  <a:srgbClr val="FF0000"/>
                </a:solidFill>
              </a:rPr>
              <a:t>  &lt;source </a:t>
            </a:r>
            <a:r>
              <a:rPr lang="en-AU" sz="2200" i="1" dirty="0" err="1">
                <a:solidFill>
                  <a:srgbClr val="FF0000"/>
                </a:solidFill>
              </a:rPr>
              <a:t>src</a:t>
            </a:r>
            <a:r>
              <a:rPr lang="en-AU" sz="2200" i="1" dirty="0">
                <a:solidFill>
                  <a:srgbClr val="FF0000"/>
                </a:solidFill>
              </a:rPr>
              <a:t>="horse.mp3" type="audio/mpeg"&gt;</a:t>
            </a:r>
            <a:br>
              <a:rPr lang="en-AU" sz="2200" i="1" dirty="0">
                <a:solidFill>
                  <a:srgbClr val="FF0000"/>
                </a:solidFill>
              </a:rPr>
            </a:br>
            <a:r>
              <a:rPr lang="en-AU" sz="2200" i="1" dirty="0">
                <a:solidFill>
                  <a:srgbClr val="FF0000"/>
                </a:solidFill>
              </a:rPr>
              <a:t>&lt;/audio&gt;</a:t>
            </a:r>
          </a:p>
          <a:p>
            <a:r>
              <a:rPr lang="en-AU" dirty="0"/>
              <a:t>The controls attribute adds audio controls, like play, pause, and volume.</a:t>
            </a:r>
          </a:p>
          <a:p>
            <a:r>
              <a:rPr lang="en-AU" dirty="0"/>
              <a:t>The &lt;source&gt; element allows you to specify alternative audio files which the browser may choose from. The browser will use the first recognized format.</a:t>
            </a:r>
          </a:p>
          <a:p>
            <a:r>
              <a:rPr lang="en-AU" dirty="0"/>
              <a:t>HTML &lt;audio&gt; </a:t>
            </a:r>
            <a:r>
              <a:rPr lang="en-AU" dirty="0" err="1"/>
              <a:t>Autoplay</a:t>
            </a:r>
            <a:endParaRPr lang="en-AU" dirty="0"/>
          </a:p>
          <a:p>
            <a:pPr lvl="1"/>
            <a:r>
              <a:rPr lang="en-AU" dirty="0"/>
              <a:t>To start an audio file automatically, use the </a:t>
            </a:r>
            <a:r>
              <a:rPr lang="en-AU" dirty="0" err="1"/>
              <a:t>autoplay</a:t>
            </a:r>
            <a:r>
              <a:rPr lang="en-AU" dirty="0"/>
              <a:t> attribute:</a:t>
            </a:r>
          </a:p>
          <a:p>
            <a:pPr lvl="1"/>
            <a:r>
              <a:rPr lang="en-AU" dirty="0"/>
              <a:t>&lt;audio controls </a:t>
            </a:r>
            <a:r>
              <a:rPr lang="en-AU" dirty="0" err="1"/>
              <a:t>autoplay</a:t>
            </a:r>
            <a:r>
              <a:rPr lang="en-AU" dirty="0"/>
              <a:t>&gt;</a:t>
            </a:r>
          </a:p>
          <a:p>
            <a:pPr lvl="1"/>
            <a:r>
              <a:rPr lang="en-AU" dirty="0"/>
              <a:t>Add muted after </a:t>
            </a:r>
            <a:r>
              <a:rPr lang="en-AU" dirty="0" err="1"/>
              <a:t>autoplay</a:t>
            </a:r>
            <a:r>
              <a:rPr lang="en-AU" dirty="0"/>
              <a:t> to let your audio file start playing automatically (but muted):</a:t>
            </a:r>
          </a:p>
          <a:p>
            <a:pPr lvl="1"/>
            <a:r>
              <a:rPr lang="en-AU" dirty="0"/>
              <a:t>&lt;audio controls </a:t>
            </a:r>
            <a:r>
              <a:rPr lang="en-AU" dirty="0" err="1"/>
              <a:t>autoplay</a:t>
            </a:r>
            <a:r>
              <a:rPr lang="en-AU" dirty="0"/>
              <a:t> muted&gt;</a:t>
            </a:r>
          </a:p>
        </p:txBody>
      </p:sp>
    </p:spTree>
    <p:custDataLst>
      <p:tags r:id="rId1"/>
    </p:custDataLst>
    <p:extLst>
      <p:ext uri="{BB962C8B-B14F-4D97-AF65-F5344CB8AC3E}">
        <p14:creationId xmlns:p14="http://schemas.microsoft.com/office/powerpoint/2010/main" val="36893135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66722-80F4-4358-A03A-B90207A379F2}"/>
              </a:ext>
            </a:extLst>
          </p:cNvPr>
          <p:cNvSpPr>
            <a:spLocks noGrp="1"/>
          </p:cNvSpPr>
          <p:nvPr>
            <p:ph type="title"/>
          </p:nvPr>
        </p:nvSpPr>
        <p:spPr/>
        <p:txBody>
          <a:bodyPr vert="horz" lIns="91440" tIns="45720" rIns="91440" bIns="45720" rtlCol="0" anchor="ctr">
            <a:normAutofit/>
          </a:bodyPr>
          <a:lstStyle/>
          <a:p>
            <a:r>
              <a:rPr lang="en-AU" dirty="0">
                <a:solidFill>
                  <a:schemeClr val="bg1"/>
                </a:solidFill>
              </a:rPr>
              <a:t>Next Week</a:t>
            </a:r>
          </a:p>
        </p:txBody>
      </p:sp>
      <p:sp>
        <p:nvSpPr>
          <p:cNvPr id="3" name="Content Placeholder 2">
            <a:extLst>
              <a:ext uri="{FF2B5EF4-FFF2-40B4-BE49-F238E27FC236}">
                <a16:creationId xmlns:a16="http://schemas.microsoft.com/office/drawing/2014/main" xmlns="" id="{E853B393-0F2E-4B7F-A349-A00432CBDA3B}"/>
              </a:ext>
            </a:extLst>
          </p:cNvPr>
          <p:cNvSpPr>
            <a:spLocks noGrp="1"/>
          </p:cNvSpPr>
          <p:nvPr>
            <p:ph idx="1"/>
          </p:nvPr>
        </p:nvSpPr>
        <p:spPr>
          <a:xfrm>
            <a:off x="838200" y="1219200"/>
            <a:ext cx="10515600" cy="4957763"/>
          </a:xfrm>
        </p:spPr>
        <p:txBody>
          <a:bodyPr>
            <a:normAutofit/>
          </a:bodyPr>
          <a:lstStyle/>
          <a:p>
            <a:r>
              <a:rPr lang="en-AU" dirty="0"/>
              <a:t>Box model</a:t>
            </a:r>
          </a:p>
          <a:p>
            <a:pPr lvl="1"/>
            <a:r>
              <a:rPr lang="en-AU" dirty="0"/>
              <a:t>–element box</a:t>
            </a:r>
          </a:p>
          <a:p>
            <a:pPr lvl="1"/>
            <a:r>
              <a:rPr lang="en-AU" dirty="0"/>
              <a:t>–dimensions, sizing, overflow</a:t>
            </a:r>
          </a:p>
          <a:p>
            <a:pPr lvl="1"/>
            <a:r>
              <a:rPr lang="en-AU" dirty="0"/>
              <a:t>–padding, borders, margins, outlines</a:t>
            </a:r>
          </a:p>
          <a:p>
            <a:r>
              <a:rPr lang="en-AU" dirty="0"/>
              <a:t>Display</a:t>
            </a:r>
          </a:p>
          <a:p>
            <a:r>
              <a:rPr lang="en-AU" dirty="0"/>
              <a:t>Layout</a:t>
            </a:r>
          </a:p>
          <a:p>
            <a:r>
              <a:rPr lang="en-AU" dirty="0"/>
              <a:t>Floating, clearing, positioning</a:t>
            </a:r>
          </a:p>
          <a:p>
            <a:endParaRPr lang="en-AU" dirty="0"/>
          </a:p>
        </p:txBody>
      </p:sp>
    </p:spTree>
    <p:extLst>
      <p:ext uri="{BB962C8B-B14F-4D97-AF65-F5344CB8AC3E}">
        <p14:creationId xmlns:p14="http://schemas.microsoft.com/office/powerpoint/2010/main" val="8692972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3HPpWmQT6r2Glo9f8BgQms"/>
</p:tagLst>
</file>

<file path=ppt/tags/tag2.xml><?xml version="1.0" encoding="utf-8"?>
<p:tagLst xmlns:a="http://schemas.openxmlformats.org/drawingml/2006/main" xmlns:r="http://schemas.openxmlformats.org/officeDocument/2006/relationships" xmlns:p="http://schemas.openxmlformats.org/presentationml/2006/main">
  <p:tag name="DVSHAPEID" val="jxyUy99RnCcRgjMEiWJZXi"/>
</p:tagLst>
</file>

<file path=ppt/tags/tag3.xml><?xml version="1.0" encoding="utf-8"?>
<p:tagLst xmlns:a="http://schemas.openxmlformats.org/drawingml/2006/main" xmlns:r="http://schemas.openxmlformats.org/officeDocument/2006/relationships" xmlns:p="http://schemas.openxmlformats.org/presentationml/2006/main">
  <p:tag name="DVSHAPEID" val="A6pPjxKFowBUCm5UAC6LxZ"/>
</p:tagLst>
</file>

<file path=ppt/tags/tag4.xml><?xml version="1.0" encoding="utf-8"?>
<p:tagLst xmlns:a="http://schemas.openxmlformats.org/drawingml/2006/main" xmlns:r="http://schemas.openxmlformats.org/officeDocument/2006/relationships" xmlns:p="http://schemas.openxmlformats.org/presentationml/2006/main">
  <p:tag name="DVSECTIONID" val="QRlLtgo7QPiFgsLEnW3m2F"/>
</p:tagLst>
</file>

<file path=ppt/tags/tag5.xml><?xml version="1.0" encoding="utf-8"?>
<p:tagLst xmlns:a="http://schemas.openxmlformats.org/drawingml/2006/main" xmlns:r="http://schemas.openxmlformats.org/officeDocument/2006/relationships" xmlns:p="http://schemas.openxmlformats.org/presentationml/2006/main">
  <p:tag name="DVSHAPEID" val="fdULg5IYw5T42kDeT80VGE"/>
</p:tagLst>
</file>

<file path=ppt/tags/tag6.xml><?xml version="1.0" encoding="utf-8"?>
<p:tagLst xmlns:a="http://schemas.openxmlformats.org/drawingml/2006/main" xmlns:r="http://schemas.openxmlformats.org/officeDocument/2006/relationships" xmlns:p="http://schemas.openxmlformats.org/presentationml/2006/main">
  <p:tag name="DVSHAPEID" val="OXgQHQTnfKeThTdVM22B7D"/>
</p:tagLst>
</file>

<file path=ppt/tags/tag7.xml><?xml version="1.0" encoding="utf-8"?>
<p:tagLst xmlns:a="http://schemas.openxmlformats.org/drawingml/2006/main" xmlns:r="http://schemas.openxmlformats.org/officeDocument/2006/relationships" xmlns:p="http://schemas.openxmlformats.org/presentationml/2006/main">
  <p:tag name="DVSECTIONID" val="E4olhywq6lkC9NTAFlDc7I"/>
</p:tagLst>
</file>

<file path=ppt/tags/tag8.xml><?xml version="1.0" encoding="utf-8"?>
<p:tagLst xmlns:a="http://schemas.openxmlformats.org/drawingml/2006/main" xmlns:r="http://schemas.openxmlformats.org/officeDocument/2006/relationships" xmlns:p="http://schemas.openxmlformats.org/presentationml/2006/main">
  <p:tag name="DVSHAPEID" val="FPEVh3LZXLuI6WxiMDXLY6"/>
</p:tagLst>
</file>

<file path=ppt/tags/tag9.xml><?xml version="1.0" encoding="utf-8"?>
<p:tagLst xmlns:a="http://schemas.openxmlformats.org/drawingml/2006/main" xmlns:r="http://schemas.openxmlformats.org/officeDocument/2006/relationships" xmlns:p="http://schemas.openxmlformats.org/presentationml/2006/main">
  <p:tag name="DVSHAPEID" val="wH2ULt73Jhl1ITscO6kgI8"/>
</p:tagLst>
</file>

<file path=ppt/tags/tag10.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11.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12.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13.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14.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15.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16.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17.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18.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19.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20.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21.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22.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23.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24.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25.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26.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27.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28.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29.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heme/theme1.xml><?xml version="1.0" encoding="utf-8"?>
<a:theme xmlns:a="http://schemas.openxmlformats.org/drawingml/2006/main" name="The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5B60CE4C-EDC0-496D-AE6D-84B42325BD16}" vid="{64883BDB-BA55-4845-887F-AD4C7C3254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WIN Lecture Final template-T1-2022</Template>
  <TotalTime>578</TotalTime>
  <Words>1266</Words>
  <Application>Microsoft Office PowerPoint</Application>
  <PresentationFormat>Custom</PresentationFormat>
  <Paragraphs>259</Paragraphs>
  <Slides>30</Slides>
  <Notes>27</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Theme2</vt:lpstr>
      <vt:lpstr>PowerPoint Presentation</vt:lpstr>
      <vt:lpstr>This Week</vt:lpstr>
      <vt:lpstr>Site Structure / Site Map</vt:lpstr>
      <vt:lpstr>Site map</vt:lpstr>
      <vt:lpstr>PowerPoint Presentation</vt:lpstr>
      <vt:lpstr>Website Sitemap </vt:lpstr>
      <vt:lpstr>Navigation</vt:lpstr>
      <vt:lpstr>Illogical Navigation Groupings (lingscars.com)</vt:lpstr>
      <vt:lpstr>Navigation Terminology</vt:lpstr>
      <vt:lpstr>Global/primary/secondary</vt:lpstr>
      <vt:lpstr>PowerPoint Presentation</vt:lpstr>
      <vt:lpstr>Tertiary</vt:lpstr>
      <vt:lpstr>Utility &amp; Footer</vt:lpstr>
      <vt:lpstr>Local &amp; in-text</vt:lpstr>
      <vt:lpstr>Users &amp; navigation</vt:lpstr>
      <vt:lpstr>Images</vt:lpstr>
      <vt:lpstr>HTML Images Syntax</vt:lpstr>
      <vt:lpstr>Image Size - Width and Height </vt:lpstr>
      <vt:lpstr>Images in other locations</vt:lpstr>
      <vt:lpstr>Common Image Formats</vt:lpstr>
      <vt:lpstr>Embedded media</vt:lpstr>
      <vt:lpstr>iframe - Set Height and Width</vt:lpstr>
      <vt:lpstr>iframe - Remove the Border</vt:lpstr>
      <vt:lpstr>iframe - Target for a Link</vt:lpstr>
      <vt:lpstr>YouTube video</vt:lpstr>
      <vt:lpstr>Google map</vt:lpstr>
      <vt:lpstr>Video</vt:lpstr>
      <vt:lpstr>HTML &lt;video&gt; controls</vt:lpstr>
      <vt:lpstr>Audio</vt:lpstr>
      <vt:lpstr>Next Week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Kiran Lakkaraju</dc:creator>
  <cp:lastModifiedBy>Ali Aljaafreh</cp:lastModifiedBy>
  <cp:revision>16</cp:revision>
  <dcterms:created xsi:type="dcterms:W3CDTF">2022-03-12T12:34:51Z</dcterms:created>
  <dcterms:modified xsi:type="dcterms:W3CDTF">2023-08-22T01:53:01Z</dcterms:modified>
</cp:coreProperties>
</file>