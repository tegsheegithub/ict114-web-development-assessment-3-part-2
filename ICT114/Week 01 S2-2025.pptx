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8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9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0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1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5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6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7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8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9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20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21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2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3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4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5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6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7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28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9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30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31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32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33.xml" ContentType="application/vnd.openxmlformats-officedocument.presentationml.notesSlide+xml"/>
  <Override PartName="/ppt/tags/tag84.xml" ContentType="application/vnd.openxmlformats-officedocument.presentationml.tags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669" r:id="rId3"/>
  </p:sldMasterIdLst>
  <p:notesMasterIdLst>
    <p:notesMasterId r:id="rId45"/>
  </p:notesMasterIdLst>
  <p:sldIdLst>
    <p:sldId id="258" r:id="rId4"/>
    <p:sldId id="256" r:id="rId5"/>
    <p:sldId id="260" r:id="rId6"/>
    <p:sldId id="273" r:id="rId7"/>
    <p:sldId id="275" r:id="rId8"/>
    <p:sldId id="276" r:id="rId9"/>
    <p:sldId id="278" r:id="rId10"/>
    <p:sldId id="279" r:id="rId11"/>
    <p:sldId id="281" r:id="rId12"/>
    <p:sldId id="282" r:id="rId13"/>
    <p:sldId id="283" r:id="rId14"/>
    <p:sldId id="284" r:id="rId15"/>
    <p:sldId id="285" r:id="rId16"/>
    <p:sldId id="286" r:id="rId17"/>
    <p:sldId id="288" r:id="rId18"/>
    <p:sldId id="289" r:id="rId19"/>
    <p:sldId id="291" r:id="rId20"/>
    <p:sldId id="292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4" r:id="rId31"/>
    <p:sldId id="305" r:id="rId32"/>
    <p:sldId id="306" r:id="rId33"/>
    <p:sldId id="307" r:id="rId34"/>
    <p:sldId id="309" r:id="rId35"/>
    <p:sldId id="312" r:id="rId36"/>
    <p:sldId id="313" r:id="rId37"/>
    <p:sldId id="314" r:id="rId38"/>
    <p:sldId id="315" r:id="rId39"/>
    <p:sldId id="317" r:id="rId40"/>
    <p:sldId id="318" r:id="rId41"/>
    <p:sldId id="319" r:id="rId42"/>
    <p:sldId id="316" r:id="rId43"/>
    <p:sldId id="259" r:id="rId44"/>
  </p:sldIdLst>
  <p:sldSz cx="12192000" cy="6858000"/>
  <p:notesSz cx="6858000" cy="9144000"/>
  <p:defaultTextStyle>
    <a:defPPr>
      <a:defRPr lang="en-US"/>
    </a:defPPr>
    <a:lvl1pPr marL="0" algn="l" defTabSz="776051" rtl="0" eaLnBrk="1" latinLnBrk="0" hangingPunct="1">
      <a:defRPr sz="1528" kern="1200">
        <a:solidFill>
          <a:schemeClr val="tx1"/>
        </a:solidFill>
        <a:latin typeface="+mn-lt"/>
        <a:ea typeface="+mn-ea"/>
        <a:cs typeface="+mn-cs"/>
      </a:defRPr>
    </a:lvl1pPr>
    <a:lvl2pPr marL="388026" algn="l" defTabSz="776051" rtl="0" eaLnBrk="1" latinLnBrk="0" hangingPunct="1">
      <a:defRPr sz="1528" kern="1200">
        <a:solidFill>
          <a:schemeClr val="tx1"/>
        </a:solidFill>
        <a:latin typeface="+mn-lt"/>
        <a:ea typeface="+mn-ea"/>
        <a:cs typeface="+mn-cs"/>
      </a:defRPr>
    </a:lvl2pPr>
    <a:lvl3pPr marL="776051" algn="l" defTabSz="776051" rtl="0" eaLnBrk="1" latinLnBrk="0" hangingPunct="1">
      <a:defRPr sz="1528" kern="1200">
        <a:solidFill>
          <a:schemeClr val="tx1"/>
        </a:solidFill>
        <a:latin typeface="+mn-lt"/>
        <a:ea typeface="+mn-ea"/>
        <a:cs typeface="+mn-cs"/>
      </a:defRPr>
    </a:lvl3pPr>
    <a:lvl4pPr marL="1164077" algn="l" defTabSz="776051" rtl="0" eaLnBrk="1" latinLnBrk="0" hangingPunct="1">
      <a:defRPr sz="1528" kern="1200">
        <a:solidFill>
          <a:schemeClr val="tx1"/>
        </a:solidFill>
        <a:latin typeface="+mn-lt"/>
        <a:ea typeface="+mn-ea"/>
        <a:cs typeface="+mn-cs"/>
      </a:defRPr>
    </a:lvl4pPr>
    <a:lvl5pPr marL="1552103" algn="l" defTabSz="776051" rtl="0" eaLnBrk="1" latinLnBrk="0" hangingPunct="1">
      <a:defRPr sz="1528" kern="1200">
        <a:solidFill>
          <a:schemeClr val="tx1"/>
        </a:solidFill>
        <a:latin typeface="+mn-lt"/>
        <a:ea typeface="+mn-ea"/>
        <a:cs typeface="+mn-cs"/>
      </a:defRPr>
    </a:lvl5pPr>
    <a:lvl6pPr marL="1940128" algn="l" defTabSz="776051" rtl="0" eaLnBrk="1" latinLnBrk="0" hangingPunct="1">
      <a:defRPr sz="1528" kern="1200">
        <a:solidFill>
          <a:schemeClr val="tx1"/>
        </a:solidFill>
        <a:latin typeface="+mn-lt"/>
        <a:ea typeface="+mn-ea"/>
        <a:cs typeface="+mn-cs"/>
      </a:defRPr>
    </a:lvl6pPr>
    <a:lvl7pPr marL="2328154" algn="l" defTabSz="776051" rtl="0" eaLnBrk="1" latinLnBrk="0" hangingPunct="1">
      <a:defRPr sz="1528" kern="1200">
        <a:solidFill>
          <a:schemeClr val="tx1"/>
        </a:solidFill>
        <a:latin typeface="+mn-lt"/>
        <a:ea typeface="+mn-ea"/>
        <a:cs typeface="+mn-cs"/>
      </a:defRPr>
    </a:lvl7pPr>
    <a:lvl8pPr marL="2716179" algn="l" defTabSz="776051" rtl="0" eaLnBrk="1" latinLnBrk="0" hangingPunct="1">
      <a:defRPr sz="1528" kern="1200">
        <a:solidFill>
          <a:schemeClr val="tx1"/>
        </a:solidFill>
        <a:latin typeface="+mn-lt"/>
        <a:ea typeface="+mn-ea"/>
        <a:cs typeface="+mn-cs"/>
      </a:defRPr>
    </a:lvl8pPr>
    <a:lvl9pPr marL="3104205" algn="l" defTabSz="776051" rtl="0" eaLnBrk="1" latinLnBrk="0" hangingPunct="1">
      <a:defRPr sz="15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80068" autoAdjust="0"/>
  </p:normalViewPr>
  <p:slideViewPr>
    <p:cSldViewPr>
      <p:cViewPr>
        <p:scale>
          <a:sx n="60" d="100"/>
          <a:sy n="60" d="100"/>
        </p:scale>
        <p:origin x="317" y="-6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58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image" Target="../media/image9.gif"/><Relationship Id="rId4" Type="http://schemas.openxmlformats.org/officeDocument/2006/relationships/image" Target="../media/image12.gif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image" Target="../media/image9.gif"/><Relationship Id="rId4" Type="http://schemas.openxmlformats.org/officeDocument/2006/relationships/image" Target="../media/image12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D9285-A068-4881-9873-217D52C6F242}" type="doc">
      <dgm:prSet loTypeId="urn:microsoft.com/office/officeart/2005/8/layout/vList4#6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BAC2B15-747E-46E7-918C-F61405D57364}">
      <dgm:prSet phldrT="[Text]"/>
      <dgm:spPr/>
      <dgm:t>
        <a:bodyPr/>
        <a:lstStyle/>
        <a:p>
          <a:r>
            <a:rPr lang="en-US" dirty="0"/>
            <a:t>Communication</a:t>
          </a:r>
        </a:p>
      </dgm:t>
      <dgm:extLst>
        <a:ext uri="{E40237B7-FDA0-4F09-8148-C483321AD2D9}">
          <dgm14:cNvPr xmlns:dgm14="http://schemas.microsoft.com/office/drawing/2010/diagram" id="0" name="" descr="Text: Communication"/>
        </a:ext>
      </dgm:extLst>
    </dgm:pt>
    <dgm:pt modelId="{FDF0FB7D-137E-4AB4-94BF-5E30ABC247A7}" type="parTrans" cxnId="{B5908301-3EA1-4A10-8C40-0EBA9F041B09}">
      <dgm:prSet/>
      <dgm:spPr/>
      <dgm:t>
        <a:bodyPr/>
        <a:lstStyle/>
        <a:p>
          <a:endParaRPr lang="en-US"/>
        </a:p>
      </dgm:t>
    </dgm:pt>
    <dgm:pt modelId="{E6055C0C-6AD2-4B90-BA94-3049AC7373BC}" type="sibTrans" cxnId="{B5908301-3EA1-4A10-8C40-0EBA9F041B09}">
      <dgm:prSet/>
      <dgm:spPr/>
      <dgm:t>
        <a:bodyPr/>
        <a:lstStyle/>
        <a:p>
          <a:endParaRPr lang="en-US"/>
        </a:p>
      </dgm:t>
    </dgm:pt>
    <dgm:pt modelId="{A5E43F15-4E57-4CF3-838E-610F28D80C31}">
      <dgm:prSet phldrT="[Text]"/>
      <dgm:spPr/>
      <dgm:t>
        <a:bodyPr/>
        <a:lstStyle/>
        <a:p>
          <a:r>
            <a:rPr lang="en-US" dirty="0"/>
            <a:t>Education</a:t>
          </a:r>
        </a:p>
      </dgm:t>
      <dgm:extLst>
        <a:ext uri="{E40237B7-FDA0-4F09-8148-C483321AD2D9}">
          <dgm14:cNvPr xmlns:dgm14="http://schemas.microsoft.com/office/drawing/2010/diagram" id="0" name="" descr="Education"/>
        </a:ext>
      </dgm:extLst>
    </dgm:pt>
    <dgm:pt modelId="{4BA0C765-5589-43FC-82E2-42D841A56928}" type="parTrans" cxnId="{FA155CE2-EAEB-4D7A-8246-532F15F1C996}">
      <dgm:prSet/>
      <dgm:spPr/>
      <dgm:t>
        <a:bodyPr/>
        <a:lstStyle/>
        <a:p>
          <a:endParaRPr lang="en-US"/>
        </a:p>
      </dgm:t>
    </dgm:pt>
    <dgm:pt modelId="{A50E9D45-513F-4927-89AD-D12A6F0209CD}" type="sibTrans" cxnId="{FA155CE2-EAEB-4D7A-8246-532F15F1C996}">
      <dgm:prSet/>
      <dgm:spPr/>
      <dgm:t>
        <a:bodyPr/>
        <a:lstStyle/>
        <a:p>
          <a:endParaRPr lang="en-US"/>
        </a:p>
      </dgm:t>
    </dgm:pt>
    <dgm:pt modelId="{313A7465-EEB2-442F-8E78-8EAE21C53908}">
      <dgm:prSet phldrT="[Text]"/>
      <dgm:spPr/>
      <dgm:t>
        <a:bodyPr/>
        <a:lstStyle/>
        <a:p>
          <a:r>
            <a:rPr lang="en-US" dirty="0"/>
            <a:t>Entertainment and News</a:t>
          </a:r>
        </a:p>
      </dgm:t>
      <dgm:extLst>
        <a:ext uri="{E40237B7-FDA0-4F09-8148-C483321AD2D9}">
          <dgm14:cNvPr xmlns:dgm14="http://schemas.microsoft.com/office/drawing/2010/diagram" id="0" name="" descr="Entertainment and News"/>
        </a:ext>
      </dgm:extLst>
    </dgm:pt>
    <dgm:pt modelId="{F3E1A7F9-8A80-4DB5-84CE-5776B06DF274}" type="parTrans" cxnId="{29D532EB-6654-4CA5-848B-A71C5C0F4325}">
      <dgm:prSet/>
      <dgm:spPr/>
      <dgm:t>
        <a:bodyPr/>
        <a:lstStyle/>
        <a:p>
          <a:endParaRPr lang="en-US"/>
        </a:p>
      </dgm:t>
    </dgm:pt>
    <dgm:pt modelId="{45EA1B47-EEAC-414A-AEC6-30957B774410}" type="sibTrans" cxnId="{29D532EB-6654-4CA5-848B-A71C5C0F4325}">
      <dgm:prSet/>
      <dgm:spPr/>
      <dgm:t>
        <a:bodyPr/>
        <a:lstStyle/>
        <a:p>
          <a:endParaRPr lang="en-US"/>
        </a:p>
      </dgm:t>
    </dgm:pt>
    <dgm:pt modelId="{8096329B-5F97-4269-BB73-F2F9D74A4862}">
      <dgm:prSet phldrT="[Text]"/>
      <dgm:spPr/>
      <dgm:t>
        <a:bodyPr/>
        <a:lstStyle/>
        <a:p>
          <a:r>
            <a:rPr lang="en-US" dirty="0"/>
            <a:t>E-commerce</a:t>
          </a:r>
        </a:p>
      </dgm:t>
      <dgm:extLst>
        <a:ext uri="{E40237B7-FDA0-4F09-8148-C483321AD2D9}">
          <dgm14:cNvPr xmlns:dgm14="http://schemas.microsoft.com/office/drawing/2010/diagram" id="0" name="" descr="E-commerce"/>
        </a:ext>
      </dgm:extLst>
    </dgm:pt>
    <dgm:pt modelId="{5A1E1AE9-6BA6-410E-990A-63BF83311C35}" type="parTrans" cxnId="{2EF1E97C-379B-430F-BBE7-AE8D36F1FA5A}">
      <dgm:prSet/>
      <dgm:spPr/>
      <dgm:t>
        <a:bodyPr/>
        <a:lstStyle/>
        <a:p>
          <a:endParaRPr lang="en-US"/>
        </a:p>
      </dgm:t>
    </dgm:pt>
    <dgm:pt modelId="{ADF10826-B210-4728-A536-5722EEA6C0EA}" type="sibTrans" cxnId="{2EF1E97C-379B-430F-BBE7-AE8D36F1FA5A}">
      <dgm:prSet/>
      <dgm:spPr/>
      <dgm:t>
        <a:bodyPr/>
        <a:lstStyle/>
        <a:p>
          <a:endParaRPr lang="en-US"/>
        </a:p>
      </dgm:t>
    </dgm:pt>
    <dgm:pt modelId="{B30FCBEB-CE86-4A0C-849B-4237299FD3D2}" type="pres">
      <dgm:prSet presAssocID="{635D9285-A068-4881-9873-217D52C6F242}" presName="linear" presStyleCnt="0">
        <dgm:presLayoutVars>
          <dgm:dir/>
          <dgm:resizeHandles val="exact"/>
        </dgm:presLayoutVars>
      </dgm:prSet>
      <dgm:spPr/>
    </dgm:pt>
    <dgm:pt modelId="{3809ECC2-4194-4D37-B806-62DD5B18A272}" type="pres">
      <dgm:prSet presAssocID="{3BAC2B15-747E-46E7-918C-F61405D57364}" presName="comp" presStyleCnt="0"/>
      <dgm:spPr/>
    </dgm:pt>
    <dgm:pt modelId="{A8005CCA-E574-4C79-91E4-72AE182DCBF0}" type="pres">
      <dgm:prSet presAssocID="{3BAC2B15-747E-46E7-918C-F61405D57364}" presName="box" presStyleLbl="node1" presStyleIdx="0" presStyleCnt="4"/>
      <dgm:spPr/>
    </dgm:pt>
    <dgm:pt modelId="{279F5ACD-C701-4C96-82D8-CBC204BCC5EE}" type="pres">
      <dgm:prSet presAssocID="{3BAC2B15-747E-46E7-918C-F61405D57364}" presName="img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</dgm:spPr>
      <dgm:extLst>
        <a:ext uri="{E40237B7-FDA0-4F09-8148-C483321AD2D9}">
          <dgm14:cNvPr xmlns:dgm14="http://schemas.microsoft.com/office/drawing/2010/diagram" id="0" name="" descr="MSN home page"/>
        </a:ext>
      </dgm:extLst>
    </dgm:pt>
    <dgm:pt modelId="{6C38C4A5-0354-4419-8411-BC2AEF4A0F3D}" type="pres">
      <dgm:prSet presAssocID="{3BAC2B15-747E-46E7-918C-F61405D57364}" presName="text" presStyleLbl="node1" presStyleIdx="0" presStyleCnt="4">
        <dgm:presLayoutVars>
          <dgm:bulletEnabled val="1"/>
        </dgm:presLayoutVars>
      </dgm:prSet>
      <dgm:spPr/>
    </dgm:pt>
    <dgm:pt modelId="{916DAEDB-F471-4234-A273-F87764DD078C}" type="pres">
      <dgm:prSet presAssocID="{E6055C0C-6AD2-4B90-BA94-3049AC7373BC}" presName="spacer" presStyleCnt="0"/>
      <dgm:spPr/>
    </dgm:pt>
    <dgm:pt modelId="{A263CC18-0443-43E0-AB40-226F5A2E1AF9}" type="pres">
      <dgm:prSet presAssocID="{A5E43F15-4E57-4CF3-838E-610F28D80C31}" presName="comp" presStyleCnt="0"/>
      <dgm:spPr/>
    </dgm:pt>
    <dgm:pt modelId="{0E7A670C-342F-4834-B8A5-8E10B4F34660}" type="pres">
      <dgm:prSet presAssocID="{A5E43F15-4E57-4CF3-838E-610F28D80C31}" presName="box" presStyleLbl="node1" presStyleIdx="1" presStyleCnt="4"/>
      <dgm:spPr/>
    </dgm:pt>
    <dgm:pt modelId="{442F5796-422D-480F-B18A-251B0FAB1D13}" type="pres">
      <dgm:prSet presAssocID="{A5E43F15-4E57-4CF3-838E-610F28D80C31}" presName="img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  <dgm:extLst>
        <a:ext uri="{E40237B7-FDA0-4F09-8148-C483321AD2D9}">
          <dgm14:cNvPr xmlns:dgm14="http://schemas.microsoft.com/office/drawing/2010/diagram" id="0" name="" descr="MIT OpenCourseWare"/>
        </a:ext>
      </dgm:extLst>
    </dgm:pt>
    <dgm:pt modelId="{CA7F626A-D86D-4781-9B0F-59299C1A4193}" type="pres">
      <dgm:prSet presAssocID="{A5E43F15-4E57-4CF3-838E-610F28D80C31}" presName="text" presStyleLbl="node1" presStyleIdx="1" presStyleCnt="4">
        <dgm:presLayoutVars>
          <dgm:bulletEnabled val="1"/>
        </dgm:presLayoutVars>
      </dgm:prSet>
      <dgm:spPr/>
    </dgm:pt>
    <dgm:pt modelId="{AE1BA75B-A1FC-4410-8910-1FA5E7CA96F5}" type="pres">
      <dgm:prSet presAssocID="{A50E9D45-513F-4927-89AD-D12A6F0209CD}" presName="spacer" presStyleCnt="0"/>
      <dgm:spPr/>
    </dgm:pt>
    <dgm:pt modelId="{CC45F08B-2193-44E1-AC29-F1F60980AE19}" type="pres">
      <dgm:prSet presAssocID="{313A7465-EEB2-442F-8E78-8EAE21C53908}" presName="comp" presStyleCnt="0"/>
      <dgm:spPr/>
    </dgm:pt>
    <dgm:pt modelId="{8EA002C1-6246-4261-9EE9-A2EA11685E07}" type="pres">
      <dgm:prSet presAssocID="{313A7465-EEB2-442F-8E78-8EAE21C53908}" presName="box" presStyleLbl="node1" presStyleIdx="2" presStyleCnt="4"/>
      <dgm:spPr/>
    </dgm:pt>
    <dgm:pt modelId="{B623B29C-CA14-4C78-AA54-2C4A03C49A9F}" type="pres">
      <dgm:prSet presAssocID="{313A7465-EEB2-442F-8E78-8EAE21C53908}" presName="img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  <dgm:extLst>
        <a:ext uri="{E40237B7-FDA0-4F09-8148-C483321AD2D9}">
          <dgm14:cNvPr xmlns:dgm14="http://schemas.microsoft.com/office/drawing/2010/diagram" id="0" name="" descr="IMDB and NBCNews websites"/>
        </a:ext>
      </dgm:extLst>
    </dgm:pt>
    <dgm:pt modelId="{E2ED0F6C-E3E4-4384-9D90-6D34DEDBFCD0}" type="pres">
      <dgm:prSet presAssocID="{313A7465-EEB2-442F-8E78-8EAE21C53908}" presName="text" presStyleLbl="node1" presStyleIdx="2" presStyleCnt="4">
        <dgm:presLayoutVars>
          <dgm:bulletEnabled val="1"/>
        </dgm:presLayoutVars>
      </dgm:prSet>
      <dgm:spPr/>
    </dgm:pt>
    <dgm:pt modelId="{0543D31B-A694-4357-ADBA-E6270F5841F3}" type="pres">
      <dgm:prSet presAssocID="{45EA1B47-EEAC-414A-AEC6-30957B774410}" presName="spacer" presStyleCnt="0"/>
      <dgm:spPr/>
    </dgm:pt>
    <dgm:pt modelId="{69C3DD3C-E0A7-47AD-B52C-24EB4719A688}" type="pres">
      <dgm:prSet presAssocID="{8096329B-5F97-4269-BB73-F2F9D74A4862}" presName="comp" presStyleCnt="0"/>
      <dgm:spPr/>
    </dgm:pt>
    <dgm:pt modelId="{A00F6E1C-EC64-4C06-9D4E-15670E8B6F79}" type="pres">
      <dgm:prSet presAssocID="{8096329B-5F97-4269-BB73-F2F9D74A4862}" presName="box" presStyleLbl="node1" presStyleIdx="3" presStyleCnt="4" custLinFactNeighborX="-631"/>
      <dgm:spPr/>
    </dgm:pt>
    <dgm:pt modelId="{40E9168E-83FD-4945-BBBD-915148E9369B}" type="pres">
      <dgm:prSet presAssocID="{8096329B-5F97-4269-BB73-F2F9D74A4862}" presName="img" presStyleLbl="fgImgPlace1" presStyleIdx="3" presStyleCnt="4" custLinFactNeighborX="-6145" custLinFactNeighborY="-2649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  <dgm:extLst>
        <a:ext uri="{E40237B7-FDA0-4F09-8148-C483321AD2D9}">
          <dgm14:cNvPr xmlns:dgm14="http://schemas.microsoft.com/office/drawing/2010/diagram" id="0" name="" descr="Etsy, Reuseit, and Iron Mountain websites"/>
        </a:ext>
      </dgm:extLst>
    </dgm:pt>
    <dgm:pt modelId="{201A3587-F642-4CA6-BFE0-BDAA3188B040}" type="pres">
      <dgm:prSet presAssocID="{8096329B-5F97-4269-BB73-F2F9D74A4862}" presName="text" presStyleLbl="node1" presStyleIdx="3" presStyleCnt="4">
        <dgm:presLayoutVars>
          <dgm:bulletEnabled val="1"/>
        </dgm:presLayoutVars>
      </dgm:prSet>
      <dgm:spPr/>
    </dgm:pt>
  </dgm:ptLst>
  <dgm:cxnLst>
    <dgm:cxn modelId="{B5908301-3EA1-4A10-8C40-0EBA9F041B09}" srcId="{635D9285-A068-4881-9873-217D52C6F242}" destId="{3BAC2B15-747E-46E7-918C-F61405D57364}" srcOrd="0" destOrd="0" parTransId="{FDF0FB7D-137E-4AB4-94BF-5E30ABC247A7}" sibTransId="{E6055C0C-6AD2-4B90-BA94-3049AC7373BC}"/>
    <dgm:cxn modelId="{64006012-CF62-4201-B4A2-78B940F30366}" type="presOf" srcId="{313A7465-EEB2-442F-8E78-8EAE21C53908}" destId="{8EA002C1-6246-4261-9EE9-A2EA11685E07}" srcOrd="0" destOrd="0" presId="urn:microsoft.com/office/officeart/2005/8/layout/vList4#6"/>
    <dgm:cxn modelId="{6100F262-CB4C-42AD-955E-ACA2FB1A8019}" type="presOf" srcId="{8096329B-5F97-4269-BB73-F2F9D74A4862}" destId="{201A3587-F642-4CA6-BFE0-BDAA3188B040}" srcOrd="1" destOrd="0" presId="urn:microsoft.com/office/officeart/2005/8/layout/vList4#6"/>
    <dgm:cxn modelId="{79A2AE75-8D8D-481F-8453-CABF644A8610}" type="presOf" srcId="{313A7465-EEB2-442F-8E78-8EAE21C53908}" destId="{E2ED0F6C-E3E4-4384-9D90-6D34DEDBFCD0}" srcOrd="1" destOrd="0" presId="urn:microsoft.com/office/officeart/2005/8/layout/vList4#6"/>
    <dgm:cxn modelId="{2EF1E97C-379B-430F-BBE7-AE8D36F1FA5A}" srcId="{635D9285-A068-4881-9873-217D52C6F242}" destId="{8096329B-5F97-4269-BB73-F2F9D74A4862}" srcOrd="3" destOrd="0" parTransId="{5A1E1AE9-6BA6-410E-990A-63BF83311C35}" sibTransId="{ADF10826-B210-4728-A536-5722EEA6C0EA}"/>
    <dgm:cxn modelId="{65EAED7F-066F-4032-9F32-EFF257A10E3F}" type="presOf" srcId="{3BAC2B15-747E-46E7-918C-F61405D57364}" destId="{6C38C4A5-0354-4419-8411-BC2AEF4A0F3D}" srcOrd="1" destOrd="0" presId="urn:microsoft.com/office/officeart/2005/8/layout/vList4#6"/>
    <dgm:cxn modelId="{6840688E-6159-481F-AA98-752ECC5CB484}" type="presOf" srcId="{3BAC2B15-747E-46E7-918C-F61405D57364}" destId="{A8005CCA-E574-4C79-91E4-72AE182DCBF0}" srcOrd="0" destOrd="0" presId="urn:microsoft.com/office/officeart/2005/8/layout/vList4#6"/>
    <dgm:cxn modelId="{EB49098F-A2B0-4D74-9AB0-2A055D9B37BA}" type="presOf" srcId="{8096329B-5F97-4269-BB73-F2F9D74A4862}" destId="{A00F6E1C-EC64-4C06-9D4E-15670E8B6F79}" srcOrd="0" destOrd="0" presId="urn:microsoft.com/office/officeart/2005/8/layout/vList4#6"/>
    <dgm:cxn modelId="{3945F99A-FCCE-4C43-8D9E-C29DB1A06931}" type="presOf" srcId="{A5E43F15-4E57-4CF3-838E-610F28D80C31}" destId="{0E7A670C-342F-4834-B8A5-8E10B4F34660}" srcOrd="0" destOrd="0" presId="urn:microsoft.com/office/officeart/2005/8/layout/vList4#6"/>
    <dgm:cxn modelId="{A50A2FD4-FB22-49D5-A7B0-AFCD49A6EFD3}" type="presOf" srcId="{A5E43F15-4E57-4CF3-838E-610F28D80C31}" destId="{CA7F626A-D86D-4781-9B0F-59299C1A4193}" srcOrd="1" destOrd="0" presId="urn:microsoft.com/office/officeart/2005/8/layout/vList4#6"/>
    <dgm:cxn modelId="{FA155CE2-EAEB-4D7A-8246-532F15F1C996}" srcId="{635D9285-A068-4881-9873-217D52C6F242}" destId="{A5E43F15-4E57-4CF3-838E-610F28D80C31}" srcOrd="1" destOrd="0" parTransId="{4BA0C765-5589-43FC-82E2-42D841A56928}" sibTransId="{A50E9D45-513F-4927-89AD-D12A6F0209CD}"/>
    <dgm:cxn modelId="{FD1126E5-2697-47D4-B433-E3ADD4C36643}" type="presOf" srcId="{635D9285-A068-4881-9873-217D52C6F242}" destId="{B30FCBEB-CE86-4A0C-849B-4237299FD3D2}" srcOrd="0" destOrd="0" presId="urn:microsoft.com/office/officeart/2005/8/layout/vList4#6"/>
    <dgm:cxn modelId="{29D532EB-6654-4CA5-848B-A71C5C0F4325}" srcId="{635D9285-A068-4881-9873-217D52C6F242}" destId="{313A7465-EEB2-442F-8E78-8EAE21C53908}" srcOrd="2" destOrd="0" parTransId="{F3E1A7F9-8A80-4DB5-84CE-5776B06DF274}" sibTransId="{45EA1B47-EEAC-414A-AEC6-30957B774410}"/>
    <dgm:cxn modelId="{5550A460-6785-4CF1-A1C3-2AFAAC6EC503}" type="presParOf" srcId="{B30FCBEB-CE86-4A0C-849B-4237299FD3D2}" destId="{3809ECC2-4194-4D37-B806-62DD5B18A272}" srcOrd="0" destOrd="0" presId="urn:microsoft.com/office/officeart/2005/8/layout/vList4#6"/>
    <dgm:cxn modelId="{BD2AA4C6-3B55-411E-9CAF-8E16A3805E9A}" type="presParOf" srcId="{3809ECC2-4194-4D37-B806-62DD5B18A272}" destId="{A8005CCA-E574-4C79-91E4-72AE182DCBF0}" srcOrd="0" destOrd="0" presId="urn:microsoft.com/office/officeart/2005/8/layout/vList4#6"/>
    <dgm:cxn modelId="{0BFC8674-25AE-4836-9490-40F7DC54259B}" type="presParOf" srcId="{3809ECC2-4194-4D37-B806-62DD5B18A272}" destId="{279F5ACD-C701-4C96-82D8-CBC204BCC5EE}" srcOrd="1" destOrd="0" presId="urn:microsoft.com/office/officeart/2005/8/layout/vList4#6"/>
    <dgm:cxn modelId="{7E26512B-C4D3-48ED-8C56-EA50B8BE7067}" type="presParOf" srcId="{3809ECC2-4194-4D37-B806-62DD5B18A272}" destId="{6C38C4A5-0354-4419-8411-BC2AEF4A0F3D}" srcOrd="2" destOrd="0" presId="urn:microsoft.com/office/officeart/2005/8/layout/vList4#6"/>
    <dgm:cxn modelId="{6C9F06ED-FCBD-4D76-8885-A6CCE1821D27}" type="presParOf" srcId="{B30FCBEB-CE86-4A0C-849B-4237299FD3D2}" destId="{916DAEDB-F471-4234-A273-F87764DD078C}" srcOrd="1" destOrd="0" presId="urn:microsoft.com/office/officeart/2005/8/layout/vList4#6"/>
    <dgm:cxn modelId="{EFA8A302-D048-4111-99F2-B20067EB3C8B}" type="presParOf" srcId="{B30FCBEB-CE86-4A0C-849B-4237299FD3D2}" destId="{A263CC18-0443-43E0-AB40-226F5A2E1AF9}" srcOrd="2" destOrd="0" presId="urn:microsoft.com/office/officeart/2005/8/layout/vList4#6"/>
    <dgm:cxn modelId="{776CCA7A-5E30-4A9B-A753-439398AAD1AB}" type="presParOf" srcId="{A263CC18-0443-43E0-AB40-226F5A2E1AF9}" destId="{0E7A670C-342F-4834-B8A5-8E10B4F34660}" srcOrd="0" destOrd="0" presId="urn:microsoft.com/office/officeart/2005/8/layout/vList4#6"/>
    <dgm:cxn modelId="{22F94C6E-02FE-4F75-A5C8-63A336F17E14}" type="presParOf" srcId="{A263CC18-0443-43E0-AB40-226F5A2E1AF9}" destId="{442F5796-422D-480F-B18A-251B0FAB1D13}" srcOrd="1" destOrd="0" presId="urn:microsoft.com/office/officeart/2005/8/layout/vList4#6"/>
    <dgm:cxn modelId="{2AD0890C-CD47-4F9A-9EBF-B48D2B229E1D}" type="presParOf" srcId="{A263CC18-0443-43E0-AB40-226F5A2E1AF9}" destId="{CA7F626A-D86D-4781-9B0F-59299C1A4193}" srcOrd="2" destOrd="0" presId="urn:microsoft.com/office/officeart/2005/8/layout/vList4#6"/>
    <dgm:cxn modelId="{1E314597-E701-46C3-8230-FC272C3AEFDB}" type="presParOf" srcId="{B30FCBEB-CE86-4A0C-849B-4237299FD3D2}" destId="{AE1BA75B-A1FC-4410-8910-1FA5E7CA96F5}" srcOrd="3" destOrd="0" presId="urn:microsoft.com/office/officeart/2005/8/layout/vList4#6"/>
    <dgm:cxn modelId="{F5B9AD71-95D4-4D9F-83EE-D91B565FC24F}" type="presParOf" srcId="{B30FCBEB-CE86-4A0C-849B-4237299FD3D2}" destId="{CC45F08B-2193-44E1-AC29-F1F60980AE19}" srcOrd="4" destOrd="0" presId="urn:microsoft.com/office/officeart/2005/8/layout/vList4#6"/>
    <dgm:cxn modelId="{953E0784-1F0E-405D-BF39-96AFDF4A9D61}" type="presParOf" srcId="{CC45F08B-2193-44E1-AC29-F1F60980AE19}" destId="{8EA002C1-6246-4261-9EE9-A2EA11685E07}" srcOrd="0" destOrd="0" presId="urn:microsoft.com/office/officeart/2005/8/layout/vList4#6"/>
    <dgm:cxn modelId="{F4D93F38-4F8D-43BB-91CD-74613DBB177F}" type="presParOf" srcId="{CC45F08B-2193-44E1-AC29-F1F60980AE19}" destId="{B623B29C-CA14-4C78-AA54-2C4A03C49A9F}" srcOrd="1" destOrd="0" presId="urn:microsoft.com/office/officeart/2005/8/layout/vList4#6"/>
    <dgm:cxn modelId="{0E0B014F-F6DA-41B7-8136-C58D35438B17}" type="presParOf" srcId="{CC45F08B-2193-44E1-AC29-F1F60980AE19}" destId="{E2ED0F6C-E3E4-4384-9D90-6D34DEDBFCD0}" srcOrd="2" destOrd="0" presId="urn:microsoft.com/office/officeart/2005/8/layout/vList4#6"/>
    <dgm:cxn modelId="{E064FDE3-56F6-407D-B96B-CE9DD25AAE93}" type="presParOf" srcId="{B30FCBEB-CE86-4A0C-849B-4237299FD3D2}" destId="{0543D31B-A694-4357-ADBA-E6270F5841F3}" srcOrd="5" destOrd="0" presId="urn:microsoft.com/office/officeart/2005/8/layout/vList4#6"/>
    <dgm:cxn modelId="{CB8B38EF-31CA-4020-A02A-401E344A8076}" type="presParOf" srcId="{B30FCBEB-CE86-4A0C-849B-4237299FD3D2}" destId="{69C3DD3C-E0A7-47AD-B52C-24EB4719A688}" srcOrd="6" destOrd="0" presId="urn:microsoft.com/office/officeart/2005/8/layout/vList4#6"/>
    <dgm:cxn modelId="{3339C9FB-6CC5-4E74-B035-903575456F65}" type="presParOf" srcId="{69C3DD3C-E0A7-47AD-B52C-24EB4719A688}" destId="{A00F6E1C-EC64-4C06-9D4E-15670E8B6F79}" srcOrd="0" destOrd="0" presId="urn:microsoft.com/office/officeart/2005/8/layout/vList4#6"/>
    <dgm:cxn modelId="{09118D3E-CB35-4665-870D-8A9EDA65B3BC}" type="presParOf" srcId="{69C3DD3C-E0A7-47AD-B52C-24EB4719A688}" destId="{40E9168E-83FD-4945-BBBD-915148E9369B}" srcOrd="1" destOrd="0" presId="urn:microsoft.com/office/officeart/2005/8/layout/vList4#6"/>
    <dgm:cxn modelId="{23496E88-5B43-464D-A052-5DF474964215}" type="presParOf" srcId="{69C3DD3C-E0A7-47AD-B52C-24EB4719A688}" destId="{201A3587-F642-4CA6-BFE0-BDAA3188B040}" srcOrd="2" destOrd="0" presId="urn:microsoft.com/office/officeart/2005/8/layout/vList4#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CB786F-7C4E-4BEA-A2DA-3A34B48FABF4}" type="doc">
      <dgm:prSet loTypeId="urn:microsoft.com/office/officeart/2005/8/layout/default#6" loCatId="list" qsTypeId="urn:microsoft.com/office/officeart/2005/8/quickstyle/simple5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2101D4C7-D0A9-4D2F-8BC6-F149E6F666E6}">
      <dgm:prSet phldrT="[Text]"/>
      <dgm:spPr/>
      <dgm:t>
        <a:bodyPr/>
        <a:lstStyle/>
        <a:p>
          <a:r>
            <a:rPr lang="en-US" dirty="0"/>
            <a:t>Personal</a:t>
          </a:r>
        </a:p>
      </dgm:t>
    </dgm:pt>
    <dgm:pt modelId="{17C272DC-934D-4FAE-A88A-957890A37149}" type="parTrans" cxnId="{712C5E76-BB38-43B1-A566-F834EF622F10}">
      <dgm:prSet/>
      <dgm:spPr/>
      <dgm:t>
        <a:bodyPr/>
        <a:lstStyle/>
        <a:p>
          <a:endParaRPr lang="en-US"/>
        </a:p>
      </dgm:t>
    </dgm:pt>
    <dgm:pt modelId="{D90D969A-4395-49F4-A907-BE485628DFBE}" type="sibTrans" cxnId="{712C5E76-BB38-43B1-A566-F834EF622F10}">
      <dgm:prSet/>
      <dgm:spPr/>
      <dgm:t>
        <a:bodyPr/>
        <a:lstStyle/>
        <a:p>
          <a:endParaRPr lang="en-US"/>
        </a:p>
      </dgm:t>
    </dgm:pt>
    <dgm:pt modelId="{B1A9F3D7-23AB-4D58-84A4-D4C0F5BA361A}">
      <dgm:prSet phldrT="[Text]"/>
      <dgm:spPr/>
      <dgm:t>
        <a:bodyPr/>
        <a:lstStyle/>
        <a:p>
          <a:r>
            <a:rPr lang="en-US" dirty="0"/>
            <a:t>Organizational / Topical</a:t>
          </a:r>
        </a:p>
      </dgm:t>
    </dgm:pt>
    <dgm:pt modelId="{FE59E0B0-05D7-408B-B513-0F585B89E37B}" type="parTrans" cxnId="{4E760C6E-96A4-40F0-BB68-CA509180824D}">
      <dgm:prSet/>
      <dgm:spPr/>
      <dgm:t>
        <a:bodyPr/>
        <a:lstStyle/>
        <a:p>
          <a:endParaRPr lang="en-US"/>
        </a:p>
      </dgm:t>
    </dgm:pt>
    <dgm:pt modelId="{83B995F6-83DF-46EE-84D2-C9F491FBF573}" type="sibTrans" cxnId="{4E760C6E-96A4-40F0-BB68-CA509180824D}">
      <dgm:prSet/>
      <dgm:spPr/>
      <dgm:t>
        <a:bodyPr/>
        <a:lstStyle/>
        <a:p>
          <a:endParaRPr lang="en-US"/>
        </a:p>
      </dgm:t>
    </dgm:pt>
    <dgm:pt modelId="{D8B29F76-EF46-42F9-94B3-D1B508FB05F7}">
      <dgm:prSet phldrT="[Text]"/>
      <dgm:spPr/>
      <dgm:t>
        <a:bodyPr/>
        <a:lstStyle/>
        <a:p>
          <a:r>
            <a:rPr lang="en-US" dirty="0"/>
            <a:t>Commercial</a:t>
          </a:r>
        </a:p>
      </dgm:t>
    </dgm:pt>
    <dgm:pt modelId="{DB8F84EC-34CA-4B54-BD6A-0DD58B645F48}" type="parTrans" cxnId="{55DC4935-DD9A-401C-9A9C-A91211782710}">
      <dgm:prSet/>
      <dgm:spPr/>
      <dgm:t>
        <a:bodyPr/>
        <a:lstStyle/>
        <a:p>
          <a:endParaRPr lang="en-US"/>
        </a:p>
      </dgm:t>
    </dgm:pt>
    <dgm:pt modelId="{DFD65080-BE40-4689-854D-DB16B65793F1}" type="sibTrans" cxnId="{55DC4935-DD9A-401C-9A9C-A91211782710}">
      <dgm:prSet/>
      <dgm:spPr/>
      <dgm:t>
        <a:bodyPr/>
        <a:lstStyle/>
        <a:p>
          <a:endParaRPr lang="en-US"/>
        </a:p>
      </dgm:t>
    </dgm:pt>
    <dgm:pt modelId="{F94F91C8-714A-4626-B647-C8C1E1DBFE29}" type="pres">
      <dgm:prSet presAssocID="{FCCB786F-7C4E-4BEA-A2DA-3A34B48FABF4}" presName="diagram" presStyleCnt="0">
        <dgm:presLayoutVars>
          <dgm:dir/>
          <dgm:resizeHandles val="exact"/>
        </dgm:presLayoutVars>
      </dgm:prSet>
      <dgm:spPr/>
    </dgm:pt>
    <dgm:pt modelId="{57A4675E-0E38-409A-914E-580384B69B10}" type="pres">
      <dgm:prSet presAssocID="{2101D4C7-D0A9-4D2F-8BC6-F149E6F666E6}" presName="node" presStyleLbl="node1" presStyleIdx="0" presStyleCnt="3">
        <dgm:presLayoutVars>
          <dgm:bulletEnabled val="1"/>
        </dgm:presLayoutVars>
      </dgm:prSet>
      <dgm:spPr/>
    </dgm:pt>
    <dgm:pt modelId="{CAC229EC-EF29-4C88-ADCC-E4E55840C0BC}" type="pres">
      <dgm:prSet presAssocID="{D90D969A-4395-49F4-A907-BE485628DFBE}" presName="sibTrans" presStyleCnt="0"/>
      <dgm:spPr/>
    </dgm:pt>
    <dgm:pt modelId="{F5535EE0-22D0-41C4-ABF3-D34ED2C21736}" type="pres">
      <dgm:prSet presAssocID="{B1A9F3D7-23AB-4D58-84A4-D4C0F5BA361A}" presName="node" presStyleLbl="node1" presStyleIdx="1" presStyleCnt="3">
        <dgm:presLayoutVars>
          <dgm:bulletEnabled val="1"/>
        </dgm:presLayoutVars>
      </dgm:prSet>
      <dgm:spPr/>
    </dgm:pt>
    <dgm:pt modelId="{814E5782-6DFB-4393-AA5A-5017798A472C}" type="pres">
      <dgm:prSet presAssocID="{83B995F6-83DF-46EE-84D2-C9F491FBF573}" presName="sibTrans" presStyleCnt="0"/>
      <dgm:spPr/>
    </dgm:pt>
    <dgm:pt modelId="{92485209-9594-4854-999A-74AA17A54B91}" type="pres">
      <dgm:prSet presAssocID="{D8B29F76-EF46-42F9-94B3-D1B508FB05F7}" presName="node" presStyleLbl="node1" presStyleIdx="2" presStyleCnt="3">
        <dgm:presLayoutVars>
          <dgm:bulletEnabled val="1"/>
        </dgm:presLayoutVars>
      </dgm:prSet>
      <dgm:spPr/>
    </dgm:pt>
  </dgm:ptLst>
  <dgm:cxnLst>
    <dgm:cxn modelId="{9F328822-E4DF-43BC-8014-E132BD823D19}" type="presOf" srcId="{2101D4C7-D0A9-4D2F-8BC6-F149E6F666E6}" destId="{57A4675E-0E38-409A-914E-580384B69B10}" srcOrd="0" destOrd="0" presId="urn:microsoft.com/office/officeart/2005/8/layout/default#6"/>
    <dgm:cxn modelId="{55DC4935-DD9A-401C-9A9C-A91211782710}" srcId="{FCCB786F-7C4E-4BEA-A2DA-3A34B48FABF4}" destId="{D8B29F76-EF46-42F9-94B3-D1B508FB05F7}" srcOrd="2" destOrd="0" parTransId="{DB8F84EC-34CA-4B54-BD6A-0DD58B645F48}" sibTransId="{DFD65080-BE40-4689-854D-DB16B65793F1}"/>
    <dgm:cxn modelId="{7891C838-4850-4B14-82C7-74D40A2C84BD}" type="presOf" srcId="{FCCB786F-7C4E-4BEA-A2DA-3A34B48FABF4}" destId="{F94F91C8-714A-4626-B647-C8C1E1DBFE29}" srcOrd="0" destOrd="0" presId="urn:microsoft.com/office/officeart/2005/8/layout/default#6"/>
    <dgm:cxn modelId="{4E760C6E-96A4-40F0-BB68-CA509180824D}" srcId="{FCCB786F-7C4E-4BEA-A2DA-3A34B48FABF4}" destId="{B1A9F3D7-23AB-4D58-84A4-D4C0F5BA361A}" srcOrd="1" destOrd="0" parTransId="{FE59E0B0-05D7-408B-B513-0F585B89E37B}" sibTransId="{83B995F6-83DF-46EE-84D2-C9F491FBF573}"/>
    <dgm:cxn modelId="{712C5E76-BB38-43B1-A566-F834EF622F10}" srcId="{FCCB786F-7C4E-4BEA-A2DA-3A34B48FABF4}" destId="{2101D4C7-D0A9-4D2F-8BC6-F149E6F666E6}" srcOrd="0" destOrd="0" parTransId="{17C272DC-934D-4FAE-A88A-957890A37149}" sibTransId="{D90D969A-4395-49F4-A907-BE485628DFBE}"/>
    <dgm:cxn modelId="{BE0E41B6-411E-48AB-8556-02A4A51821AF}" type="presOf" srcId="{B1A9F3D7-23AB-4D58-84A4-D4C0F5BA361A}" destId="{F5535EE0-22D0-41C4-ABF3-D34ED2C21736}" srcOrd="0" destOrd="0" presId="urn:microsoft.com/office/officeart/2005/8/layout/default#6"/>
    <dgm:cxn modelId="{861AF1CC-0600-450B-A403-5FB2B47F0B28}" type="presOf" srcId="{D8B29F76-EF46-42F9-94B3-D1B508FB05F7}" destId="{92485209-9594-4854-999A-74AA17A54B91}" srcOrd="0" destOrd="0" presId="urn:microsoft.com/office/officeart/2005/8/layout/default#6"/>
    <dgm:cxn modelId="{CCDC554D-50F5-4580-9AD4-7421749A2D53}" type="presParOf" srcId="{F94F91C8-714A-4626-B647-C8C1E1DBFE29}" destId="{57A4675E-0E38-409A-914E-580384B69B10}" srcOrd="0" destOrd="0" presId="urn:microsoft.com/office/officeart/2005/8/layout/default#6"/>
    <dgm:cxn modelId="{B3F672EE-FA95-44F3-8A6A-59DF3270459E}" type="presParOf" srcId="{F94F91C8-714A-4626-B647-C8C1E1DBFE29}" destId="{CAC229EC-EF29-4C88-ADCC-E4E55840C0BC}" srcOrd="1" destOrd="0" presId="urn:microsoft.com/office/officeart/2005/8/layout/default#6"/>
    <dgm:cxn modelId="{DCD97477-A9E0-4324-9393-9CA3F2A8E376}" type="presParOf" srcId="{F94F91C8-714A-4626-B647-C8C1E1DBFE29}" destId="{F5535EE0-22D0-41C4-ABF3-D34ED2C21736}" srcOrd="2" destOrd="0" presId="urn:microsoft.com/office/officeart/2005/8/layout/default#6"/>
    <dgm:cxn modelId="{7B7B0592-8449-420A-AC42-C2D3526B695D}" type="presParOf" srcId="{F94F91C8-714A-4626-B647-C8C1E1DBFE29}" destId="{814E5782-6DFB-4393-AA5A-5017798A472C}" srcOrd="3" destOrd="0" presId="urn:microsoft.com/office/officeart/2005/8/layout/default#6"/>
    <dgm:cxn modelId="{17BC7CC5-242B-48E1-8590-9172DEBD5A17}" type="presParOf" srcId="{F94F91C8-714A-4626-B647-C8C1E1DBFE29}" destId="{92485209-9594-4854-999A-74AA17A54B91}" srcOrd="4" destOrd="0" presId="urn:microsoft.com/office/officeart/2005/8/layout/default#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05CCA-E574-4C79-91E4-72AE182DCBF0}">
      <dsp:nvSpPr>
        <dsp:cNvPr id="0" name=""/>
        <dsp:cNvSpPr/>
      </dsp:nvSpPr>
      <dsp:spPr>
        <a:xfrm>
          <a:off x="0" y="0"/>
          <a:ext cx="8991600" cy="11050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Communication</a:t>
          </a:r>
        </a:p>
      </dsp:txBody>
      <dsp:txXfrm>
        <a:off x="1908826" y="0"/>
        <a:ext cx="7082773" cy="1105064"/>
      </dsp:txXfrm>
    </dsp:sp>
    <dsp:sp modelId="{279F5ACD-C701-4C96-82D8-CBC204BCC5EE}">
      <dsp:nvSpPr>
        <dsp:cNvPr id="0" name=""/>
        <dsp:cNvSpPr/>
      </dsp:nvSpPr>
      <dsp:spPr>
        <a:xfrm>
          <a:off x="110506" y="110506"/>
          <a:ext cx="1798320" cy="88405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E7A670C-342F-4834-B8A5-8E10B4F34660}">
      <dsp:nvSpPr>
        <dsp:cNvPr id="0" name=""/>
        <dsp:cNvSpPr/>
      </dsp:nvSpPr>
      <dsp:spPr>
        <a:xfrm>
          <a:off x="0" y="1215570"/>
          <a:ext cx="8991600" cy="11050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Education</a:t>
          </a:r>
        </a:p>
      </dsp:txBody>
      <dsp:txXfrm>
        <a:off x="1908826" y="1215570"/>
        <a:ext cx="7082773" cy="1105064"/>
      </dsp:txXfrm>
    </dsp:sp>
    <dsp:sp modelId="{442F5796-422D-480F-B18A-251B0FAB1D13}">
      <dsp:nvSpPr>
        <dsp:cNvPr id="0" name=""/>
        <dsp:cNvSpPr/>
      </dsp:nvSpPr>
      <dsp:spPr>
        <a:xfrm>
          <a:off x="110506" y="1326077"/>
          <a:ext cx="1798320" cy="88405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8EA002C1-6246-4261-9EE9-A2EA11685E07}">
      <dsp:nvSpPr>
        <dsp:cNvPr id="0" name=""/>
        <dsp:cNvSpPr/>
      </dsp:nvSpPr>
      <dsp:spPr>
        <a:xfrm>
          <a:off x="0" y="2431141"/>
          <a:ext cx="8991600" cy="11050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Entertainment and News</a:t>
          </a:r>
        </a:p>
      </dsp:txBody>
      <dsp:txXfrm>
        <a:off x="1908826" y="2431141"/>
        <a:ext cx="7082773" cy="1105064"/>
      </dsp:txXfrm>
    </dsp:sp>
    <dsp:sp modelId="{B623B29C-CA14-4C78-AA54-2C4A03C49A9F}">
      <dsp:nvSpPr>
        <dsp:cNvPr id="0" name=""/>
        <dsp:cNvSpPr/>
      </dsp:nvSpPr>
      <dsp:spPr>
        <a:xfrm>
          <a:off x="110506" y="2541648"/>
          <a:ext cx="1798320" cy="88405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A00F6E1C-EC64-4C06-9D4E-15670E8B6F79}">
      <dsp:nvSpPr>
        <dsp:cNvPr id="0" name=""/>
        <dsp:cNvSpPr/>
      </dsp:nvSpPr>
      <dsp:spPr>
        <a:xfrm>
          <a:off x="0" y="3646712"/>
          <a:ext cx="8991600" cy="11050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E-commerce</a:t>
          </a:r>
        </a:p>
      </dsp:txBody>
      <dsp:txXfrm>
        <a:off x="1908826" y="3646712"/>
        <a:ext cx="7082773" cy="1105064"/>
      </dsp:txXfrm>
    </dsp:sp>
    <dsp:sp modelId="{40E9168E-83FD-4945-BBBD-915148E9369B}">
      <dsp:nvSpPr>
        <dsp:cNvPr id="0" name=""/>
        <dsp:cNvSpPr/>
      </dsp:nvSpPr>
      <dsp:spPr>
        <a:xfrm>
          <a:off x="0" y="3733800"/>
          <a:ext cx="1798320" cy="88405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4675E-0E38-409A-914E-580384B69B10}">
      <dsp:nvSpPr>
        <dsp:cNvPr id="0" name=""/>
        <dsp:cNvSpPr/>
      </dsp:nvSpPr>
      <dsp:spPr>
        <a:xfrm>
          <a:off x="1379836" y="1318"/>
          <a:ext cx="3911769" cy="2347061"/>
        </a:xfrm>
        <a:prstGeom prst="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Personal</a:t>
          </a:r>
        </a:p>
      </dsp:txBody>
      <dsp:txXfrm>
        <a:off x="1379836" y="1318"/>
        <a:ext cx="3911769" cy="2347061"/>
      </dsp:txXfrm>
    </dsp:sp>
    <dsp:sp modelId="{F5535EE0-22D0-41C4-ABF3-D34ED2C21736}">
      <dsp:nvSpPr>
        <dsp:cNvPr id="0" name=""/>
        <dsp:cNvSpPr/>
      </dsp:nvSpPr>
      <dsp:spPr>
        <a:xfrm>
          <a:off x="5682782" y="1318"/>
          <a:ext cx="3911769" cy="2347061"/>
        </a:xfrm>
        <a:prstGeom prst="rect">
          <a:avLst/>
        </a:prstGeom>
        <a:gradFill rotWithShape="0">
          <a:gsLst>
            <a:gs pos="0">
              <a:schemeClr val="accent2">
                <a:shade val="50000"/>
                <a:hueOff val="-394115"/>
                <a:satOff val="5189"/>
                <a:lumOff val="3107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50000"/>
                <a:hueOff val="-394115"/>
                <a:satOff val="5189"/>
                <a:lumOff val="3107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50000"/>
                <a:hueOff val="-394115"/>
                <a:satOff val="5189"/>
                <a:lumOff val="3107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Organizational / Topical</a:t>
          </a:r>
        </a:p>
      </dsp:txBody>
      <dsp:txXfrm>
        <a:off x="5682782" y="1318"/>
        <a:ext cx="3911769" cy="2347061"/>
      </dsp:txXfrm>
    </dsp:sp>
    <dsp:sp modelId="{92485209-9594-4854-999A-74AA17A54B91}">
      <dsp:nvSpPr>
        <dsp:cNvPr id="0" name=""/>
        <dsp:cNvSpPr/>
      </dsp:nvSpPr>
      <dsp:spPr>
        <a:xfrm>
          <a:off x="3531309" y="2739556"/>
          <a:ext cx="3911769" cy="2347061"/>
        </a:xfrm>
        <a:prstGeom prst="rect">
          <a:avLst/>
        </a:prstGeom>
        <a:gradFill rotWithShape="0">
          <a:gsLst>
            <a:gs pos="0">
              <a:schemeClr val="accent2">
                <a:shade val="50000"/>
                <a:hueOff val="-394115"/>
                <a:satOff val="5189"/>
                <a:lumOff val="3107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50000"/>
                <a:hueOff val="-394115"/>
                <a:satOff val="5189"/>
                <a:lumOff val="3107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50000"/>
                <a:hueOff val="-394115"/>
                <a:satOff val="5189"/>
                <a:lumOff val="3107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Commercial</a:t>
          </a:r>
        </a:p>
      </dsp:txBody>
      <dsp:txXfrm>
        <a:off x="3531309" y="2739556"/>
        <a:ext cx="3911769" cy="23470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#6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6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F1B1C-EF43-42DF-8D93-6D1AA054F092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D68BF-496A-42D2-A159-C1EBC09BAB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843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59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58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89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10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77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50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75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18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65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85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92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2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42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33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707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29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877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98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206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945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499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428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183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2496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 intranet is a private network within a large organization or commercial entity that uses Internet and web technologies to share information among only its members, employees, or business partners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255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825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462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910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390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EB9D0-C799-C4F7-CC3B-0526E01A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01D7A-AA98-9F8F-E254-4D6D1A975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629A3-558F-B523-EE6A-1D172AB0A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FCAEC-C50D-415C-A21D-F487284089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627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3E5D5-B1F7-BDC3-5895-404891148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AB9B8-50D9-BD14-2F1A-5C1E9CCF4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86E97-3D58-3A39-6EAB-6007B4BE9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BC8FF-F297-C7D1-FC38-238893F53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873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22438-91D3-AA52-640B-812DD4DD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09728-9849-52F0-D6CE-AEF9AF601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46DC1-E37C-1A83-19B1-E87DE321A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51DEC-8510-0211-85D3-4B68AE4D93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158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29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41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520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955FFB8-A473-4582-8D75-2B307DEDF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599" y="-130634"/>
            <a:ext cx="4938449" cy="1569617"/>
          </a:xfrm>
          <a:prstGeom prst="rect">
            <a:avLst/>
          </a:prstGeom>
        </p:spPr>
      </p:pic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EC16-0814-4C56-AA78-F0270E4F1F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932019"/>
            <a:ext cx="5427049" cy="482207"/>
          </a:xfrm>
          <a:prstGeom prst="rect">
            <a:avLst/>
          </a:prstGeom>
        </p:spPr>
        <p:txBody>
          <a:bodyPr/>
          <a:lstStyle>
            <a:lvl1pPr>
              <a:defRPr sz="3266"/>
            </a:lvl1pPr>
            <a:lvl2pPr>
              <a:defRPr sz="2177"/>
            </a:lvl2pPr>
            <a:lvl3pPr>
              <a:defRPr sz="3266"/>
            </a:lvl3pPr>
            <a:lvl4pPr>
              <a:defRPr sz="3266"/>
            </a:lvl4pPr>
            <a:lvl5pPr>
              <a:defRPr sz="3266"/>
            </a:lvl5pPr>
          </a:lstStyle>
          <a:p>
            <a:pPr lvl="0"/>
            <a:r>
              <a:rPr lang="en-US" dirty="0"/>
              <a:t>Click to edit author name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6679A94-67C1-43C1-BE39-4A5D056444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717" y="4932018"/>
            <a:ext cx="5427049" cy="482208"/>
          </a:xfrm>
          <a:prstGeom prst="rect">
            <a:avLst/>
          </a:prstGeom>
        </p:spPr>
        <p:txBody>
          <a:bodyPr/>
          <a:lstStyle>
            <a:lvl1pPr>
              <a:defRPr sz="3266"/>
            </a:lvl1pPr>
            <a:lvl2pPr>
              <a:defRPr sz="2177"/>
            </a:lvl2pPr>
            <a:lvl3pPr>
              <a:defRPr sz="3266"/>
            </a:lvl3pPr>
            <a:lvl4pPr>
              <a:defRPr sz="3266"/>
            </a:lvl4pPr>
            <a:lvl5pPr>
              <a:defRPr sz="3266"/>
            </a:lvl5pPr>
          </a:lstStyle>
          <a:p>
            <a:pPr lvl="0"/>
            <a:r>
              <a:rPr lang="en-US" dirty="0"/>
              <a:t>Click to edit author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AFA7D46-F83B-4F74-9516-8546EE4D97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717" y="326586"/>
            <a:ext cx="10974332" cy="4082318"/>
          </a:xfrm>
          <a:prstGeom prst="rect">
            <a:avLst/>
          </a:prstGeom>
        </p:spPr>
        <p:txBody>
          <a:bodyPr anchor="b"/>
          <a:lstStyle>
            <a:lvl1pPr>
              <a:defRPr sz="7258">
                <a:solidFill>
                  <a:srgbClr val="7030A0"/>
                </a:solidFill>
              </a:defRPr>
            </a:lvl1pPr>
            <a:lvl2pPr>
              <a:defRPr>
                <a:solidFill>
                  <a:srgbClr val="7030A0"/>
                </a:solidFill>
              </a:defRPr>
            </a:lvl2pPr>
            <a:lvl3pPr>
              <a:defRPr>
                <a:solidFill>
                  <a:srgbClr val="7030A0"/>
                </a:solidFill>
              </a:defRPr>
            </a:lvl3pPr>
            <a:lvl4pPr>
              <a:defRPr>
                <a:solidFill>
                  <a:srgbClr val="7030A0"/>
                </a:solidFill>
              </a:defRPr>
            </a:lvl4pPr>
            <a:lvl5pPr>
              <a:defRPr>
                <a:solidFill>
                  <a:srgbClr val="7030A0"/>
                </a:solidFill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9149B9D-E6D7-4C0B-8FAD-11753D3318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8717" y="5414226"/>
            <a:ext cx="5427049" cy="482208"/>
          </a:xfrm>
          <a:prstGeom prst="rect">
            <a:avLst/>
          </a:prstGeom>
        </p:spPr>
        <p:txBody>
          <a:bodyPr/>
          <a:lstStyle>
            <a:lvl1pPr>
              <a:defRPr sz="2177"/>
            </a:lvl1pPr>
            <a:lvl2pPr>
              <a:defRPr sz="2177"/>
            </a:lvl2pPr>
            <a:lvl3pPr>
              <a:defRPr sz="3266"/>
            </a:lvl3pPr>
            <a:lvl4pPr>
              <a:defRPr sz="3266"/>
            </a:lvl4pPr>
            <a:lvl5pPr>
              <a:defRPr sz="3266"/>
            </a:lvl5pPr>
          </a:lstStyle>
          <a:p>
            <a:pPr lvl="0"/>
            <a:r>
              <a:rPr lang="en-US" dirty="0"/>
              <a:t>Click to edit author title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B26FEA5-C5A6-4423-9C86-D1106E200B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9" y="5455134"/>
            <a:ext cx="5427049" cy="482208"/>
          </a:xfrm>
          <a:prstGeom prst="rect">
            <a:avLst/>
          </a:prstGeom>
        </p:spPr>
        <p:txBody>
          <a:bodyPr/>
          <a:lstStyle>
            <a:lvl1pPr>
              <a:defRPr sz="2177"/>
            </a:lvl1pPr>
            <a:lvl2pPr>
              <a:defRPr sz="2177"/>
            </a:lvl2pPr>
            <a:lvl3pPr>
              <a:defRPr sz="3266"/>
            </a:lvl3pPr>
            <a:lvl4pPr>
              <a:defRPr sz="3266"/>
            </a:lvl4pPr>
            <a:lvl5pPr>
              <a:defRPr sz="3266"/>
            </a:lvl5pPr>
          </a:lstStyle>
          <a:p>
            <a:pPr lvl="0"/>
            <a:r>
              <a:rPr lang="en-US" dirty="0"/>
              <a:t>Click to edit author title</a:t>
            </a:r>
          </a:p>
        </p:txBody>
      </p:sp>
    </p:spTree>
    <p:extLst>
      <p:ext uri="{BB962C8B-B14F-4D97-AF65-F5344CB8AC3E}">
        <p14:creationId xmlns:p14="http://schemas.microsoft.com/office/powerpoint/2010/main" val="2454550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E172-530A-4D1A-B2C5-91C70AE4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4E0C8-7DCF-48A5-B01B-72B77AC44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D8764-6F1E-416E-88F1-C40EC8969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A7AD7-758F-437C-8CE1-AFECB2DA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139AE-6A7F-4A3F-B55D-EF7BB338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07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DB22C-E7C2-4D9B-9C3E-B3770423D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EA447-2275-4903-97D5-0EF4EF264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0323C-6842-42A1-AE34-80EECC963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D285F-01C7-4064-AF1F-C986D711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61DB0-E754-4632-BADF-5CEE7CA7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3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A15-60D4-4D51-8523-72BD3AF8B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8C380-48F3-4C56-AD06-EB8A6D266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E5B96-8801-48EC-8518-84940648E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C1791-8B8D-451F-B33E-480EB0964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50D6A-1B8C-41EC-8155-C991E24F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E6DD7-BAF3-4453-8ADD-14B605AB9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55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+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4CAF-691F-47B9-94EF-B2CD61CC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9F2FF-1530-44C5-BE8F-B30C1A747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715" y="1632928"/>
            <a:ext cx="10974331" cy="5088553"/>
          </a:xfrm>
          <a:prstGeom prst="rect">
            <a:avLst/>
          </a:prstGeom>
        </p:spPr>
        <p:txBody>
          <a:bodyPr/>
          <a:lstStyle>
            <a:lvl1pPr marL="124367" indent="-293933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903"/>
            </a:lvl1pPr>
            <a:lvl2pPr marL="373100" indent="-26127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540"/>
            </a:lvl2pPr>
            <a:lvl3pPr marL="621832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3pPr>
            <a:lvl4pPr marL="870565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4pPr>
            <a:lvl5pPr marL="1119299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27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+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4CAF-691F-47B9-94EF-B2CD61CC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9F2FF-1530-44C5-BE8F-B30C1A747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716" y="1632928"/>
            <a:ext cx="5304260" cy="5088553"/>
          </a:xfrm>
          <a:prstGeom prst="rect">
            <a:avLst/>
          </a:prstGeom>
        </p:spPr>
        <p:txBody>
          <a:bodyPr/>
          <a:lstStyle>
            <a:lvl1pPr marL="124367" indent="-293933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903"/>
            </a:lvl1pPr>
            <a:lvl2pPr marL="373100" indent="-26127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540"/>
            </a:lvl2pPr>
            <a:lvl3pPr marL="621832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3pPr>
            <a:lvl4pPr marL="870565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4pPr>
            <a:lvl5pPr marL="1119299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EC9D08-E9EF-4679-A8B5-DA5C9A0A4E1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8787" y="1632927"/>
            <a:ext cx="5304260" cy="5088553"/>
          </a:xfrm>
          <a:prstGeom prst="rect">
            <a:avLst/>
          </a:prstGeom>
        </p:spPr>
        <p:txBody>
          <a:bodyPr/>
          <a:lstStyle>
            <a:lvl1pPr marL="124367" indent="-293933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903"/>
            </a:lvl1pPr>
            <a:lvl2pPr marL="373100" indent="-26127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540"/>
            </a:lvl2pPr>
            <a:lvl3pPr marL="621832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3pPr>
            <a:lvl4pPr marL="870565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4pPr>
            <a:lvl5pPr marL="1119299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945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3F63-CAB6-40FB-BAEE-D7ACDC14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6548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acious - Title +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4CAF-691F-47B9-94EF-B2CD61CC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9F2FF-1530-44C5-BE8F-B30C1A747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715" y="1632928"/>
            <a:ext cx="10974331" cy="5088553"/>
          </a:xfrm>
          <a:prstGeom prst="rect">
            <a:avLst/>
          </a:prstGeom>
        </p:spPr>
        <p:txBody>
          <a:bodyPr/>
          <a:lstStyle>
            <a:lvl1pPr marL="124367" indent="-293933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903"/>
            </a:lvl1pPr>
            <a:lvl2pPr marL="373100" indent="-26127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540"/>
            </a:lvl2pPr>
            <a:lvl3pPr marL="621832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3pPr>
            <a:lvl4pPr marL="870565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4pPr>
            <a:lvl5pPr marL="1119299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FDEEC28-ECDF-40B3-90A7-51EDD6FEB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1042" y="6293919"/>
            <a:ext cx="1230569" cy="365125"/>
          </a:xfrm>
          <a:prstGeom prst="rect">
            <a:avLst/>
          </a:prstGeom>
        </p:spPr>
        <p:txBody>
          <a:bodyPr/>
          <a:lstStyle>
            <a:lvl1pPr algn="r">
              <a:defRPr sz="2177"/>
            </a:lvl1pPr>
          </a:lstStyle>
          <a:p>
            <a:fld id="{37EA776D-3F53-4807-875D-C6A1D104717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2464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acious - Title +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4CAF-691F-47B9-94EF-B2CD61CC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9F2FF-1530-44C5-BE8F-B30C1A747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716" y="1632928"/>
            <a:ext cx="5304260" cy="5088553"/>
          </a:xfrm>
          <a:prstGeom prst="rect">
            <a:avLst/>
          </a:prstGeom>
        </p:spPr>
        <p:txBody>
          <a:bodyPr/>
          <a:lstStyle>
            <a:lvl1pPr marL="124367" indent="-293933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903"/>
            </a:lvl1pPr>
            <a:lvl2pPr marL="373100" indent="-26127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540"/>
            </a:lvl2pPr>
            <a:lvl3pPr marL="621832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3pPr>
            <a:lvl4pPr marL="870565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4pPr>
            <a:lvl5pPr marL="1119299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EC9D08-E9EF-4679-A8B5-DA5C9A0A4E1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8787" y="1632927"/>
            <a:ext cx="5304260" cy="5088553"/>
          </a:xfrm>
          <a:prstGeom prst="rect">
            <a:avLst/>
          </a:prstGeom>
        </p:spPr>
        <p:txBody>
          <a:bodyPr/>
          <a:lstStyle>
            <a:lvl1pPr marL="124367" indent="-293933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903"/>
            </a:lvl1pPr>
            <a:lvl2pPr marL="373100" indent="-26127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540"/>
            </a:lvl2pPr>
            <a:lvl3pPr marL="621832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3pPr>
            <a:lvl4pPr marL="870565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4pPr>
            <a:lvl5pPr marL="1119299" indent="-228614">
              <a:buClr>
                <a:srgbClr val="7030A0"/>
              </a:buClr>
              <a:buSzPct val="75000"/>
              <a:buFont typeface="Wingdings" panose="05000000000000000000" pitchFamily="2" charset="2"/>
              <a:buChar char=""/>
              <a:defRPr sz="217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9DC78A71-FEB6-4FBE-AF62-72711E9E6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1042" y="6293919"/>
            <a:ext cx="1230569" cy="365125"/>
          </a:xfrm>
          <a:prstGeom prst="rect">
            <a:avLst/>
          </a:prstGeom>
        </p:spPr>
        <p:txBody>
          <a:bodyPr/>
          <a:lstStyle>
            <a:lvl1pPr algn="r">
              <a:defRPr sz="2177"/>
            </a:lvl1pPr>
          </a:lstStyle>
          <a:p>
            <a:fld id="{37EA776D-3F53-4807-875D-C6A1D104717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207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paciou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3F63-CAB6-40FB-BAEE-D7ACDC14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14C396E0-F324-4CD2-876E-D14000074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1042" y="6293919"/>
            <a:ext cx="1230569" cy="365125"/>
          </a:xfrm>
          <a:prstGeom prst="rect">
            <a:avLst/>
          </a:prstGeom>
        </p:spPr>
        <p:txBody>
          <a:bodyPr/>
          <a:lstStyle>
            <a:lvl1pPr algn="r">
              <a:defRPr sz="2177"/>
            </a:lvl1pPr>
          </a:lstStyle>
          <a:p>
            <a:fld id="{37EA776D-3F53-4807-875D-C6A1D104717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669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780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497466" rtl="0" eaLnBrk="1" latinLnBrk="0" hangingPunct="1">
        <a:lnSpc>
          <a:spcPct val="90000"/>
        </a:lnSpc>
        <a:spcBef>
          <a:spcPct val="0"/>
        </a:spcBef>
        <a:buNone/>
        <a:defRPr sz="4352" kern="1200">
          <a:solidFill>
            <a:srgbClr val="7030A0"/>
          </a:solidFill>
          <a:latin typeface="+mj-lt"/>
          <a:ea typeface="+mj-ea"/>
          <a:cs typeface="+mj-cs"/>
        </a:defRPr>
      </a:lvl1pPr>
    </p:titleStyle>
    <p:bodyStyle>
      <a:lvl1pPr marL="0" indent="0" algn="l" defTabSz="497466" rtl="0" eaLnBrk="1" latinLnBrk="0" hangingPunct="1">
        <a:lnSpc>
          <a:spcPct val="90000"/>
        </a:lnSpc>
        <a:spcBef>
          <a:spcPts val="544"/>
        </a:spcBef>
        <a:buFontTx/>
        <a:buNone/>
        <a:defRPr sz="1523" kern="120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497466" rtl="0" eaLnBrk="1" latinLnBrk="0" hangingPunct="1">
        <a:lnSpc>
          <a:spcPct val="90000"/>
        </a:lnSpc>
        <a:spcBef>
          <a:spcPts val="271"/>
        </a:spcBef>
        <a:buFontTx/>
        <a:buNone/>
        <a:defRPr sz="1306" kern="1200">
          <a:solidFill>
            <a:schemeClr val="bg1"/>
          </a:solidFill>
          <a:latin typeface="+mn-lt"/>
          <a:ea typeface="+mn-ea"/>
          <a:cs typeface="+mn-cs"/>
        </a:defRPr>
      </a:lvl2pPr>
      <a:lvl3pPr marL="497466" indent="0" algn="l" defTabSz="497466" rtl="0" eaLnBrk="1" latinLnBrk="0" hangingPunct="1">
        <a:lnSpc>
          <a:spcPct val="90000"/>
        </a:lnSpc>
        <a:spcBef>
          <a:spcPts val="271"/>
        </a:spcBef>
        <a:buFontTx/>
        <a:buNone/>
        <a:defRPr sz="1089" kern="1200">
          <a:solidFill>
            <a:schemeClr val="bg1"/>
          </a:solidFill>
          <a:latin typeface="+mn-lt"/>
          <a:ea typeface="+mn-ea"/>
          <a:cs typeface="+mn-cs"/>
        </a:defRPr>
      </a:lvl3pPr>
      <a:lvl4pPr marL="746198" indent="0" algn="l" defTabSz="497466" rtl="0" eaLnBrk="1" latinLnBrk="0" hangingPunct="1">
        <a:lnSpc>
          <a:spcPct val="90000"/>
        </a:lnSpc>
        <a:spcBef>
          <a:spcPts val="271"/>
        </a:spcBef>
        <a:buFontTx/>
        <a:buNone/>
        <a:defRPr sz="980" kern="1200">
          <a:solidFill>
            <a:schemeClr val="bg1"/>
          </a:solidFill>
          <a:latin typeface="+mn-lt"/>
          <a:ea typeface="+mn-ea"/>
          <a:cs typeface="+mn-cs"/>
        </a:defRPr>
      </a:lvl4pPr>
      <a:lvl5pPr marL="994932" indent="0" algn="l" defTabSz="497466" rtl="0" eaLnBrk="1" latinLnBrk="0" hangingPunct="1">
        <a:lnSpc>
          <a:spcPct val="90000"/>
        </a:lnSpc>
        <a:spcBef>
          <a:spcPts val="271"/>
        </a:spcBef>
        <a:buFontTx/>
        <a:buNone/>
        <a:defRPr sz="980" kern="1200">
          <a:solidFill>
            <a:schemeClr val="bg1"/>
          </a:solidFill>
          <a:latin typeface="+mn-lt"/>
          <a:ea typeface="+mn-ea"/>
          <a:cs typeface="+mn-cs"/>
        </a:defRPr>
      </a:lvl5pPr>
      <a:lvl6pPr marL="1368031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6pPr>
      <a:lvl7pPr marL="1616764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7pPr>
      <a:lvl8pPr marL="1865496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8pPr>
      <a:lvl9pPr marL="2114230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1pPr>
      <a:lvl2pPr marL="248732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2pPr>
      <a:lvl3pPr marL="497466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3pPr>
      <a:lvl4pPr marL="746198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4pPr>
      <a:lvl5pPr marL="994932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5pPr>
      <a:lvl6pPr marL="1243664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6pPr>
      <a:lvl7pPr marL="1492398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7pPr>
      <a:lvl8pPr marL="1741130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8pPr>
      <a:lvl9pPr marL="1989862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97EAB5-9C42-47B2-9038-052B32D08A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796"/>
            <a:ext cx="12647925" cy="710865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FE9770-3289-4790-B7DF-A5C326D0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15" y="163293"/>
            <a:ext cx="10974332" cy="114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F549FF-6835-4A28-9969-B77760A581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170" y="5911197"/>
            <a:ext cx="969399" cy="65199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50601-FA3C-4D71-B21C-73D0F2ADA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1042" y="6293919"/>
            <a:ext cx="1230569" cy="365125"/>
          </a:xfrm>
          <a:prstGeom prst="rect">
            <a:avLst/>
          </a:prstGeom>
        </p:spPr>
        <p:txBody>
          <a:bodyPr/>
          <a:lstStyle>
            <a:lvl1pPr algn="r">
              <a:defRPr sz="2177"/>
            </a:lvl1pPr>
          </a:lstStyle>
          <a:p>
            <a:fld id="{37EA776D-3F53-4807-875D-C6A1D104717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8204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hf hdr="0" ftr="0" dt="0"/>
  <p:txStyles>
    <p:titleStyle>
      <a:lvl1pPr algn="l" defTabSz="497466" rtl="0" eaLnBrk="1" latinLnBrk="0" hangingPunct="1">
        <a:lnSpc>
          <a:spcPct val="90000"/>
        </a:lnSpc>
        <a:spcBef>
          <a:spcPct val="0"/>
        </a:spcBef>
        <a:buNone/>
        <a:defRPr sz="5443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124367" indent="-124367" algn="l" defTabSz="497466" rtl="0" eaLnBrk="1" latinLnBrk="0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1523" kern="1200">
          <a:solidFill>
            <a:schemeClr val="tx1"/>
          </a:solidFill>
          <a:latin typeface="+mn-lt"/>
          <a:ea typeface="+mn-ea"/>
          <a:cs typeface="+mn-cs"/>
        </a:defRPr>
      </a:lvl1pPr>
      <a:lvl2pPr marL="373100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1306" kern="1200">
          <a:solidFill>
            <a:schemeClr val="tx1"/>
          </a:solidFill>
          <a:latin typeface="+mn-lt"/>
          <a:ea typeface="+mn-ea"/>
          <a:cs typeface="+mn-cs"/>
        </a:defRPr>
      </a:lvl2pPr>
      <a:lvl3pPr marL="621832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1089" kern="1200">
          <a:solidFill>
            <a:schemeClr val="tx1"/>
          </a:solidFill>
          <a:latin typeface="+mn-lt"/>
          <a:ea typeface="+mn-ea"/>
          <a:cs typeface="+mn-cs"/>
        </a:defRPr>
      </a:lvl3pPr>
      <a:lvl4pPr marL="870565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4pPr>
      <a:lvl5pPr marL="1119299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5pPr>
      <a:lvl6pPr marL="1368031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6pPr>
      <a:lvl7pPr marL="1616764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7pPr>
      <a:lvl8pPr marL="1865496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8pPr>
      <a:lvl9pPr marL="2114230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1pPr>
      <a:lvl2pPr marL="248732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2pPr>
      <a:lvl3pPr marL="497466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3pPr>
      <a:lvl4pPr marL="746198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4pPr>
      <a:lvl5pPr marL="994932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5pPr>
      <a:lvl6pPr marL="1243664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6pPr>
      <a:lvl7pPr marL="1492398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7pPr>
      <a:lvl8pPr marL="1741130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8pPr>
      <a:lvl9pPr marL="1989862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6B77DB-58AD-4742-9A18-FA86F5F94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796"/>
            <a:ext cx="12192000" cy="685240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FE9770-3289-4790-B7DF-A5C326D0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15" y="163293"/>
            <a:ext cx="10974332" cy="114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F549FF-6835-4A28-9969-B77760A581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170" y="5911197"/>
            <a:ext cx="969399" cy="6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277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hdr="0" ftr="0" dt="0"/>
  <p:txStyles>
    <p:titleStyle>
      <a:lvl1pPr algn="l" defTabSz="497466" rtl="0" eaLnBrk="1" latinLnBrk="0" hangingPunct="1">
        <a:lnSpc>
          <a:spcPct val="90000"/>
        </a:lnSpc>
        <a:spcBef>
          <a:spcPct val="0"/>
        </a:spcBef>
        <a:buNone/>
        <a:defRPr sz="5443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124367" indent="-124367" algn="l" defTabSz="497466" rtl="0" eaLnBrk="1" latinLnBrk="0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1523" kern="1200">
          <a:solidFill>
            <a:schemeClr val="tx1"/>
          </a:solidFill>
          <a:latin typeface="+mn-lt"/>
          <a:ea typeface="+mn-ea"/>
          <a:cs typeface="+mn-cs"/>
        </a:defRPr>
      </a:lvl1pPr>
      <a:lvl2pPr marL="373100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1306" kern="1200">
          <a:solidFill>
            <a:schemeClr val="tx1"/>
          </a:solidFill>
          <a:latin typeface="+mn-lt"/>
          <a:ea typeface="+mn-ea"/>
          <a:cs typeface="+mn-cs"/>
        </a:defRPr>
      </a:lvl2pPr>
      <a:lvl3pPr marL="621832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1089" kern="1200">
          <a:solidFill>
            <a:schemeClr val="tx1"/>
          </a:solidFill>
          <a:latin typeface="+mn-lt"/>
          <a:ea typeface="+mn-ea"/>
          <a:cs typeface="+mn-cs"/>
        </a:defRPr>
      </a:lvl3pPr>
      <a:lvl4pPr marL="870565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4pPr>
      <a:lvl5pPr marL="1119299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5pPr>
      <a:lvl6pPr marL="1368031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6pPr>
      <a:lvl7pPr marL="1616764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7pPr>
      <a:lvl8pPr marL="1865496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8pPr>
      <a:lvl9pPr marL="2114230" indent="-124367" algn="l" defTabSz="497466" rtl="0" eaLnBrk="1" latinLnBrk="0" hangingPunct="1">
        <a:lnSpc>
          <a:spcPct val="90000"/>
        </a:lnSpc>
        <a:spcBef>
          <a:spcPts val="271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1pPr>
      <a:lvl2pPr marL="248732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2pPr>
      <a:lvl3pPr marL="497466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3pPr>
      <a:lvl4pPr marL="746198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4pPr>
      <a:lvl5pPr marL="994932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5pPr>
      <a:lvl6pPr marL="1243664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6pPr>
      <a:lvl7pPr marL="1492398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7pPr>
      <a:lvl8pPr marL="1741130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8pPr>
      <a:lvl9pPr marL="1989862" algn="l" defTabSz="497466" rtl="0" eaLnBrk="1" latinLnBrk="0" hangingPunct="1">
        <a:defRPr sz="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gif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tags" Target="../tags/tag8.xml"/><Relationship Id="rId7" Type="http://schemas.openxmlformats.org/officeDocument/2006/relationships/diagramLayout" Target="../diagrams/layout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diagramData" Target="../diagrams/data1.xml"/><Relationship Id="rId5" Type="http://schemas.openxmlformats.org/officeDocument/2006/relationships/notesSlide" Target="../notesSlides/notesSlide3.xml"/><Relationship Id="rId10" Type="http://schemas.microsoft.com/office/2007/relationships/diagramDrawing" Target="../diagrams/drawing1.xml"/><Relationship Id="rId4" Type="http://schemas.openxmlformats.org/officeDocument/2006/relationships/slideLayout" Target="../slideLayouts/slideLayout7.xml"/><Relationship Id="rId9" Type="http://schemas.openxmlformats.org/officeDocument/2006/relationships/diagramColors" Target="../diagrams/colors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0.gif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11.gif"/><Relationship Id="rId4" Type="http://schemas.openxmlformats.org/officeDocument/2006/relationships/notesSlide" Target="../notesSlides/notesSl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3.gif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4.gif"/><Relationship Id="rId4" Type="http://schemas.openxmlformats.org/officeDocument/2006/relationships/notesSlide" Target="../notesSlides/notesSlid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5.gif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6.gif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tags" Target="../tags/tag38.xml"/><Relationship Id="rId7" Type="http://schemas.openxmlformats.org/officeDocument/2006/relationships/diagramLayout" Target="../diagrams/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diagramData" Target="../diagrams/data2.xml"/><Relationship Id="rId5" Type="http://schemas.openxmlformats.org/officeDocument/2006/relationships/notesSlide" Target="../notesSlides/notesSlide14.xml"/><Relationship Id="rId10" Type="http://schemas.microsoft.com/office/2007/relationships/diagramDrawing" Target="../diagrams/drawing2.xml"/><Relationship Id="rId4" Type="http://schemas.openxmlformats.org/officeDocument/2006/relationships/slideLayout" Target="../slideLayouts/slideLayout5.xml"/><Relationship Id="rId9" Type="http://schemas.openxmlformats.org/officeDocument/2006/relationships/diagramColors" Target="../diagrams/colors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18.gif"/><Relationship Id="rId4" Type="http://schemas.openxmlformats.org/officeDocument/2006/relationships/notesSlide" Target="../notesSlides/notesSlide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image" Target="../media/image19.gif"/><Relationship Id="rId4" Type="http://schemas.openxmlformats.org/officeDocument/2006/relationships/notesSlide" Target="../notesSlides/notesSlide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20.gif"/><Relationship Id="rId4" Type="http://schemas.openxmlformats.org/officeDocument/2006/relationships/notesSlide" Target="../notesSlides/notesSlide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22.gif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notesSlide" Target="../notesSlides/notesSlide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image" Target="../media/image23.gif"/><Relationship Id="rId4" Type="http://schemas.openxmlformats.org/officeDocument/2006/relationships/notesSlide" Target="../notesSlides/notesSlide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image" Target="../media/image24.gif"/><Relationship Id="rId4" Type="http://schemas.openxmlformats.org/officeDocument/2006/relationships/notesSlide" Target="../notesSlides/notesSlide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25.gif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6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notesSlide" Target="../notesSlides/notesSlide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notesSlide" Target="../notesSlides/notesSlide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4" Type="http://schemas.openxmlformats.org/officeDocument/2006/relationships/notesSlide" Target="../notesSlides/notesSlide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4" Type="http://schemas.openxmlformats.org/officeDocument/2006/relationships/notesSlide" Target="../notesSlides/notesSlide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4" Type="http://schemas.openxmlformats.org/officeDocument/2006/relationships/notesSlide" Target="../notesSlides/notesSlide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notesSlide" Target="../notesSlides/notesSlide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14728" y="1985173"/>
            <a:ext cx="4889984" cy="971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714" dirty="0">
                <a:solidFill>
                  <a:schemeClr val="bg1"/>
                </a:solidFill>
                <a:latin typeface="Impact" panose="020B0806030902050204" pitchFamily="34" charset="0"/>
                <a:cs typeface="宋体" pitchFamily="2" charset="-122"/>
              </a:rPr>
              <a:t>Week 1 </a:t>
            </a:r>
            <a:endParaRPr lang="zh-CN" altLang="en-US" sz="5714" b="1" dirty="0">
              <a:solidFill>
                <a:schemeClr val="bg1"/>
              </a:solidFill>
              <a:latin typeface="Impact" panose="020B0806030902050204" pitchFamily="34" charset="0"/>
              <a:ea typeface="微软雅黑" pitchFamily="34" charset="-122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756B17-A3D7-C167-9760-B291EF8693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1640" y="5301208"/>
            <a:ext cx="10827649" cy="971676"/>
          </a:xfrm>
        </p:spPr>
        <p:txBody>
          <a:bodyPr/>
          <a:lstStyle/>
          <a:p>
            <a:pPr algn="ctr"/>
            <a:r>
              <a:rPr lang="en-US" sz="6000" dirty="0"/>
              <a:t>WEEK 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FDF73E-82A9-4EB6-74AE-0FBEBDD5FE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000" y="2493569"/>
            <a:ext cx="10974332" cy="2523947"/>
          </a:xfrm>
        </p:spPr>
        <p:txBody>
          <a:bodyPr/>
          <a:lstStyle/>
          <a:p>
            <a:pPr algn="ctr"/>
            <a:r>
              <a:rPr lang="en-AU" sz="5400" b="1" dirty="0">
                <a:solidFill>
                  <a:srgbClr val="7030A0"/>
                </a:solidFill>
                <a:latin typeface="Dodger"/>
              </a:rPr>
              <a:t>Introduction to the web:</a:t>
            </a:r>
          </a:p>
          <a:p>
            <a:pPr algn="ctr"/>
            <a:r>
              <a:rPr lang="en-US" sz="5400" b="1" dirty="0">
                <a:solidFill>
                  <a:srgbClr val="7030A0"/>
                </a:solidFill>
                <a:latin typeface="Dodger"/>
              </a:rPr>
              <a:t>The Environment and the Tools</a:t>
            </a:r>
            <a:endParaRPr lang="en-AU" sz="4400" b="1" dirty="0">
              <a:solidFill>
                <a:srgbClr val="7030A0"/>
              </a:solidFill>
              <a:latin typeface="Dodge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130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080B1-2353-7517-C4C8-79B65DB4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ea typeface="+mj-ea"/>
              </a:rPr>
              <a:t>Week 1 Lecture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sz="half" idx="1"/>
          </p:nvPr>
        </p:nvSpPr>
        <p:spPr>
          <a:xfrm>
            <a:off x="548715" y="1632929"/>
            <a:ext cx="10803869" cy="4028320"/>
          </a:xfrm>
          <a:solidFill>
            <a:srgbClr val="FFFFFF">
              <a:alpha val="50980"/>
            </a:srgbClr>
          </a:solidFill>
        </p:spPr>
        <p:txBody>
          <a:bodyPr/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AU" sz="3600" dirty="0">
                <a:solidFill>
                  <a:schemeClr val="tx1"/>
                </a:solidFill>
              </a:rPr>
              <a:t>Introduction to ICT114 Web Development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</a:rPr>
              <a:t>Describe the Internet, the World Wide Web and ways to access it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</a:rPr>
              <a:t>Categorize types of websites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</a:rPr>
              <a:t>Identify web design tools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</a:rPr>
              <a:t>Explain web design principles, roles, and required skills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3600" dirty="0"/>
              <a:t>Ethics in web design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10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B1E8-6089-0F4D-3C2B-708A5328F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ea typeface="+mj-ea"/>
              </a:rPr>
              <a:t>ICT114 Web Development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sz="half" idx="1"/>
          </p:nvPr>
        </p:nvSpPr>
        <p:spPr>
          <a:xfrm>
            <a:off x="548715" y="1632928"/>
            <a:ext cx="10803869" cy="4676391"/>
          </a:xfrm>
          <a:solidFill>
            <a:srgbClr val="FFFFFF">
              <a:alpha val="50980"/>
            </a:srgbClr>
          </a:solidFill>
        </p:spPr>
        <p:txBody>
          <a:bodyPr/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AU" sz="3200" dirty="0"/>
              <a:t>Focus on practical applications of theory.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AU" sz="3200" dirty="0">
                <a:solidFill>
                  <a:schemeClr val="tx1"/>
                </a:solidFill>
              </a:rPr>
              <a:t>Interactive learning, short lecture segments interspersed with hands on work/experimentation and class discussions.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AU" sz="3200" dirty="0">
                <a:solidFill>
                  <a:schemeClr val="tx1"/>
                </a:solidFill>
              </a:rPr>
              <a:t>Class participation (discussions, tutorial activities, …) is assessed.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AU" sz="3200" dirty="0">
                <a:solidFill>
                  <a:schemeClr val="tx1"/>
                </a:solidFill>
              </a:rPr>
              <a:t>No prescribed textbook due a constantly changing landscape.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AU" sz="3200" dirty="0">
                <a:solidFill>
                  <a:schemeClr val="tx1"/>
                </a:solidFill>
              </a:rPr>
              <a:t>Class attendance is very important – if you do not attend a class you will have to catch up on your own, which is a lot more work! </a:t>
            </a:r>
          </a:p>
        </p:txBody>
      </p:sp>
    </p:spTree>
    <p:extLst>
      <p:ext uri="{BB962C8B-B14F-4D97-AF65-F5344CB8AC3E}">
        <p14:creationId xmlns:p14="http://schemas.microsoft.com/office/powerpoint/2010/main" val="3521356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5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The Internet and the World Wide Web (WWW.. Net.. web)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548715" y="1632929"/>
            <a:ext cx="10803869" cy="4100328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indent="-342900"/>
            <a:r>
              <a:rPr lang="en-US" sz="2400" dirty="0">
                <a:solidFill>
                  <a:schemeClr val="tx1"/>
                </a:solidFill>
              </a:rPr>
              <a:t>A computer network consists of connected computers, mobile devices, printers, and data storage devices that share computing resources and data</a:t>
            </a:r>
          </a:p>
          <a:p>
            <a:pPr marL="342900" indent="-342900"/>
            <a:endParaRPr lang="en-US" sz="2400" dirty="0">
              <a:solidFill>
                <a:schemeClr val="tx1"/>
              </a:solidFill>
            </a:endParaRPr>
          </a:p>
          <a:p>
            <a:pPr marL="342900" indent="-342900"/>
            <a:r>
              <a:rPr lang="en-US" sz="2400" dirty="0">
                <a:solidFill>
                  <a:schemeClr val="tx1"/>
                </a:solidFill>
              </a:rPr>
              <a:t>The Internet is a worldwide public network that connects millions of these private networks</a:t>
            </a:r>
          </a:p>
        </p:txBody>
      </p:sp>
      <p:pic>
        <p:nvPicPr>
          <p:cNvPr id="5" name="Content Placeholder 4" descr="Computers and devices connected to the Internet">
            <a:extLst>
              <a:ext uri="{FF2B5EF4-FFF2-40B4-BE49-F238E27FC236}">
                <a16:creationId xmlns:a16="http://schemas.microsoft.com/office/drawing/2014/main" id="{1A9B31DF-8FBF-4847-BC7F-6C75C1E7F25D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744" y="3209751"/>
            <a:ext cx="5181600" cy="3603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6588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The Internet and the World Wide Web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72BED-8B85-440F-2660-FE6A4C610847}"/>
              </a:ext>
            </a:extLst>
          </p:cNvPr>
          <p:cNvSpPr txBox="1"/>
          <p:nvPr/>
        </p:nvSpPr>
        <p:spPr>
          <a:xfrm>
            <a:off x="695400" y="1760617"/>
            <a:ext cx="105851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The World Wide Web (WWW or web) is a part of the Internet that consists of connected computers called web servers that store electronic documents called webpages.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A webpage is a specially formatted document that can contain images, text, interactive elements, and hyperlinks, which are links to other pages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A website is a group of related webpages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1593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World Wide Web (WWW or Web)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4294967295"/>
          </p:nvPr>
        </p:nvSpPr>
        <p:spPr>
          <a:xfrm>
            <a:off x="551384" y="1813967"/>
            <a:ext cx="5181600" cy="4351337"/>
          </a:xfrm>
        </p:spPr>
        <p:txBody>
          <a:bodyPr>
            <a:normAutofit/>
          </a:bodyPr>
          <a:lstStyle/>
          <a:p>
            <a:r>
              <a:rPr lang="en-US" sz="2000" dirty="0"/>
              <a:t>A website’s primary page is its home page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507D9-ACA4-4183-BD41-4ABEDAB80E0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672063" y="1813967"/>
            <a:ext cx="5519937" cy="4351337"/>
          </a:xfrm>
        </p:spPr>
        <p:txBody>
          <a:bodyPr/>
          <a:lstStyle/>
          <a:p>
            <a:r>
              <a:rPr lang="en-US" sz="2000" dirty="0"/>
              <a:t>Browsing or surfing the web is exploring the web by moving from one webpage to another</a:t>
            </a:r>
          </a:p>
          <a:p>
            <a:endParaRPr lang="en-AU" dirty="0"/>
          </a:p>
        </p:txBody>
      </p:sp>
      <p:pic>
        <p:nvPicPr>
          <p:cNvPr id="6" name="Picture 5" descr="Jive website home page">
            <a:extLst>
              <a:ext uri="{FF2B5EF4-FFF2-40B4-BE49-F238E27FC236}">
                <a16:creationId xmlns:a16="http://schemas.microsoft.com/office/drawing/2014/main" id="{ECD62C70-A6EC-4F02-A85D-01A47D6BA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0" y="2292301"/>
            <a:ext cx="5055860" cy="3080915"/>
          </a:xfrm>
          <a:prstGeom prst="rect">
            <a:avLst/>
          </a:prstGeom>
        </p:spPr>
      </p:pic>
      <p:pic>
        <p:nvPicPr>
          <p:cNvPr id="7" name="Picture 6" descr="Link to article, plus the article displayed as a webpage">
            <a:extLst>
              <a:ext uri="{FF2B5EF4-FFF2-40B4-BE49-F238E27FC236}">
                <a16:creationId xmlns:a16="http://schemas.microsoft.com/office/drawing/2014/main" id="{737511A6-A991-4EC6-892B-1A16C547002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88088" y="2636912"/>
            <a:ext cx="5197260" cy="236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56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Influence on Society</a:t>
            </a:r>
          </a:p>
        </p:txBody>
      </p:sp>
      <p:graphicFrame>
        <p:nvGraphicFramePr>
          <p:cNvPr id="9" name="Content Placeholder 8" descr="Four boxes with the text: Communication, Education, Entertainment and News, and E-commerce"/>
          <p:cNvGraphicFramePr>
            <a:graphicFrameLocks noGrp="1"/>
          </p:cNvGraphicFramePr>
          <p:nvPr>
            <p:ph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64824273"/>
              </p:ext>
            </p:extLst>
          </p:nvPr>
        </p:nvGraphicFramePr>
        <p:xfrm>
          <a:off x="1631504" y="1554757"/>
          <a:ext cx="8991600" cy="4754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5208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Communication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Bookmark / favorite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Shortcut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Internet Relay Chat (IRC)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Web chat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Instant messaging /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IM chat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Group messaging apps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Collaborative workspaces / virtual meeting spaces</a:t>
            </a:r>
          </a:p>
          <a:p>
            <a:pPr marL="342900" indent="-342900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13"/>
          </p:nvPr>
        </p:nvSpPr>
        <p:spPr>
          <a:xfrm>
            <a:off x="6218787" y="1632927"/>
            <a:ext cx="5205805" cy="4100329"/>
          </a:xfrm>
          <a:prstGeom prst="rect">
            <a:avLst/>
          </a:prstGeo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Blog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Video sharing /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Video blogging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Social networking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Social bookmarking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Massively multiplayer online games (MMOGs)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3D virtual worlds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Wiki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9015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Education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548715" y="1632929"/>
            <a:ext cx="10875877" cy="4100328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Take an online course from an academic institution to earn a degree or certificate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Watch a video or read a blog post by an amateur expert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Several universities and academic institutions publish some or all educational materials online</a:t>
            </a:r>
          </a:p>
        </p:txBody>
      </p:sp>
      <p:sp>
        <p:nvSpPr>
          <p:cNvPr id="9" name="Rectangle: Rounded Corners 8" descr="MIT OpenCourseWare"/>
          <p:cNvSpPr/>
          <p:nvPr/>
        </p:nvSpPr>
        <p:spPr>
          <a:xfrm>
            <a:off x="6213665" y="4114800"/>
            <a:ext cx="3689711" cy="1981200"/>
          </a:xfrm>
          <a:prstGeom prst="roundRect">
            <a:avLst>
              <a:gd name="adj" fmla="val 10000"/>
            </a:avLst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1000" b="-11000"/>
            </a:stretch>
          </a:blipFill>
          <a:scene3d>
            <a:camera prst="orthographicFront"/>
            <a:lightRig rig="flat" dir="t"/>
          </a:scene3d>
          <a:sp3d z="127000" prstMaterial="plastic">
            <a:bevelT w="88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5">
              <a:tint val="50000"/>
              <a:hueOff val="-92634"/>
              <a:satOff val="-5714"/>
              <a:lumOff val="-4584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6800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Entertainment and News</a:t>
            </a:r>
          </a:p>
        </p:txBody>
      </p:sp>
      <p:sp>
        <p:nvSpPr>
          <p:cNvPr id="9" name="Rectangle: Rounded Corners 8" descr="IMDB and NBCNews websites"/>
          <p:cNvSpPr/>
          <p:nvPr/>
        </p:nvSpPr>
        <p:spPr>
          <a:xfrm>
            <a:off x="5334000" y="4267200"/>
            <a:ext cx="3581400" cy="1981200"/>
          </a:xfrm>
          <a:prstGeom prst="roundRect">
            <a:avLst>
              <a:gd name="adj" fmla="val 10000"/>
            </a:avLst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9000" r="-29000"/>
            </a:stretch>
          </a:blipFill>
          <a:scene3d>
            <a:camera prst="orthographicFront"/>
            <a:lightRig rig="flat" dir="t"/>
          </a:scene3d>
          <a:sp3d z="127000" prstMaterial="plastic">
            <a:bevelT w="88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5">
              <a:tint val="50000"/>
              <a:hueOff val="-185268"/>
              <a:satOff val="-11429"/>
              <a:lumOff val="-9168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19F5F-3948-8FB6-709F-6E75F3C2F174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549275" y="1633538"/>
            <a:ext cx="10974388" cy="508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Popular entertainment sites include music, videos, sports, games, and more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News websites allow you to read news stories, and some even allow you to watch video clips</a:t>
            </a:r>
          </a:p>
          <a:p>
            <a:pPr marL="1347551" lvl="2" indent="-571500">
              <a:buFont typeface="Arial" panose="020B0604020202020204" pitchFamily="34" charset="0"/>
              <a:buChar char="•"/>
            </a:pPr>
            <a:r>
              <a:rPr lang="en-US" sz="2400" dirty="0"/>
              <a:t>Some provide interactive elements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2703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E-Commerce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548715" y="1632929"/>
            <a:ext cx="10974332" cy="4028320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Electronic commerce or   e-commerce encompasses a wide variety of online business activities, including consumer shopping and investing and the exchange of business data and transactions within a company or among multiple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1616280" y="3645024"/>
            <a:ext cx="4419600" cy="1711325"/>
          </a:xfrm>
          <a:prstGeom prst="rect">
            <a:avLst/>
          </a:prstGeo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US" sz="2000" dirty="0">
                <a:solidFill>
                  <a:schemeClr val="tx1"/>
                </a:solidFill>
              </a:rPr>
              <a:t>Business-to-consumer (B2C)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Business-to-business (B2B)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Consumer-to-consumer (C2C)</a:t>
            </a:r>
          </a:p>
          <a:p>
            <a:pPr marL="342900" indent="-342900"/>
            <a:endParaRPr lang="en-US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7833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Ways to Access the Internet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548715" y="1632929"/>
            <a:ext cx="10974332" cy="4100328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The speed at which data travels from one device to another is the transfer rate</a:t>
            </a:r>
          </a:p>
          <a:p>
            <a:pPr marL="954666" lvl="2" indent="-457200">
              <a:buFont typeface="Arial" panose="020B0604020202020204" pitchFamily="34" charset="0"/>
              <a:buChar char="•"/>
            </a:pPr>
            <a:r>
              <a:rPr lang="en-US" sz="2983" dirty="0">
                <a:solidFill>
                  <a:schemeClr val="tx1"/>
                </a:solidFill>
              </a:rPr>
              <a:t>Bits per second (bps)</a:t>
            </a:r>
          </a:p>
          <a:p>
            <a:pPr marL="954666" lvl="2" indent="-457200">
              <a:buFont typeface="Arial" panose="020B0604020202020204" pitchFamily="34" charset="0"/>
              <a:buChar char="•"/>
            </a:pPr>
            <a:r>
              <a:rPr lang="en-US" sz="2983" dirty="0">
                <a:solidFill>
                  <a:schemeClr val="tx1"/>
                </a:solidFill>
              </a:rPr>
              <a:t>From thousands (kbps) to millions (</a:t>
            </a:r>
            <a:r>
              <a:rPr lang="en-US" sz="2983" dirty="0" err="1">
                <a:solidFill>
                  <a:schemeClr val="tx1"/>
                </a:solidFill>
              </a:rPr>
              <a:t>Mbps</a:t>
            </a:r>
            <a:r>
              <a:rPr lang="en-US" sz="2983" dirty="0">
                <a:solidFill>
                  <a:schemeClr val="tx1"/>
                </a:solidFill>
              </a:rPr>
              <a:t>)</a:t>
            </a:r>
          </a:p>
          <a:p>
            <a:pPr marL="954666" lvl="2" indent="-457200">
              <a:buFont typeface="Arial" panose="020B0604020202020204" pitchFamily="34" charset="0"/>
              <a:buChar char="•"/>
            </a:pPr>
            <a:r>
              <a:rPr lang="en-US" sz="2983" dirty="0">
                <a:solidFill>
                  <a:schemeClr val="tx1"/>
                </a:solidFill>
              </a:rPr>
              <a:t>Higher-quality connections needed for streaming media</a:t>
            </a:r>
          </a:p>
        </p:txBody>
      </p:sp>
    </p:spTree>
    <p:extLst>
      <p:ext uri="{BB962C8B-B14F-4D97-AF65-F5344CB8AC3E}">
        <p14:creationId xmlns:p14="http://schemas.microsoft.com/office/powerpoint/2010/main" val="175361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Broadband Connections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4294967295"/>
            <p:custDataLst>
              <p:tags r:id="rId3"/>
            </p:custDataLst>
          </p:nvPr>
        </p:nvSpPr>
        <p:spPr>
          <a:xfrm>
            <a:off x="1127448" y="1556792"/>
            <a:ext cx="10515600" cy="4351337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Broadband defines high-speed data transmissions over a communications channel that can transmit multiple signals at one time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Digital subscriber line (DSL)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Cable television (CATV) line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FTTP: Fiber to the Premises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Satellite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762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Connecting to the Internet and the Web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D8FD42-4847-E97C-2B87-E58433A5506B}"/>
              </a:ext>
            </a:extLst>
          </p:cNvPr>
          <p:cNvSpPr txBox="1"/>
          <p:nvPr/>
        </p:nvSpPr>
        <p:spPr>
          <a:xfrm>
            <a:off x="376034" y="1580713"/>
            <a:ext cx="11552613" cy="444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Mobile wireless technologies: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Radio signals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Wi-Fi (wireless fidelity)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Cellular telephones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Wireless providers’ broadband networks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Generations classify standards for mobile communications: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3G: speech and data services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4G: gaming apps and streaming media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174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Internet Service Provider (ISP)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Has permanent Internet connection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Provides temporary connections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Regional ISP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National ISP</a:t>
            </a:r>
          </a:p>
          <a:p>
            <a:pPr marL="954666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Telstra , Optus, TPG</a:t>
            </a:r>
          </a:p>
        </p:txBody>
      </p:sp>
      <p:pic>
        <p:nvPicPr>
          <p:cNvPr id="3" name="Picture 2" descr="Verizon ISP websit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495" y="1632927"/>
            <a:ext cx="5357789" cy="40910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0156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Web Browsers</a:t>
            </a:r>
          </a:p>
        </p:txBody>
      </p:sp>
      <p:pic>
        <p:nvPicPr>
          <p:cNvPr id="4" name="Picture 3" descr="Google Chrome and Microsoft Edge web browsers">
            <a:extLst>
              <a:ext uri="{FF2B5EF4-FFF2-40B4-BE49-F238E27FC236}">
                <a16:creationId xmlns:a16="http://schemas.microsoft.com/office/drawing/2014/main" id="{2A1E1753-927E-482A-9857-1E6D0043B9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92" y="3140968"/>
            <a:ext cx="6596207" cy="26642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F6D199-CAB6-EDF4-1F2A-93AF4FC3799B}"/>
              </a:ext>
            </a:extLst>
          </p:cNvPr>
          <p:cNvSpPr txBox="1"/>
          <p:nvPr/>
        </p:nvSpPr>
        <p:spPr>
          <a:xfrm>
            <a:off x="407368" y="1746131"/>
            <a:ext cx="11115679" cy="402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</a:rPr>
              <a:t>A program or app that requests, downloads, and displays webpages stored on a web server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Examples</a:t>
            </a:r>
            <a:endParaRPr lang="en-US" sz="3600" dirty="0">
              <a:solidFill>
                <a:schemeClr val="tx1"/>
              </a:solidFill>
            </a:endParaRP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Google Chrome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Microsoft Edge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Mozilla Firefox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2798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Web Browsers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548715" y="1632929"/>
            <a:ext cx="10803869" cy="4222594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indent="-342900"/>
            <a:r>
              <a:rPr lang="en-US" sz="3200" dirty="0">
                <a:solidFill>
                  <a:schemeClr val="tx1"/>
                </a:solidFill>
              </a:rPr>
              <a:t>Responsive web design (RWD) is used to create websites that adjust to the device and screen size displaying the webpage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 descr="Slate website on laptop and smartphone to show RW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0" y="2924944"/>
            <a:ext cx="7190046" cy="33843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0647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Web Browsers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548716" y="1632929"/>
            <a:ext cx="10810152" cy="4100328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Access webpages by entering its Uniform Resource Locator (URL) into the browser’s Address bar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URL is comprised of the protocol, domain name and top-level domain designation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Hypertext Transfer Protocol (HTTP)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Domain name can be an IP address or a text version of this address</a:t>
            </a:r>
          </a:p>
        </p:txBody>
      </p:sp>
      <p:pic>
        <p:nvPicPr>
          <p:cNvPr id="4" name="Picture 3" descr="http://www.boston.com/news. http: is the protocol. www.boston.com is the domain name. .com is the top-level domain. news is the folder name.">
            <a:extLst>
              <a:ext uri="{FF2B5EF4-FFF2-40B4-BE49-F238E27FC236}">
                <a16:creationId xmlns:a16="http://schemas.microsoft.com/office/drawing/2014/main" id="{F0CB0DDC-79E5-4412-96BE-2897A992CBF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16"/>
          <a:stretch/>
        </p:blipFill>
        <p:spPr>
          <a:xfrm>
            <a:off x="833133" y="3531095"/>
            <a:ext cx="9891499" cy="20581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86069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Web Browsers</a:t>
            </a:r>
          </a:p>
        </p:txBody>
      </p:sp>
      <p:pic>
        <p:nvPicPr>
          <p:cNvPr id="12" name="Content Placeholder 11" descr="A table of domain type">
            <a:extLst>
              <a:ext uri="{FF2B5EF4-FFF2-40B4-BE49-F238E27FC236}">
                <a16:creationId xmlns:a16="http://schemas.microsoft.com/office/drawing/2014/main" id="{1545CD16-85FE-0BCF-3F58-D009B9FBF9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>
            <a:duotone>
              <a:prstClr val="black"/>
              <a:srgbClr val="44546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351585" y="2019793"/>
            <a:ext cx="7052442" cy="431542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8702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Types of Websites</a:t>
            </a:r>
          </a:p>
        </p:txBody>
      </p:sp>
      <p:graphicFrame>
        <p:nvGraphicFramePr>
          <p:cNvPr id="11" name="Content Placeholder 10" descr="Three boxes with the texts: Personal, Organization/Topical, Commercial"/>
          <p:cNvGraphicFramePr>
            <a:graphicFrameLocks noGrp="1"/>
          </p:cNvGraphicFramePr>
          <p:nvPr>
            <p:ph sz="half" idx="1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17980993"/>
              </p:ext>
            </p:extLst>
          </p:nvPr>
        </p:nvGraphicFramePr>
        <p:xfrm>
          <a:off x="549275" y="1633538"/>
          <a:ext cx="10974388" cy="5087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45278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Personal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548715" y="1632929"/>
            <a:ext cx="10587845" cy="4028320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Limited developmental resources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Content management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Uses:</a:t>
            </a:r>
          </a:p>
          <a:p>
            <a:pPr marL="954666" lvl="2" indent="-457200">
              <a:buFont typeface="Arial" panose="020B0604020202020204" pitchFamily="34" charset="0"/>
              <a:buChar char="•"/>
            </a:pPr>
            <a:r>
              <a:rPr lang="en-US" sz="2583" dirty="0">
                <a:solidFill>
                  <a:schemeClr val="tx1"/>
                </a:solidFill>
              </a:rPr>
              <a:t>Promote employment credentials</a:t>
            </a:r>
          </a:p>
          <a:p>
            <a:pPr marL="954666" lvl="2" indent="-457200">
              <a:buFont typeface="Arial" panose="020B0604020202020204" pitchFamily="34" charset="0"/>
              <a:buChar char="•"/>
            </a:pPr>
            <a:r>
              <a:rPr lang="en-US" sz="2583" dirty="0">
                <a:solidFill>
                  <a:schemeClr val="tx1"/>
                </a:solidFill>
              </a:rPr>
              <a:t>Share news and photos with friends and family</a:t>
            </a:r>
          </a:p>
          <a:p>
            <a:pPr marL="954666" lvl="2" indent="-457200">
              <a:buFont typeface="Arial" panose="020B0604020202020204" pitchFamily="34" charset="0"/>
              <a:buChar char="•"/>
            </a:pPr>
            <a:r>
              <a:rPr lang="en-US" sz="2583" dirty="0">
                <a:solidFill>
                  <a:schemeClr val="tx1"/>
                </a:solidFill>
              </a:rPr>
              <a:t>Share common interests or hobbies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Do not post information that can be misused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1010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Organizational / Topical</a:t>
            </a:r>
          </a:p>
        </p:txBody>
      </p:sp>
      <p:pic>
        <p:nvPicPr>
          <p:cNvPr id="7" name="Content Placeholder 3" descr="World Health Organization (WHO) website">
            <a:extLst>
              <a:ext uri="{FF2B5EF4-FFF2-40B4-BE49-F238E27FC236}">
                <a16:creationId xmlns:a16="http://schemas.microsoft.com/office/drawing/2014/main" id="{C2E624E6-69DB-4644-8845-F3F9C034F6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1916832"/>
            <a:ext cx="4176464" cy="35283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1D0C97-BC9E-638C-7B0E-2B6941AEFBA4}"/>
              </a:ext>
            </a:extLst>
          </p:cNvPr>
          <p:cNvSpPr txBox="1"/>
          <p:nvPr/>
        </p:nvSpPr>
        <p:spPr>
          <a:xfrm>
            <a:off x="407368" y="1916832"/>
            <a:ext cx="6768752" cy="2789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Organizational websites contain information on particular organizations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Topical websites focus on a specific subject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4354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Commercial</a:t>
            </a:r>
          </a:p>
        </p:txBody>
      </p:sp>
      <p:pic>
        <p:nvPicPr>
          <p:cNvPr id="8" name="Content Placeholder 6" descr="SAP and Constructure websites">
            <a:extLst>
              <a:ext uri="{FF2B5EF4-FFF2-40B4-BE49-F238E27FC236}">
                <a16:creationId xmlns:a16="http://schemas.microsoft.com/office/drawing/2014/main" id="{F45B12EA-698C-421D-8182-75230F2587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1668347"/>
            <a:ext cx="3812518" cy="28407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66AAED-F0F6-A5F4-ECCC-45A8D84FE8F4}"/>
              </a:ext>
            </a:extLst>
          </p:cNvPr>
          <p:cNvSpPr txBox="1"/>
          <p:nvPr/>
        </p:nvSpPr>
        <p:spPr>
          <a:xfrm>
            <a:off x="119336" y="1652075"/>
            <a:ext cx="7560840" cy="253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Used to promote and sell a product or service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More sophisticated commercial websites generally produce greater revenue</a:t>
            </a:r>
          </a:p>
          <a:p>
            <a:pPr marL="342900" indent="-342900"/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4164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Portals</a:t>
            </a:r>
          </a:p>
        </p:txBody>
      </p:sp>
      <p:pic>
        <p:nvPicPr>
          <p:cNvPr id="5" name="Picture 4" descr="USA.gov portal website">
            <a:extLst>
              <a:ext uri="{FF2B5EF4-FFF2-40B4-BE49-F238E27FC236}">
                <a16:creationId xmlns:a16="http://schemas.microsoft.com/office/drawing/2014/main" id="{3326FB8F-A809-42F4-A08C-0EB3636197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2276872"/>
            <a:ext cx="5760640" cy="30963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A87691-A814-516D-9A28-A6B34ADAD118}"/>
              </a:ext>
            </a:extLst>
          </p:cNvPr>
          <p:cNvSpPr txBox="1"/>
          <p:nvPr/>
        </p:nvSpPr>
        <p:spPr>
          <a:xfrm>
            <a:off x="263352" y="1556792"/>
            <a:ext cx="10513168" cy="3282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sz="3200" dirty="0"/>
              <a:t>A portal is a website that offers a starting point for accessing information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General consumer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Personal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Vertical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Corporate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7506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Other Types of Websites</a:t>
            </a:r>
          </a:p>
        </p:txBody>
      </p:sp>
      <p:pic>
        <p:nvPicPr>
          <p:cNvPr id="5" name="Content Placeholder 4" descr="Other types of websites: Travel, mapping, financial, career, and web publishing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1781200"/>
            <a:ext cx="9753600" cy="3952875"/>
          </a:xfrm>
        </p:spPr>
      </p:pic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BA29C369-1EC9-9BE7-515C-7B91880CA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912" y="1781200"/>
            <a:ext cx="8297720" cy="3362846"/>
          </a:xfrm>
        </p:spPr>
      </p:pic>
    </p:spTree>
    <p:extLst>
      <p:ext uri="{BB962C8B-B14F-4D97-AF65-F5344CB8AC3E}">
        <p14:creationId xmlns:p14="http://schemas.microsoft.com/office/powerpoint/2010/main" val="2255804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Web Design Tools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548715" y="1632928"/>
            <a:ext cx="11163909" cy="3884304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Before adding new technology, ask: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Does it meet currently accepted standards?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What can it do to further my purpose?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How will it affect my website’s visual appeal, accessibility, and usability?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What impact will it have on security and other website elements?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What are the direct and indirect costs?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How soon will I see a return on investing?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687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Markup Languages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548715" y="1632929"/>
            <a:ext cx="10227805" cy="4983828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indent="-342900"/>
            <a:r>
              <a:rPr lang="en-US" sz="2600" dirty="0">
                <a:solidFill>
                  <a:schemeClr val="tx1"/>
                </a:solidFill>
              </a:rPr>
              <a:t>Hypertext Markup Language (HTML)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Uses tags to define format and organization of webpage elements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HTML5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W3C sets standards</a:t>
            </a:r>
          </a:p>
          <a:p>
            <a:pPr marL="342900" indent="-342900"/>
            <a:r>
              <a:rPr lang="en-US" sz="2600" dirty="0">
                <a:solidFill>
                  <a:schemeClr val="tx1"/>
                </a:solidFill>
              </a:rPr>
              <a:t>Extensible Markup Language (XML) 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Facilitates sharing of information</a:t>
            </a:r>
          </a:p>
          <a:p>
            <a:pPr marL="342900" indent="-342900"/>
            <a:endParaRPr lang="en-US" sz="2600" dirty="0">
              <a:solidFill>
                <a:schemeClr val="tx1"/>
              </a:solidFill>
            </a:endParaRPr>
          </a:p>
        </p:txBody>
      </p:sp>
      <p:pic>
        <p:nvPicPr>
          <p:cNvPr id="5" name="Picture 4" descr="Bisousweet webpage">
            <a:extLst>
              <a:ext uri="{FF2B5EF4-FFF2-40B4-BE49-F238E27FC236}">
                <a16:creationId xmlns:a16="http://schemas.microsoft.com/office/drawing/2014/main" id="{D0EF85A0-1C03-4453-9B03-D09994E59C4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22"/>
          <a:stretch/>
        </p:blipFill>
        <p:spPr>
          <a:xfrm>
            <a:off x="6600056" y="2512300"/>
            <a:ext cx="2630082" cy="1564772"/>
          </a:xfrm>
          <a:prstGeom prst="rect">
            <a:avLst/>
          </a:prstGeom>
        </p:spPr>
      </p:pic>
      <p:pic>
        <p:nvPicPr>
          <p:cNvPr id="6" name="Picture 5" descr="HTML code for Bisousweet webpage">
            <a:extLst>
              <a:ext uri="{FF2B5EF4-FFF2-40B4-BE49-F238E27FC236}">
                <a16:creationId xmlns:a16="http://schemas.microsoft.com/office/drawing/2014/main" id="{E4AEA569-A8DD-4253-9AD0-4739A478DA7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20" b="37519"/>
          <a:stretch/>
        </p:blipFill>
        <p:spPr>
          <a:xfrm>
            <a:off x="4079776" y="4155023"/>
            <a:ext cx="4306142" cy="25396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6466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Cascading Style Sheets (CSS)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8EC733-A4E0-454B-24E2-5166F7E1B0C5}"/>
              </a:ext>
            </a:extLst>
          </p:cNvPr>
          <p:cNvSpPr txBox="1"/>
          <p:nvPr/>
        </p:nvSpPr>
        <p:spPr>
          <a:xfrm>
            <a:off x="335360" y="1541720"/>
            <a:ext cx="10945216" cy="3774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Standardize the presentation of the content by applying styles to such elements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Font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Margins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Positioning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Background colors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Style sheets can be attached to multiple webpages 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9483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Scripting Languages</a:t>
            </a:r>
          </a:p>
        </p:txBody>
      </p:sp>
      <p:sp>
        <p:nvSpPr>
          <p:cNvPr id="103427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548715" y="1632928"/>
            <a:ext cx="10659853" cy="4100328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Programming languages used to write short programs that run on the server or the browser</a:t>
            </a:r>
          </a:p>
          <a:p>
            <a:pPr marL="954666" lvl="2" indent="-457200">
              <a:buFont typeface="Arial" panose="020B0604020202020204" pitchFamily="34" charset="0"/>
              <a:buChar char="•"/>
            </a:pPr>
            <a:r>
              <a:rPr lang="en-US" sz="2583" dirty="0" err="1">
                <a:solidFill>
                  <a:schemeClr val="tx1"/>
                </a:solidFill>
              </a:rPr>
              <a:t>Javascript</a:t>
            </a:r>
            <a:endParaRPr lang="en-US" sz="2583" dirty="0">
              <a:solidFill>
                <a:schemeClr val="tx1"/>
              </a:solidFill>
            </a:endParaRPr>
          </a:p>
          <a:p>
            <a:pPr marL="954666" lvl="2" indent="-457200">
              <a:buFont typeface="Arial" panose="020B0604020202020204" pitchFamily="34" charset="0"/>
              <a:buChar char="•"/>
            </a:pPr>
            <a:r>
              <a:rPr lang="en-US" sz="2583" dirty="0">
                <a:solidFill>
                  <a:schemeClr val="tx1"/>
                </a:solidFill>
              </a:rPr>
              <a:t>PHP: Hypertext Preprocessor (PHP)</a:t>
            </a:r>
          </a:p>
          <a:p>
            <a:pPr marL="954666" lvl="2" indent="-457200">
              <a:buFont typeface="Arial" panose="020B0604020202020204" pitchFamily="34" charset="0"/>
              <a:buChar char="•"/>
            </a:pPr>
            <a:r>
              <a:rPr lang="en-US" sz="2583" dirty="0" err="1">
                <a:solidFill>
                  <a:schemeClr val="tx1"/>
                </a:solidFill>
              </a:rPr>
              <a:t>CoffeeScript</a:t>
            </a:r>
            <a:endParaRPr lang="en-US" sz="2583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Active content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Malware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036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Text and HTML Editors</a:t>
            </a:r>
          </a:p>
        </p:txBody>
      </p:sp>
      <p:pic>
        <p:nvPicPr>
          <p:cNvPr id="6" name="Picture 5" descr="Notepad text editor with HTML cod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3029645"/>
            <a:ext cx="3818618" cy="27036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830BD2-278E-B510-CF88-BFAAEE3D571A}"/>
              </a:ext>
            </a:extLst>
          </p:cNvPr>
          <p:cNvSpPr txBox="1"/>
          <p:nvPr/>
        </p:nvSpPr>
        <p:spPr>
          <a:xfrm>
            <a:off x="407368" y="1589485"/>
            <a:ext cx="10441160" cy="3774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sz="2800" dirty="0"/>
              <a:t>A text editor is software used to create </a:t>
            </a:r>
            <a:r>
              <a:rPr lang="fr-FR" sz="2800" dirty="0"/>
              <a:t>plain (ASCII) </a:t>
            </a:r>
            <a:r>
              <a:rPr lang="fr-FR" sz="2800" dirty="0" err="1"/>
              <a:t>text</a:t>
            </a:r>
            <a:r>
              <a:rPr lang="fr-FR" sz="2800" dirty="0"/>
              <a:t> files</a:t>
            </a:r>
          </a:p>
          <a:p>
            <a:pPr marL="342900" indent="-342900"/>
            <a:r>
              <a:rPr lang="en-US" sz="2800" dirty="0"/>
              <a:t>An HTML editor is a text editor enhanced with special features that are used to more easily insert HTML tags and their attributes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HTML-Kit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CoffeeCup</a:t>
            </a:r>
            <a:endParaRPr lang="en-US" sz="2800" dirty="0"/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BBEdit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NoteTab</a:t>
            </a:r>
            <a:endParaRPr lang="en-US" sz="2800" dirty="0"/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NotePad</a:t>
            </a:r>
            <a:r>
              <a:rPr lang="en-US" sz="2800" dirty="0"/>
              <a:t>++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0209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Web Development Tools</a:t>
            </a:r>
          </a:p>
        </p:txBody>
      </p:sp>
      <p:pic>
        <p:nvPicPr>
          <p:cNvPr id="3" name="Picture 2" descr="Adobe Dreamweaver CC web development tool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136" y="2612581"/>
            <a:ext cx="4350421" cy="24726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311EC2-83BE-5890-9C0F-F5291451E73F}"/>
              </a:ext>
            </a:extLst>
          </p:cNvPr>
          <p:cNvSpPr txBox="1"/>
          <p:nvPr/>
        </p:nvSpPr>
        <p:spPr>
          <a:xfrm>
            <a:off x="263352" y="1858990"/>
            <a:ext cx="1140720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Packages that automatically generate HTML code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WYSIWYG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IDEs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Challenges to using web development tools: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Might look different than what you see in browser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Unnecessary codes create large, slow-loading webpages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Might not use latest markup language standards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0032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Web Templates and Content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8955" y="1606155"/>
            <a:ext cx="10179573" cy="4249944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 Web template or theme is a predesigned model that can be customized for fast website or webpage creation or updating</a:t>
            </a:r>
          </a:p>
        </p:txBody>
      </p:sp>
      <p:pic>
        <p:nvPicPr>
          <p:cNvPr id="6" name="Picture 5" descr="TemplateMonster webpag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992" y="2830480"/>
            <a:ext cx="4681283" cy="326409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DDC565-18E2-442B-BFEF-00BE61F6F42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668955" y="3068960"/>
            <a:ext cx="5211022" cy="2787139"/>
          </a:xfrm>
          <a:prstGeom prst="rect">
            <a:avLst/>
          </a:prstGeo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dirty="0"/>
              <a:t>A content management system (CMS) facilitates the management of web content development</a:t>
            </a:r>
          </a:p>
          <a:p>
            <a:pPr lvl="2"/>
            <a:r>
              <a:rPr lang="en-US" dirty="0"/>
              <a:t>Drupal</a:t>
            </a:r>
          </a:p>
          <a:p>
            <a:pPr lvl="2"/>
            <a:r>
              <a:rPr lang="en-US" dirty="0"/>
              <a:t>WordPress</a:t>
            </a:r>
          </a:p>
          <a:p>
            <a:pPr lvl="2"/>
            <a:r>
              <a:rPr lang="en-US" dirty="0"/>
              <a:t>Joomla</a:t>
            </a:r>
          </a:p>
          <a:p>
            <a:pPr lvl="1"/>
            <a:r>
              <a:rPr lang="en-US" dirty="0"/>
              <a:t>Content repository</a:t>
            </a:r>
          </a:p>
          <a:p>
            <a:pPr lvl="1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15699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Web Design Roles</a:t>
            </a:r>
          </a:p>
        </p:txBody>
      </p:sp>
      <p:grpSp>
        <p:nvGrpSpPr>
          <p:cNvPr id="6" name="Group 5" descr="Text: Creative"/>
          <p:cNvGrpSpPr/>
          <p:nvPr/>
        </p:nvGrpSpPr>
        <p:grpSpPr>
          <a:xfrm>
            <a:off x="2133601" y="1538819"/>
            <a:ext cx="3657227" cy="2274807"/>
            <a:chOff x="655710" y="83"/>
            <a:chExt cx="3657227" cy="2274807"/>
          </a:xfrm>
        </p:grpSpPr>
        <p:sp>
          <p:nvSpPr>
            <p:cNvPr id="13" name="Rectangle 12"/>
            <p:cNvSpPr/>
            <p:nvPr/>
          </p:nvSpPr>
          <p:spPr>
            <a:xfrm>
              <a:off x="655710" y="83"/>
              <a:ext cx="3657227" cy="2194336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shade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5710" y="80554"/>
              <a:ext cx="3657227" cy="21943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7640" tIns="167640" rIns="167640" bIns="167640" numCol="1" spcCol="1270" anchor="ctr" anchorCtr="0">
              <a:noAutofit/>
            </a:bodyPr>
            <a:lstStyle/>
            <a:p>
              <a:pPr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400" dirty="0"/>
                <a:t>Creative</a:t>
              </a:r>
            </a:p>
          </p:txBody>
        </p:sp>
      </p:grpSp>
      <p:grpSp>
        <p:nvGrpSpPr>
          <p:cNvPr id="7" name="Group 6" descr="Text: Technical"/>
          <p:cNvGrpSpPr/>
          <p:nvPr/>
        </p:nvGrpSpPr>
        <p:grpSpPr>
          <a:xfrm>
            <a:off x="6299427" y="1538818"/>
            <a:ext cx="3657227" cy="2194336"/>
            <a:chOff x="4678661" y="83"/>
            <a:chExt cx="3657227" cy="2194336"/>
          </a:xfrm>
        </p:grpSpPr>
        <p:sp>
          <p:nvSpPr>
            <p:cNvPr id="11" name="Rectangle 10"/>
            <p:cNvSpPr/>
            <p:nvPr/>
          </p:nvSpPr>
          <p:spPr>
            <a:xfrm>
              <a:off x="4678661" y="83"/>
              <a:ext cx="3657227" cy="2194336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537784"/>
                <a:satOff val="-50893"/>
                <a:lumOff val="39592"/>
                <a:alphaOff val="0"/>
              </a:schemeClr>
            </a:fillRef>
            <a:effectRef idx="3">
              <a:schemeClr val="accent2">
                <a:shade val="50000"/>
                <a:hueOff val="537784"/>
                <a:satOff val="-50893"/>
                <a:lumOff val="3959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 descr="Text: Technical"/>
            <p:cNvSpPr txBox="1"/>
            <p:nvPr/>
          </p:nvSpPr>
          <p:spPr>
            <a:xfrm>
              <a:off x="4678661" y="83"/>
              <a:ext cx="3657227" cy="21943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7640" tIns="167640" rIns="167640" bIns="167640" numCol="1" spcCol="1270" anchor="ctr" anchorCtr="0">
              <a:noAutofit/>
            </a:bodyPr>
            <a:lstStyle/>
            <a:p>
              <a:pPr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400" dirty="0"/>
                <a:t>Technical</a:t>
              </a:r>
            </a:p>
          </p:txBody>
        </p:sp>
      </p:grpSp>
      <p:grpSp>
        <p:nvGrpSpPr>
          <p:cNvPr id="8" name="Group 7" descr="Text: Oversight"/>
          <p:cNvGrpSpPr/>
          <p:nvPr/>
        </p:nvGrpSpPr>
        <p:grpSpPr>
          <a:xfrm>
            <a:off x="4287952" y="4098877"/>
            <a:ext cx="3657227" cy="2194336"/>
            <a:chOff x="2667186" y="2560142"/>
            <a:chExt cx="3657227" cy="2194336"/>
          </a:xfrm>
        </p:grpSpPr>
        <p:sp>
          <p:nvSpPr>
            <p:cNvPr id="9" name="Rectangle 8"/>
            <p:cNvSpPr/>
            <p:nvPr/>
          </p:nvSpPr>
          <p:spPr>
            <a:xfrm>
              <a:off x="2667186" y="2560142"/>
              <a:ext cx="3657227" cy="2194336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537784"/>
                <a:satOff val="-50893"/>
                <a:lumOff val="39592"/>
                <a:alphaOff val="0"/>
              </a:schemeClr>
            </a:fillRef>
            <a:effectRef idx="3">
              <a:schemeClr val="accent2">
                <a:shade val="50000"/>
                <a:hueOff val="537784"/>
                <a:satOff val="-50893"/>
                <a:lumOff val="3959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667186" y="2560142"/>
              <a:ext cx="3657227" cy="21943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7640" tIns="167640" rIns="167640" bIns="167640" numCol="1" spcCol="1270" anchor="ctr" anchorCtr="0">
              <a:noAutofit/>
            </a:bodyPr>
            <a:lstStyle/>
            <a:p>
              <a:pPr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400" dirty="0"/>
                <a:t>Oversight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85149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Web Design Roles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548715" y="1632928"/>
            <a:ext cx="10803869" cy="4028320"/>
          </a:xfr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Creative Roles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Content writer / editor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SEO expert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Web designer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UI / UX manager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Web artist / graphic designer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Multimedia producer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4002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Web Design Roles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320A23-77E4-D4D4-53B0-9C8A89E42833}"/>
              </a:ext>
            </a:extLst>
          </p:cNvPr>
          <p:cNvSpPr txBox="1"/>
          <p:nvPr/>
        </p:nvSpPr>
        <p:spPr>
          <a:xfrm>
            <a:off x="1343472" y="1741512"/>
            <a:ext cx="9505056" cy="3343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Technical Roles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Web programmer / developer</a:t>
            </a:r>
          </a:p>
          <a:p>
            <a:pPr marL="1233251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Front-end</a:t>
            </a:r>
          </a:p>
          <a:p>
            <a:pPr marL="1233251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Back-end</a:t>
            </a:r>
          </a:p>
          <a:p>
            <a:pPr marL="1233251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Full-stack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Database developer</a:t>
            </a:r>
          </a:p>
          <a:p>
            <a:pPr marL="845226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Web server administrator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8356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Web Design Roles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73828-53CE-0CD4-B6B3-CB71CD2CACC8}"/>
              </a:ext>
            </a:extLst>
          </p:cNvPr>
          <p:cNvSpPr txBox="1"/>
          <p:nvPr/>
        </p:nvSpPr>
        <p:spPr>
          <a:xfrm>
            <a:off x="767408" y="1596856"/>
            <a:ext cx="100091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Oversight Roles</a:t>
            </a:r>
          </a:p>
          <a:p>
            <a:pPr marL="959526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Web administrator </a:t>
            </a:r>
          </a:p>
          <a:p>
            <a:pPr marL="959526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System architect</a:t>
            </a:r>
          </a:p>
          <a:p>
            <a:pPr marL="959526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Tester</a:t>
            </a:r>
          </a:p>
          <a:p>
            <a:pPr marL="959526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Social media expert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2870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F0688-F866-A1F4-87BD-F17C79A9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4B1B551F-C3A7-ED21-B477-4C881FDD90A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548714" y="163293"/>
            <a:ext cx="11643285" cy="1143049"/>
          </a:xfrm>
        </p:spPr>
        <p:txBody>
          <a:bodyPr>
            <a:noAutofit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Legal and Ethical Issues</a:t>
            </a:r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 in Web Design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odger" panose="00000400000000000000" pitchFamily="2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2A7A37-30EC-F549-FDB3-6F764AFD5EB2}"/>
              </a:ext>
            </a:extLst>
          </p:cNvPr>
          <p:cNvSpPr txBox="1"/>
          <p:nvPr/>
        </p:nvSpPr>
        <p:spPr>
          <a:xfrm>
            <a:off x="767408" y="1596856"/>
            <a:ext cx="80648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What is </a:t>
            </a:r>
            <a:r>
              <a:rPr lang="en-US" sz="3600" b="1" dirty="0">
                <a:solidFill>
                  <a:srgbClr val="0070C0"/>
                </a:solidFill>
              </a:rPr>
              <a:t>ethics</a:t>
            </a:r>
            <a:r>
              <a:rPr lang="en-US" sz="3600" dirty="0">
                <a:solidFill>
                  <a:srgbClr val="0070C0"/>
                </a:solidFill>
              </a:rPr>
              <a:t>?</a:t>
            </a:r>
          </a:p>
          <a:p>
            <a:pPr marL="959526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Standards of moral conduct</a:t>
            </a:r>
          </a:p>
          <a:p>
            <a:pPr marL="1641475" lvl="2" indent="-571500">
              <a:buFont typeface="Wingdings" panose="05000000000000000000" pitchFamily="2" charset="2"/>
              <a:buChar char="Ø"/>
            </a:pPr>
            <a:r>
              <a:rPr lang="en-US" sz="3600" dirty="0"/>
              <a:t>Standards of right and wrong </a:t>
            </a:r>
            <a:r>
              <a:rPr lang="en-US" sz="3600" dirty="0" err="1"/>
              <a:t>behaviour</a:t>
            </a:r>
            <a:endParaRPr lang="en-US" sz="3600" dirty="0"/>
          </a:p>
          <a:p>
            <a:pPr marL="1641475" lvl="2" indent="-571500">
              <a:buFont typeface="Wingdings" panose="05000000000000000000" pitchFamily="2" charset="2"/>
              <a:buChar char="Ø"/>
            </a:pPr>
            <a:r>
              <a:rPr lang="en-US" sz="3600" dirty="0"/>
              <a:t>A gauge for personal integrity</a:t>
            </a:r>
          </a:p>
          <a:p>
            <a:pPr marL="1641475" lvl="2" indent="-571500">
              <a:buFont typeface="Wingdings" panose="05000000000000000000" pitchFamily="2" charset="2"/>
              <a:buChar char="Ø"/>
            </a:pPr>
            <a:r>
              <a:rPr lang="en-US" sz="3600" dirty="0"/>
              <a:t>The basis of trust and cooperation in relationships with others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C94608-9B3E-3E2C-EE97-3AAF252FE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4352" y="1700808"/>
            <a:ext cx="3331468" cy="24109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194664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15F05-EDE5-6A8C-4B3F-9E4642F4B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2596B8DD-7372-335A-0587-BF69C929882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Ethics in Web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7F213-1CE6-5C59-F6A2-AFD59886DDFD}"/>
              </a:ext>
            </a:extLst>
          </p:cNvPr>
          <p:cNvSpPr txBox="1"/>
          <p:nvPr/>
        </p:nvSpPr>
        <p:spPr>
          <a:xfrm>
            <a:off x="767408" y="1596856"/>
            <a:ext cx="11305256" cy="4759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Why do you have to learn about </a:t>
            </a:r>
            <a:r>
              <a:rPr lang="en-US" sz="3600" b="1" dirty="0">
                <a:solidFill>
                  <a:srgbClr val="0070C0"/>
                </a:solidFill>
              </a:rPr>
              <a:t>ethics</a:t>
            </a:r>
            <a:r>
              <a:rPr lang="en-US" sz="3600" dirty="0">
                <a:solidFill>
                  <a:srgbClr val="0070C0"/>
                </a:solidFill>
              </a:rPr>
              <a:t>?</a:t>
            </a:r>
          </a:p>
          <a:p>
            <a:pPr marL="609600" indent="-609600" algn="ctr">
              <a:buFontTx/>
              <a:buNone/>
            </a:pPr>
            <a:endParaRPr lang="en-US" altLang="en-US" dirty="0"/>
          </a:p>
          <a:p>
            <a:pPr marL="541338" lvl="1" indent="-533400">
              <a:buFontTx/>
              <a:buAutoNum type="arabicPeriod"/>
            </a:pPr>
            <a:r>
              <a:rPr lang="en-US" altLang="en-US" sz="2800" dirty="0"/>
              <a:t>Employers require that students understand the ethical implications of design and decision-making (including how to deal with </a:t>
            </a:r>
            <a:r>
              <a:rPr lang="en-US" altLang="en-US" sz="2800" i="1" dirty="0"/>
              <a:t>gray areas</a:t>
            </a:r>
            <a:r>
              <a:rPr lang="en-US" altLang="en-US" sz="2800" dirty="0"/>
              <a:t>).</a:t>
            </a:r>
          </a:p>
          <a:p>
            <a:pPr marL="541338" lvl="1" indent="-533400">
              <a:buFontTx/>
              <a:buAutoNum type="arabicPeriod"/>
            </a:pPr>
            <a:r>
              <a:rPr lang="en-US" altLang="en-US" sz="2800" dirty="0"/>
              <a:t>There are a lot of interesting related topics, like intellectual property (e.g. copyrights), privacy and security, etc.</a:t>
            </a:r>
          </a:p>
          <a:p>
            <a:pPr marL="541338" lvl="1" indent="-533400">
              <a:buFontTx/>
              <a:buAutoNum type="arabicPeriod"/>
            </a:pPr>
            <a:r>
              <a:rPr lang="en-US" altLang="en-US" sz="2800" dirty="0"/>
              <a:t>We trade in digital information (from images and music to source code); there are many implications, such as </a:t>
            </a:r>
            <a:r>
              <a:rPr lang="en-US" altLang="en-US" sz="2800" i="1" dirty="0"/>
              <a:t>what can be copied freely</a:t>
            </a:r>
            <a:r>
              <a:rPr lang="en-US" altLang="en-US" sz="2800" dirty="0"/>
              <a:t>.</a:t>
            </a:r>
          </a:p>
          <a:p>
            <a:pPr marL="541338" lvl="1" indent="-533400">
              <a:buFontTx/>
              <a:buAutoNum type="arabicPeriod"/>
            </a:pPr>
            <a:r>
              <a:rPr lang="en-US" altLang="en-US" sz="2800" dirty="0"/>
              <a:t>Software has a </a:t>
            </a:r>
            <a:r>
              <a:rPr lang="en-US" altLang="en-US" sz="2800" i="1" dirty="0"/>
              <a:t>real impact</a:t>
            </a:r>
            <a:r>
              <a:rPr lang="en-US" altLang="en-US" sz="2800" dirty="0"/>
              <a:t> on people.  There can be consequences of software we design and programs we write, based on how they affect users, as well as others. (e.g. in terms of </a:t>
            </a:r>
            <a:r>
              <a:rPr lang="en-US" altLang="en-US" sz="2800" i="1" dirty="0"/>
              <a:t>safety, privacy</a:t>
            </a:r>
            <a:r>
              <a:rPr lang="en-US" altLang="en-US" sz="2800" dirty="0"/>
              <a:t>...)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87891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082C7-9913-BF39-AF0F-6C379154A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9A400A1F-624D-18A4-33EC-F21DDECAB14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Ethics in Web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F50740-3EDB-C230-AA44-876ED857A06E}"/>
              </a:ext>
            </a:extLst>
          </p:cNvPr>
          <p:cNvSpPr txBox="1"/>
          <p:nvPr/>
        </p:nvSpPr>
        <p:spPr>
          <a:xfrm>
            <a:off x="767408" y="1596856"/>
            <a:ext cx="11305256" cy="3897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Misleading interfaces</a:t>
            </a:r>
          </a:p>
          <a:p>
            <a:pPr marL="609600" indent="-609600" algn="ctr">
              <a:buFontTx/>
              <a:buNone/>
            </a:pPr>
            <a:endParaRPr lang="en-US" altLang="en-US" dirty="0"/>
          </a:p>
          <a:p>
            <a:pPr marL="541338" lvl="1" indent="-533400">
              <a:buFontTx/>
              <a:buAutoNum type="arabicPeriod"/>
            </a:pPr>
            <a:r>
              <a:rPr lang="en-US" altLang="en-US" sz="2800" dirty="0"/>
              <a:t>Also known as dark patterns</a:t>
            </a:r>
          </a:p>
          <a:p>
            <a:pPr marL="541338" lvl="1" indent="-533400">
              <a:buFontTx/>
              <a:buAutoNum type="arabicPeriod"/>
            </a:pPr>
            <a:r>
              <a:rPr lang="en-US" altLang="en-US" sz="2800" dirty="0"/>
              <a:t>Deceptive web design tactics for tricking users into unintended actions such as making purchases or sharing data, for business gain.</a:t>
            </a:r>
          </a:p>
          <a:p>
            <a:pPr marL="541338" lvl="1" indent="-533400">
              <a:buFontTx/>
              <a:buAutoNum type="arabicPeriod"/>
            </a:pPr>
            <a:r>
              <a:rPr lang="en-US" altLang="en-US" sz="2800" dirty="0"/>
              <a:t>Examples of dark patterns: misdirection which highlights irrelevant features to obscure critical details; Roach Motel, makes it easy to sign-on to something but impossible to cancel; sneak into basket which adds items without user consent.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24587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cs typeface="+mn-cs"/>
              </a:rPr>
              <a:t>Lecture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6CECDC-61D2-D312-5A9E-CB6D5A1B192F}"/>
              </a:ext>
            </a:extLst>
          </p:cNvPr>
          <p:cNvSpPr txBox="1"/>
          <p:nvPr/>
        </p:nvSpPr>
        <p:spPr>
          <a:xfrm>
            <a:off x="1199456" y="1556792"/>
            <a:ext cx="97930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Describe the Internet and the World Wide Web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Discuss ways to access the Internet and the web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Categorize types of websites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Identify web design tools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Explain web design principles, roles, and required skills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Ethics in web design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25837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Oval 11"/>
          <p:cNvSpPr/>
          <p:nvPr/>
        </p:nvSpPr>
        <p:spPr bwMode="auto">
          <a:xfrm>
            <a:off x="4080238" y="364573"/>
            <a:ext cx="2580175" cy="806429"/>
          </a:xfrm>
          <a:prstGeom prst="ellipse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62" tIns="48381" rIns="96762" bIns="48381" numCol="1" rtlCol="0" anchor="t" anchorCtr="0" compatLnSpc="1">
            <a:prstTxWarp prst="textNoShape">
              <a:avLst/>
            </a:prstTxWarp>
          </a:bodyPr>
          <a:lstStyle/>
          <a:p>
            <a:pPr algn="ctr" defTabSz="130918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8000" kern="0">
              <a:solidFill>
                <a:srgbClr val="000000"/>
              </a:solidFill>
              <a:latin typeface="微软雅黑"/>
              <a:ea typeface="微软雅黑"/>
              <a:sym typeface="Gill Sans" charset="0"/>
            </a:endParaRPr>
          </a:p>
        </p:txBody>
      </p:sp>
      <p:sp>
        <p:nvSpPr>
          <p:cNvPr id="6" name="Subtitle 2"/>
          <p:cNvSpPr>
            <a:spLocks noGrp="1"/>
          </p:cNvSpPr>
          <p:nvPr>
            <p:ph sz="half" idx="1"/>
          </p:nvPr>
        </p:nvSpPr>
        <p:spPr>
          <a:xfrm>
            <a:off x="548715" y="1632929"/>
            <a:ext cx="10760977" cy="3740288"/>
          </a:xfrm>
          <a:solidFill>
            <a:srgbClr val="FFFFFF">
              <a:alpha val="50980"/>
            </a:srgbClr>
          </a:solidFill>
        </p:spPr>
        <p:txBody>
          <a:bodyPr/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HTML5, CSS3 a more detailed look at creating a webpage.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9AE0B0-D0EA-2EF8-FC6F-0AF8B5007D3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35360" y="136519"/>
            <a:ext cx="10974332" cy="1143049"/>
          </a:xfrm>
        </p:spPr>
        <p:txBody>
          <a:bodyPr>
            <a:no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dger" panose="00000400000000000000" pitchFamily="2" charset="0"/>
                <a:ea typeface="+mj-ea"/>
              </a:rPr>
              <a:t>Next Weeks Lecture</a:t>
            </a:r>
          </a:p>
        </p:txBody>
      </p:sp>
    </p:spTree>
    <p:extLst>
      <p:ext uri="{BB962C8B-B14F-4D97-AF65-F5344CB8AC3E}">
        <p14:creationId xmlns:p14="http://schemas.microsoft.com/office/powerpoint/2010/main" val="19440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34"/>
    </mc:Choice>
    <mc:Fallback xmlns="">
      <p:transition advTm="434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hdjcmPjs29UmLRIrOw1Cq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uOVskLPgAacLGzqLJ2dJ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aKY5CC4Ou6rtdni3pzWm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DoTBfb5H0mwrSndSHM3GR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SA3WS1WKx38U0oKhfVxU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DI0kOIdA3GmLiBAxgdgAR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E7OHvb7XTD4hdnoM4tXf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uiaSqCb8ld7J78ZNsYjdH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wqvfSqKMGMIALbAUmnuqjP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GswsgPdOrWATsavIZERpv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RZmHYECGDoi1XlTlUUX1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3HPpWmQT6r2Glo9f8BgQm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xyUy99RnCcRgjMEiWJZXi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6pPjxKFowBUCm5UAC6LxZ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puY05NwHA2Pu3oMSc9Zw9K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0MVQiqRULVNVkpoze2NCz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dveqpAEeZ9dAhlqWh3mpQ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SKD79z03Ggm6gmEYkGeB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2GeSKeH5UxPlWAqZqx1Af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RlLtgo7QPiFgsLEnW3m2F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dULg5IYw5T42kDeT80VG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XgQHQTnfKeThTdVM22B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E4olhywq6lkC9NTAFlDc7I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PEVh3LZXLuI6WxiMDXLY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H2ULt73Jhl1ITscO6kgI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MVLqJjy45LeVJCJ7kYU8oV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CS7p41NDgoUCGpGCgju4C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4yZMxeU30aBznOqBO2DuB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ikCmJJBXMLmDZHoNOcpSjy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TDYvTLWiWeoYK6PltXTm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z5C1IwaHJvCJJmzuwYCkj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zjymYKSd8UYxi1GGQ0n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SIgy378OgmI0PZpAFg5i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j95XZrBApbz6GHCbTOgKuO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d3VyzufyjdxahGJLVsJgs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Z6m0lSBgFwZOBdg8GM5xX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eSHrN6iuvE9qMtVLxI586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tB9rV7DHAUcdI6YiPMb6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aDFRSl4N4zDuUcfxEviUFU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Yrx8cfhSH74qTdRUceUf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M7tbLHhluXkmsDAwDht4v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aLySP7tOU1BmKIfaV9jRh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1sol0uRuc4FvvqfjemivHO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PkYfmQ36B9x2laUrncwB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URHQ4kouKHEdEdvywFP8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VjXi9zie3QMf61NpHMt0L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wSNo00T6qYqwzt8uhPSv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PmCOglAwhcvEBDTxPFWF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pTuI20rbPNfTdQO2NfrgX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W39LLsVko4rhPsWWP6cpi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aStmvmYcN4KVRqKNME4QRf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VznVA6supftnr52l7GvR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UlOLkoETGrsV45efpUIBZ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pINlbgaVvNQfJBfFu5dC0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4Eqd8A8FLtt8IuAbHzxrs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8iZni0sMc7iUsKyaaH1Rz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gPcDLGcbSeqRY2ALikEDn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5BH8y69YCeffzvlNYasIAJ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dFKViDxkNDvQuowL0WKw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1ZIA7ZWknsaHAyvkLp9I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1ZIA7ZWknsaHAyvkLp9I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O9u6kUvA8BccnG9rmDdu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AAvQzKIZPRmYgjM4C4yWd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O9u6kUvA8BccnG9rmDdu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AAvQzKIZPRmYgjM4C4yW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JaMAvViat8FfJ5qmWRf8v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db3OnIRpQlmDSY40P47E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koe5iXCsrQ6jD2cCnhbVP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db3OnIRpQlmDSY40P47E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koe5iXCsrQ6jD2cCnhbVP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db3OnIRpQlmDSY40P47E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koe5iXCsrQ6jD2cCnhbVP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db3OnIRpQlmDSY40P47E6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koe5iXCsrQ6jD2cCnhbVP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db3OnIRpQlmDSY40P47E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koe5iXCsrQ6jD2cCnhbVP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DmiY6PI64nfU9Wi3vwMJIK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QbmScTDXYC7eIJ7vP30XI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QbmScTDXYC7eIJ7vP30XI"/>
</p:tagLst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A54E682-113E-4E5A-A92B-D15864926214}" vid="{B94FBF13-4037-45A3-99F6-B9EF7F74D6C2}"/>
    </a:ext>
  </a:extLst>
</a:theme>
</file>

<file path=ppt/theme/theme2.xml><?xml version="1.0" encoding="utf-8"?>
<a:theme xmlns:a="http://schemas.openxmlformats.org/drawingml/2006/main" name="Gener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A54E682-113E-4E5A-A92B-D15864926214}" vid="{4D244764-1B98-40A8-879D-E21B56647722}"/>
    </a:ext>
  </a:extLst>
</a:theme>
</file>

<file path=ppt/theme/theme3.xml><?xml version="1.0" encoding="utf-8"?>
<a:theme xmlns:a="http://schemas.openxmlformats.org/drawingml/2006/main" name="Spacio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A54E682-113E-4E5A-A92B-D15864926214}" vid="{49E43921-C845-4888-9166-A2080C85AFB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WIN-Vivid</Template>
  <TotalTime>676</TotalTime>
  <Words>1539</Words>
  <Application>Microsoft Office PowerPoint</Application>
  <PresentationFormat>Widescreen</PresentationFormat>
  <Paragraphs>270</Paragraphs>
  <Slides>41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微软雅黑</vt:lpstr>
      <vt:lpstr>Arial</vt:lpstr>
      <vt:lpstr>Calibri</vt:lpstr>
      <vt:lpstr>Dodger</vt:lpstr>
      <vt:lpstr>Impact</vt:lpstr>
      <vt:lpstr>Wingdings</vt:lpstr>
      <vt:lpstr>Title</vt:lpstr>
      <vt:lpstr>General</vt:lpstr>
      <vt:lpstr>Spacious</vt:lpstr>
      <vt:lpstr>PowerPoint Presentation</vt:lpstr>
      <vt:lpstr>Week 1 Lecture</vt:lpstr>
      <vt:lpstr>ICT114 Web Development</vt:lpstr>
      <vt:lpstr>The Internet and the World Wide Web (WWW.. Net.. web)</vt:lpstr>
      <vt:lpstr>The Internet and the World Wide Web</vt:lpstr>
      <vt:lpstr>World Wide Web (WWW or Web)</vt:lpstr>
      <vt:lpstr>Influence on Society</vt:lpstr>
      <vt:lpstr>Communication</vt:lpstr>
      <vt:lpstr>Education</vt:lpstr>
      <vt:lpstr>Entertainment and News</vt:lpstr>
      <vt:lpstr>E-Commerce</vt:lpstr>
      <vt:lpstr>Ways to Access the Internet</vt:lpstr>
      <vt:lpstr>Broadband Connections</vt:lpstr>
      <vt:lpstr>Connecting to the Internet and the Web</vt:lpstr>
      <vt:lpstr>Internet Service Provider (ISP)</vt:lpstr>
      <vt:lpstr>Web Browsers</vt:lpstr>
      <vt:lpstr>Web Browsers</vt:lpstr>
      <vt:lpstr>Web Browsers</vt:lpstr>
      <vt:lpstr>Web Browsers</vt:lpstr>
      <vt:lpstr>Types of Websites</vt:lpstr>
      <vt:lpstr>Personal</vt:lpstr>
      <vt:lpstr>Organizational / Topical</vt:lpstr>
      <vt:lpstr>Commercial</vt:lpstr>
      <vt:lpstr>Portals</vt:lpstr>
      <vt:lpstr>Other Types of Websites</vt:lpstr>
      <vt:lpstr>Web Design Tools</vt:lpstr>
      <vt:lpstr>Markup Languages</vt:lpstr>
      <vt:lpstr>Cascading Style Sheets (CSS)</vt:lpstr>
      <vt:lpstr>Scripting Languages</vt:lpstr>
      <vt:lpstr>Text and HTML Editors</vt:lpstr>
      <vt:lpstr>Web Development Tools</vt:lpstr>
      <vt:lpstr>Web Templates and Content Management Systems</vt:lpstr>
      <vt:lpstr>Web Design Roles</vt:lpstr>
      <vt:lpstr>Web Design Roles</vt:lpstr>
      <vt:lpstr>Web Design Roles</vt:lpstr>
      <vt:lpstr>Web Design Roles</vt:lpstr>
      <vt:lpstr>Legal and Ethical Issues in Web Design</vt:lpstr>
      <vt:lpstr>Ethics in Web Design</vt:lpstr>
      <vt:lpstr>Ethics in Web Design</vt:lpstr>
      <vt:lpstr>Lecture Summary</vt:lpstr>
      <vt:lpstr>Next Weeks Lecture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Kerese Manueli</dc:creator>
  <cp:lastModifiedBy>Kerese Manueli</cp:lastModifiedBy>
  <cp:revision>21</cp:revision>
  <dcterms:created xsi:type="dcterms:W3CDTF">2021-02-24T02:07:10Z</dcterms:created>
  <dcterms:modified xsi:type="dcterms:W3CDTF">2025-10-09T01:21:46Z</dcterms:modified>
</cp:coreProperties>
</file>