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72" r:id="rId4"/>
    <p:sldId id="273" r:id="rId5"/>
    <p:sldId id="261" r:id="rId6"/>
    <p:sldId id="275" r:id="rId7"/>
    <p:sldId id="265" r:id="rId8"/>
    <p:sldId id="266" r:id="rId9"/>
    <p:sldId id="267" r:id="rId10"/>
    <p:sldId id="262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303" r:id="rId19"/>
    <p:sldId id="304" r:id="rId20"/>
    <p:sldId id="305" r:id="rId21"/>
    <p:sldId id="306" r:id="rId22"/>
    <p:sldId id="310" r:id="rId23"/>
    <p:sldId id="307" r:id="rId24"/>
    <p:sldId id="308" r:id="rId25"/>
    <p:sldId id="309" r:id="rId26"/>
    <p:sldId id="311" r:id="rId27"/>
    <p:sldId id="312" r:id="rId28"/>
    <p:sldId id="31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84B5394-50EE-42AF-843B-BF8E7B4B15F7}">
          <p14:sldIdLst>
            <p14:sldId id="256"/>
            <p14:sldId id="257"/>
          </p14:sldIdLst>
        </p14:section>
        <p14:section name="Tables" id="{07E4024E-5547-48C0-A922-8D72D3301273}">
          <p14:sldIdLst>
            <p14:sldId id="272"/>
            <p14:sldId id="273"/>
            <p14:sldId id="261"/>
            <p14:sldId id="275"/>
            <p14:sldId id="265"/>
            <p14:sldId id="266"/>
            <p14:sldId id="267"/>
          </p14:sldIdLst>
        </p14:section>
        <p14:section name="DOM" id="{5D9FFF9F-564D-43B2-B5E1-BEAFA1BD1D94}">
          <p14:sldIdLst>
            <p14:sldId id="262"/>
          </p14:sldIdLst>
        </p14:section>
        <p14:section name="Basic CSS" id="{BC65DD9E-F4BA-4E45-9C18-939D7AF2E0C2}">
          <p14:sldIdLst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10"/>
            <p14:sldId id="307"/>
            <p14:sldId id="308"/>
            <p14:sldId id="309"/>
            <p14:sldId id="311"/>
            <p14:sldId id="312"/>
          </p14:sldIdLst>
        </p14:section>
        <p14:section name="Next Week" id="{FD86B605-444E-4BCA-826D-771DBC58A369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69" autoAdjust="0"/>
    <p:restoredTop sz="75229" autoAdjust="0"/>
  </p:normalViewPr>
  <p:slideViewPr>
    <p:cSldViewPr>
      <p:cViewPr varScale="1">
        <p:scale>
          <a:sx n="86" d="100"/>
          <a:sy n="86" d="100"/>
        </p:scale>
        <p:origin x="78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2F1B1C-EF43-42DF-8D93-6D1AA054F092}" type="datetimeFigureOut">
              <a:rPr lang="en-AU" smtClean="0"/>
              <a:t>26/07/2023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5D68BF-496A-42D2-A159-C1EBC09BAB5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3843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tml-color.codes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795904E7-8ABD-4376-98C4-CBB814A857F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47B7CA10-DE87-4CCA-BAEF-4EE07C29B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143D6FFA-C893-4806-A9DF-471CA61958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4ABF523-FD40-4002-BE5C-6746A1ABEE3C}" type="slidenum">
              <a:rPr lang="en-US" altLang="en-US" sz="1300"/>
              <a:pPr eaLnBrk="1" hangingPunct="1"/>
              <a:t>3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A543A934-C7FD-40D3-A549-CF3A341EED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F2043AFB-7986-4001-AC9A-2D41FACC04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0D2A25B2-FB68-4D7B-B10A-548C40FD5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9C63AE34-394C-4CF2-9872-FB2722F03984}" type="slidenum">
              <a:rPr lang="en-US" altLang="en-US" sz="1300"/>
              <a:pPr eaLnBrk="1" hangingPunct="1"/>
              <a:t>4</a:t>
            </a:fld>
            <a:endParaRPr lang="en-US" altLang="en-US" sz="13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lide Image Placeholder 1">
            <a:extLst>
              <a:ext uri="{FF2B5EF4-FFF2-40B4-BE49-F238E27FC236}">
                <a16:creationId xmlns:a16="http://schemas.microsoft.com/office/drawing/2014/main" id="{BE7CFD2F-76CD-482F-8005-931148C04C0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Notes Placeholder 2">
            <a:extLst>
              <a:ext uri="{FF2B5EF4-FFF2-40B4-BE49-F238E27FC236}">
                <a16:creationId xmlns:a16="http://schemas.microsoft.com/office/drawing/2014/main" id="{A3AA0CA4-002C-4C72-BEFE-F6608AC41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2015F12E-5361-4A7D-98B0-7E18957738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ECF79CE-925A-42D1-90A1-E8F739075A8C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5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9DBD40D6-2738-419A-8381-5429D515C0E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CB54F216-91F3-4B72-85B3-7CBD87A606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0C0282BE-C7FB-49FD-95A8-40DA31ABA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6060B8B-A4D9-4237-844E-6A6A887AA961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7EDB8782-E8D5-4D84-8374-15BA6E3579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A7C31CA2-D65D-4AC4-97E3-FAE3C9C3A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B06D93FF-A6AD-424B-AB99-52F8FC12C0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45AC97C-0A35-4D78-82B9-B4D8E2DF626D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8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4EBE22C6-DA55-46F4-BFC4-CD4DCBFA6A9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FE50912C-C227-4EFD-B482-4834CBD0F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725E64F6-34FC-445C-91AF-48825C9D3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8025EDE-0BEC-4DFB-BE6E-528D484B24C3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We can review the HTML tags that we discussed in the past two weeks and direct students to a website that has all the HTML tags.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68BF-496A-42D2-A159-C1EBC09BAB5B}" type="slidenum">
              <a:rPr lang="en-AU" smtClean="0"/>
              <a:t>10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601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>
            <a:extLst>
              <a:ext uri="{FF2B5EF4-FFF2-40B4-BE49-F238E27FC236}">
                <a16:creationId xmlns:a16="http://schemas.microsoft.com/office/drawing/2014/main" id="{9AC0545E-B5C7-48B4-9853-C71608D57C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7891" name="Notes Placeholder 2">
            <a:extLst>
              <a:ext uri="{FF2B5EF4-FFF2-40B4-BE49-F238E27FC236}">
                <a16:creationId xmlns:a16="http://schemas.microsoft.com/office/drawing/2014/main" id="{234B36EA-2BAA-4DD4-AFF0-D227C0C50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AF48A58-E0AC-4238-B531-5F71F4E3B7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273F6EC-45AC-4046-B2E4-8E83FBEF2843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E62BB4B7-AA5B-4E94-B5F8-245D6F026D7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C688D4D0-D108-4A5E-BECB-4D7732989F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39940" name="Slide Number Placeholder 3">
            <a:extLst>
              <a:ext uri="{FF2B5EF4-FFF2-40B4-BE49-F238E27FC236}">
                <a16:creationId xmlns:a16="http://schemas.microsoft.com/office/drawing/2014/main" id="{22154691-58CD-4B72-A493-57C164CEFE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7CED6B2-EAD9-4897-9C63-E94E3AEC2B1D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12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>
            <a:extLst>
              <a:ext uri="{FF2B5EF4-FFF2-40B4-BE49-F238E27FC236}">
                <a16:creationId xmlns:a16="http://schemas.microsoft.com/office/drawing/2014/main" id="{09869D4E-5D50-405B-BC92-7CA39248CC4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9939" name="Notes Placeholder 2">
            <a:extLst>
              <a:ext uri="{FF2B5EF4-FFF2-40B4-BE49-F238E27FC236}">
                <a16:creationId xmlns:a16="http://schemas.microsoft.com/office/drawing/2014/main" id="{10D40D79-CF86-494C-98FA-8EC2722DEF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694CBD98-C925-4DD3-95F7-F0BFAF0933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892C2A61-54D9-46B0-B76A-CAFAA24529C1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C327155C-8F65-4A6C-B69C-82396476D99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B8CD4CA5-C1EC-478C-973E-F3E7A5355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1988" name="Slide Number Placeholder 3">
            <a:extLst>
              <a:ext uri="{FF2B5EF4-FFF2-40B4-BE49-F238E27FC236}">
                <a16:creationId xmlns:a16="http://schemas.microsoft.com/office/drawing/2014/main" id="{80D36F73-C292-4925-9CB7-C6CD81654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789410A-0A60-4733-9E11-6B0A757F8241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14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>
            <a:extLst>
              <a:ext uri="{FF2B5EF4-FFF2-40B4-BE49-F238E27FC236}">
                <a16:creationId xmlns:a16="http://schemas.microsoft.com/office/drawing/2014/main" id="{067CAF56-31B5-4DF2-AC53-04DB1A234DF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1987" name="Notes Placeholder 2">
            <a:extLst>
              <a:ext uri="{FF2B5EF4-FFF2-40B4-BE49-F238E27FC236}">
                <a16:creationId xmlns:a16="http://schemas.microsoft.com/office/drawing/2014/main" id="{205E4E3A-F4A0-4A34-BC4E-37C9639FF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665AD869-3D0C-466B-A308-F2622A083D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169A6D0A-4AB2-4DE5-8B10-3A1C63B13BC4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16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2C0E936E-E9DC-457F-A7F4-DF08318B12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829FF328-9D16-4922-A5C9-895927D908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/>
              <a:t>Let us choose one style and stick to it.</a:t>
            </a:r>
          </a:p>
          <a:p>
            <a:endParaRPr lang="en-US" altLang="en-US" dirty="0"/>
          </a:p>
        </p:txBody>
      </p:sp>
      <p:sp>
        <p:nvSpPr>
          <p:cNvPr id="44036" name="Slide Number Placeholder 3">
            <a:extLst>
              <a:ext uri="{FF2B5EF4-FFF2-40B4-BE49-F238E27FC236}">
                <a16:creationId xmlns:a16="http://schemas.microsoft.com/office/drawing/2014/main" id="{A76D77B1-92DE-4D71-9FE7-DF622E147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F876FD4-ECD3-4807-B632-1F8784F80349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17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>
            <a:extLst>
              <a:ext uri="{FF2B5EF4-FFF2-40B4-BE49-F238E27FC236}">
                <a16:creationId xmlns:a16="http://schemas.microsoft.com/office/drawing/2014/main" id="{0EBCF227-3E70-4F30-95D1-01F84E81CA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4035" name="Notes Placeholder 2">
            <a:extLst>
              <a:ext uri="{FF2B5EF4-FFF2-40B4-BE49-F238E27FC236}">
                <a16:creationId xmlns:a16="http://schemas.microsoft.com/office/drawing/2014/main" id="{92A35D8E-1167-4514-8FFB-3893BA0016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2D973D2F-CA6A-4B4A-81A0-476E8D831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F570053-26AA-41A0-B443-E1430859F59B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19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BAEB95AE-F842-4784-80D1-20B6DA50050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753789B7-CD81-456F-A1C1-2EB319853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6084" name="Slide Number Placeholder 3">
            <a:extLst>
              <a:ext uri="{FF2B5EF4-FFF2-40B4-BE49-F238E27FC236}">
                <a16:creationId xmlns:a16="http://schemas.microsoft.com/office/drawing/2014/main" id="{38FDF70F-1113-4DC3-9FA3-A08516719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32C471CB-4B58-4E75-B78E-39673CDD3511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20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>
            <a:extLst>
              <a:ext uri="{FF2B5EF4-FFF2-40B4-BE49-F238E27FC236}">
                <a16:creationId xmlns:a16="http://schemas.microsoft.com/office/drawing/2014/main" id="{96A8D371-A00D-4B87-B826-DB4037ED58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6083" name="Notes Placeholder 2">
            <a:extLst>
              <a:ext uri="{FF2B5EF4-FFF2-40B4-BE49-F238E27FC236}">
                <a16:creationId xmlns:a16="http://schemas.microsoft.com/office/drawing/2014/main" id="{FCD85083-1940-4E31-B565-885B4DAE0A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>
                <a:hlinkClick r:id="rId3"/>
              </a:rPr>
              <a:t>🎨 HTML Color Codes (html-</a:t>
            </a:r>
            <a:r>
              <a:rPr lang="en-US" dirty="0" err="1">
                <a:hlinkClick r:id="rId3"/>
              </a:rPr>
              <a:t>color.codes</a:t>
            </a:r>
            <a:r>
              <a:rPr lang="en-US" dirty="0">
                <a:hlinkClick r:id="rId3"/>
              </a:rPr>
              <a:t>)</a:t>
            </a:r>
            <a:r>
              <a:rPr lang="en-US" dirty="0"/>
              <a:t> </a:t>
            </a:r>
            <a:endParaRPr lang="en-US" altLang="en-US" dirty="0"/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6A7D2F8E-7037-44C3-B393-0B800C0B63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D9712DDF-0687-44C1-B028-E4B4F3FBA34A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21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8F1801B8-239B-43DF-B8BB-E763C2F0D5B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D0A00FDB-46FF-4D9F-ACC6-23334D88B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8132" name="Slide Number Placeholder 3">
            <a:extLst>
              <a:ext uri="{FF2B5EF4-FFF2-40B4-BE49-F238E27FC236}">
                <a16:creationId xmlns:a16="http://schemas.microsoft.com/office/drawing/2014/main" id="{3B031B26-3679-46E8-9957-B9C0E868A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A5AB0474-4297-4ABA-BAE2-BDB9079A3F3D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23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>
            <a:extLst>
              <a:ext uri="{FF2B5EF4-FFF2-40B4-BE49-F238E27FC236}">
                <a16:creationId xmlns:a16="http://schemas.microsoft.com/office/drawing/2014/main" id="{B3A986DA-E6A7-4A9E-8C82-F413C11676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8131" name="Notes Placeholder 2">
            <a:extLst>
              <a:ext uri="{FF2B5EF4-FFF2-40B4-BE49-F238E27FC236}">
                <a16:creationId xmlns:a16="http://schemas.microsoft.com/office/drawing/2014/main" id="{9D70F007-5F15-4BBB-80F1-2169B7FE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1BF5632E-4461-4639-99E7-7F7C53009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C8A3EE23-5A0A-4551-AD04-DCDBBD9A647C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24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376FB28D-592C-40F3-BF2E-8C003EFFC1F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A9B71EF0-7369-4FED-95B7-E79AF67779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50180" name="Slide Number Placeholder 3">
            <a:extLst>
              <a:ext uri="{FF2B5EF4-FFF2-40B4-BE49-F238E27FC236}">
                <a16:creationId xmlns:a16="http://schemas.microsoft.com/office/drawing/2014/main" id="{227AE532-CCE7-41DE-9D91-239CDAFAB3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defTabSz="966788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22276122-D634-476A-8E2B-099355FBF0E9}" type="slidenum">
              <a:rPr lang="en-US" altLang="en-US" sz="1300">
                <a:latin typeface="Verdana" panose="020B0604030504040204" pitchFamily="34" charset="0"/>
              </a:rPr>
              <a:pPr eaLnBrk="1" hangingPunct="1"/>
              <a:t>25</a:t>
            </a:fld>
            <a:endParaRPr lang="en-US" altLang="en-US" sz="1300">
              <a:latin typeface="Verdana" panose="020B060403050404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See  the link option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68BF-496A-42D2-A159-C1EBC09BAB5B}" type="slidenum">
              <a:rPr lang="en-AU" smtClean="0"/>
              <a:t>26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699119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Output looks exactly the same . What is the use of external CSS?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C5D68BF-496A-42D2-A159-C1EBC09BAB5B}" type="slidenum">
              <a:rPr lang="en-AU" smtClean="0"/>
              <a:t>27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68374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DB22C-E7C2-4D9B-9C3E-B3770423D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CEA447-2275-4903-97D5-0EF4EF264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0323C-6842-42A1-AE34-80EECC963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D285F-01C7-4064-AF1F-C986D711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B61DB0-E754-4632-BADF-5CEE7CA7B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27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7E172-530A-4D1A-B2C5-91C70AE41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02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4E0C8-7DCF-48A5-B01B-72B77AC44C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D8764-6F1E-416E-88F1-C40EC8969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9A7AD7-758F-437C-8CE1-AFECB2DA0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139AE-6A7F-4A3F-B55D-EF7BB338D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793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A45D9-8D6E-462F-AC5F-7BB4715F8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11C77-EC1B-4D70-9E27-37B2E6C53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31775-49F7-4A48-B7C0-D9C11BD8F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7C9EE-4580-41D5-B986-FDAE9A068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41C14-7C63-4286-AD36-5C148DD01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63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97A15-60D4-4D51-8523-72BD3AF8B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B8C380-48F3-4C56-AD06-EB8A6D2663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7E5B96-8801-48EC-8518-84940648E4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524000"/>
            <a:ext cx="5181600" cy="4652963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1C1791-8B8D-451F-B33E-480EB0964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850D6A-1B8C-41EC-8155-C991E24F4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E6DD7-BAF3-4453-8ADD-14B605AB9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68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AA53F-EFA9-4935-9BA6-ACD23B63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54075"/>
          </a:xfrm>
        </p:spPr>
        <p:txBody>
          <a:bodyPr>
            <a:normAutofit/>
          </a:bodyPr>
          <a:lstStyle>
            <a:lvl1pPr>
              <a:defRPr sz="36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DD2FFD-3B85-4820-9A85-46D106376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843DD0-9099-4073-9F4D-FA7CE1F1E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AF83C7-3C4A-4E06-A6EC-CCE99DC6B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618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655C52-F4AE-48FF-B7ED-E59B9B30B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70CF46-11FE-48D1-B8B9-CAECA0EDD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6CEEA-32CF-4EDC-B2A9-66DF66C74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78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B7B79-C372-4208-9243-122D500E1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3DEE-3AA0-40D2-B769-CFE4018E1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>
                <a:latin typeface="Book Antiqua" panose="02040602050305030304" pitchFamily="18" charset="0"/>
              </a:defRPr>
            </a:lvl1pPr>
            <a:lvl2pPr>
              <a:defRPr sz="2000">
                <a:latin typeface="Book Antiqua" panose="02040602050305030304" pitchFamily="18" charset="0"/>
              </a:defRPr>
            </a:lvl2pPr>
            <a:lvl3pPr>
              <a:defRPr sz="1800">
                <a:latin typeface="Book Antiqua" panose="02040602050305030304" pitchFamily="18" charset="0"/>
              </a:defRPr>
            </a:lvl3pPr>
            <a:lvl4pPr>
              <a:defRPr sz="1800">
                <a:latin typeface="Book Antiqua" panose="02040602050305030304" pitchFamily="18" charset="0"/>
              </a:defRPr>
            </a:lvl4pPr>
            <a:lvl5pPr>
              <a:defRPr sz="1800">
                <a:latin typeface="Book Antiqua" panose="0204060205030503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9934A8-77AF-408B-B458-B54836913E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DBEAF5-DB43-4606-9EAD-D4DFF04E9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9FE0FD-4B71-401F-8A4E-A66DEE729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7D4E9A-31D9-4729-B33A-373227767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027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6BC55-C3D8-407B-834B-CECFFB5D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>
            <a:lvl1pPr>
              <a:defRPr sz="2800">
                <a:latin typeface="Bookman Old Style" panose="020506040505050202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226BAC-83CF-4F24-B598-08F19EA616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4D9986-C85E-462F-86EC-A99E04E0C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Book Antiqua" panose="0204060205030503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1FD837-8440-405F-8CDC-D907FDE06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8B99F4-866C-4C1F-8FDA-F5B6DE8A7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63BB6-94D8-4898-AC43-C5544E5D6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55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058A4960-2CF9-4F7B-B4C7-6C13F4FEF05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501271" y="2133600"/>
            <a:ext cx="5538329" cy="3031720"/>
          </a:xfrm>
          <a:prstGeom prst="rect">
            <a:avLst/>
          </a:prstGeom>
          <a:solidFill>
            <a:srgbClr val="3536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C0E71FB0-7939-4DDF-A383-231D84E07241}"/>
              </a:ext>
            </a:extLst>
          </p:cNvPr>
          <p:cNvSpPr>
            <a:spLocks/>
          </p:cNvSpPr>
          <p:nvPr userDrawn="1"/>
        </p:nvSpPr>
        <p:spPr bwMode="auto">
          <a:xfrm>
            <a:off x="136585" y="2152291"/>
            <a:ext cx="6694046" cy="3031721"/>
          </a:xfrm>
          <a:custGeom>
            <a:avLst/>
            <a:gdLst>
              <a:gd name="T0" fmla="*/ 4054 w 4054"/>
              <a:gd name="T1" fmla="*/ 804 h 1623"/>
              <a:gd name="T2" fmla="*/ 3860 w 4054"/>
              <a:gd name="T3" fmla="*/ 631 h 1623"/>
              <a:gd name="T4" fmla="*/ 3860 w 4054"/>
              <a:gd name="T5" fmla="*/ 0 h 1623"/>
              <a:gd name="T6" fmla="*/ 0 w 4054"/>
              <a:gd name="T7" fmla="*/ 0 h 1623"/>
              <a:gd name="T8" fmla="*/ 0 w 4054"/>
              <a:gd name="T9" fmla="*/ 1623 h 1623"/>
              <a:gd name="T10" fmla="*/ 3860 w 4054"/>
              <a:gd name="T11" fmla="*/ 1623 h 1623"/>
              <a:gd name="T12" fmla="*/ 3860 w 4054"/>
              <a:gd name="T13" fmla="*/ 976 h 1623"/>
              <a:gd name="T14" fmla="*/ 4054 w 4054"/>
              <a:gd name="T15" fmla="*/ 804 h 16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054" h="1623">
                <a:moveTo>
                  <a:pt x="4054" y="804"/>
                </a:moveTo>
                <a:lnTo>
                  <a:pt x="3860" y="631"/>
                </a:lnTo>
                <a:lnTo>
                  <a:pt x="3860" y="0"/>
                </a:lnTo>
                <a:lnTo>
                  <a:pt x="0" y="0"/>
                </a:lnTo>
                <a:lnTo>
                  <a:pt x="0" y="1623"/>
                </a:lnTo>
                <a:lnTo>
                  <a:pt x="3860" y="1623"/>
                </a:lnTo>
                <a:lnTo>
                  <a:pt x="3860" y="976"/>
                </a:lnTo>
                <a:lnTo>
                  <a:pt x="4054" y="804"/>
                </a:lnTo>
                <a:close/>
              </a:path>
            </a:pathLst>
          </a:custGeom>
          <a:gradFill>
            <a:gsLst>
              <a:gs pos="0">
                <a:srgbClr val="FFFF00">
                  <a:alpha val="30000"/>
                </a:srgbClr>
              </a:gs>
              <a:gs pos="50000">
                <a:srgbClr val="FFFF00">
                  <a:alpha val="52000"/>
                </a:srgb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72567" tIns="36284" rIns="72567" bIns="36284" numCol="1" anchor="t" anchorCtr="0" compatLnSpc="1">
            <a:prstTxWarp prst="textNoShape">
              <a:avLst/>
            </a:prstTxWarp>
          </a:bodyPr>
          <a:lstStyle/>
          <a:p>
            <a:endParaRPr lang="zh-CN" altLang="en-US" sz="1428" dirty="0"/>
          </a:p>
        </p:txBody>
      </p:sp>
      <p:pic>
        <p:nvPicPr>
          <p:cNvPr id="6" name="Picture 5" descr="A picture containing object&#10;&#10;Description automatically generated">
            <a:extLst>
              <a:ext uri="{FF2B5EF4-FFF2-40B4-BE49-F238E27FC236}">
                <a16:creationId xmlns:a16="http://schemas.microsoft.com/office/drawing/2014/main" id="{EE829E3D-5DC5-4C91-B8B5-3B7110E1DE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4046" y="1438"/>
            <a:ext cx="7665790" cy="182736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205C-9ED4-4F7F-9D8A-6727FF2865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400" y="2971800"/>
            <a:ext cx="4776330" cy="685800"/>
          </a:xfrm>
        </p:spPr>
        <p:txBody>
          <a:bodyPr/>
          <a:lstStyle>
            <a:lvl1pPr>
              <a:defRPr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EB8F57-8DD4-44E9-AC18-A7A8C7131C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86600" y="2970663"/>
            <a:ext cx="4191000" cy="914400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bg1"/>
                </a:solidFill>
                <a:latin typeface="Bookman Old Style" panose="02050604050505020204" pitchFamily="18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538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 t="-5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8D7EAF-242D-4B80-9DDE-E75E2110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71D8C2-8A15-46F1-A685-6BDE75347A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8A7B-EC95-43F8-8F85-BA5FC1C30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5AECDF-4D51-4BE2-A52E-75061839962F}" type="datetimeFigureOut">
              <a:rPr lang="en-US" smtClean="0"/>
              <a:t>7/26/2023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938BF8-A7D3-44B9-9393-07DE8B8369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D48635-2CA3-476A-A1E5-2809B06A12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D6110E-6F6A-430F-BA2C-264668399F0E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picture containing racket, holding, hitting, woman&#10;&#10;Description automatically generated">
            <a:extLst>
              <a:ext uri="{FF2B5EF4-FFF2-40B4-BE49-F238E27FC236}">
                <a16:creationId xmlns:a16="http://schemas.microsoft.com/office/drawing/2014/main" id="{1F5731C2-29BF-4169-8176-7D7E8F362DA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3297" y="0"/>
            <a:ext cx="12275297" cy="681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03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szengarden.com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3.org/TR/css3-color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6000" b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E85A57C-D93F-440A-A179-9167EF5297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Web Development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75C1C-3858-44F5-9117-CB658AFD44E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Week #04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F0FE22F1-0CC2-5A5C-70E1-138A2C2F2C7D}"/>
              </a:ext>
            </a:extLst>
          </p:cNvPr>
          <p:cNvSpPr txBox="1">
            <a:spLocks/>
          </p:cNvSpPr>
          <p:nvPr/>
        </p:nvSpPr>
        <p:spPr>
          <a:xfrm>
            <a:off x="7073590" y="2970663"/>
            <a:ext cx="4776330" cy="68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ookman Old Style" panose="02050604050505020204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dirty="0"/>
              <a:t>Week-04</a:t>
            </a:r>
          </a:p>
        </p:txBody>
      </p:sp>
    </p:spTree>
    <p:extLst>
      <p:ext uri="{BB962C8B-B14F-4D97-AF65-F5344CB8AC3E}">
        <p14:creationId xmlns:p14="http://schemas.microsoft.com/office/powerpoint/2010/main" val="715634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75F2-7E6C-4AFF-BF13-FE7D8521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This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E4F70B-992D-45AB-9233-219907CAE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Tables</a:t>
            </a:r>
          </a:p>
          <a:p>
            <a:r>
              <a:rPr lang="en-AU" dirty="0"/>
              <a:t>The DOM</a:t>
            </a:r>
          </a:p>
          <a:p>
            <a:r>
              <a:rPr lang="en-AU" dirty="0"/>
              <a:t>Basic CSS3</a:t>
            </a:r>
          </a:p>
          <a:p>
            <a:r>
              <a:rPr lang="en-AU" dirty="0"/>
              <a:t>Adding styles to pages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21515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ED8117AD-02F2-4A48-B116-85B0699B4C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HTML Table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08664480-E40E-4599-9F63-9CEC111780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Tables are used on web pages </a:t>
            </a:r>
            <a:br>
              <a:rPr lang="en-US" altLang="en-US" dirty="0"/>
            </a:br>
            <a:r>
              <a:rPr lang="en-US" altLang="en-US" dirty="0"/>
              <a:t>to organize tabular information</a:t>
            </a:r>
          </a:p>
          <a:p>
            <a:endParaRPr lang="en-US" altLang="en-US" dirty="0"/>
          </a:p>
          <a:p>
            <a:r>
              <a:rPr lang="en-US" altLang="en-US" dirty="0"/>
              <a:t>Composed of rows and columns – like a spreadsheet.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Each individual table cell is at the intersection of a specific row and column.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Configured with table, tr, and td elements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95C1634-6259-4F0B-8CC6-62800C8581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800" y="4191000"/>
            <a:ext cx="4272829" cy="1985963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B181D53F-C956-4BCA-AF59-FE4AED4008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HTML Table Elements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8C8FD8C-0254-445A-8571-0BE9131196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&lt;table&gt; </a:t>
            </a:r>
            <a:br>
              <a:rPr lang="en-US" altLang="en-US" dirty="0"/>
            </a:br>
            <a:r>
              <a:rPr lang="en-US" altLang="en-US" dirty="0"/>
              <a:t>Contains the table</a:t>
            </a:r>
          </a:p>
          <a:p>
            <a:r>
              <a:rPr lang="en-US" altLang="en-US" dirty="0"/>
              <a:t>&lt;th&gt;</a:t>
            </a:r>
          </a:p>
          <a:p>
            <a:pPr marL="0" indent="0">
              <a:buNone/>
            </a:pPr>
            <a:r>
              <a:rPr lang="en-US" altLang="en-US" dirty="0"/>
              <a:t> Contains a table header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&lt;tr&gt;</a:t>
            </a:r>
            <a:br>
              <a:rPr lang="en-US" altLang="en-US" dirty="0"/>
            </a:br>
            <a:r>
              <a:rPr lang="en-US" altLang="en-US" dirty="0"/>
              <a:t>Contains a table row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&lt;td&gt;</a:t>
            </a:r>
            <a:br>
              <a:rPr lang="en-US" altLang="en-US" dirty="0"/>
            </a:br>
            <a:r>
              <a:rPr lang="en-US" altLang="en-US" dirty="0"/>
              <a:t>Contains a table cell</a:t>
            </a:r>
          </a:p>
          <a:p>
            <a:endParaRPr lang="en-US" altLang="en-US" dirty="0"/>
          </a:p>
          <a:p>
            <a:r>
              <a:rPr lang="en-US" altLang="en-US" dirty="0"/>
              <a:t>&lt;caption&gt; </a:t>
            </a:r>
            <a:br>
              <a:rPr lang="en-US" altLang="en-US" dirty="0"/>
            </a:br>
            <a:r>
              <a:rPr lang="en-US" altLang="en-US" dirty="0"/>
              <a:t>Configures a description of the table</a:t>
            </a: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FD500BF6-9515-4112-97C5-0A8BA65327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HTML Table Example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0A2A2647-DC2C-42D3-B143-261754FCF3F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66800" y="1524000"/>
            <a:ext cx="3048000" cy="4473324"/>
          </a:xfrm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41FCEBE-CD69-41AB-927D-B1C4543D43E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5749155" y="2103437"/>
            <a:ext cx="5376045" cy="2498725"/>
          </a:xfrm>
        </p:spPr>
      </p:pic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11F80D2B-1B0E-428E-8DDE-BF3F3CEF6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HTML border Attribute</a:t>
            </a:r>
          </a:p>
        </p:txBody>
      </p:sp>
      <p:sp>
        <p:nvSpPr>
          <p:cNvPr id="14339" name="Content Placeholder 2">
            <a:extLst>
              <a:ext uri="{FF2B5EF4-FFF2-40B4-BE49-F238E27FC236}">
                <a16:creationId xmlns:a16="http://schemas.microsoft.com/office/drawing/2014/main" id="{DAB00DEC-1A93-4A7E-8219-3C0A3163C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Indicates the table is specifically not used for page layout</a:t>
            </a:r>
          </a:p>
          <a:p>
            <a:endParaRPr lang="en-US" altLang="en-US" dirty="0"/>
          </a:p>
          <a:p>
            <a:pPr lvl="1"/>
            <a:r>
              <a:rPr lang="en-US" altLang="en-US" dirty="0"/>
              <a:t>Optional</a:t>
            </a:r>
          </a:p>
          <a:p>
            <a:pPr lvl="1"/>
            <a:r>
              <a:rPr lang="en-US" altLang="en-US" dirty="0"/>
              <a:t>border=“1”</a:t>
            </a:r>
            <a:br>
              <a:rPr lang="en-US" altLang="en-US" dirty="0"/>
            </a:br>
            <a:r>
              <a:rPr lang="en-US" altLang="en-US" dirty="0"/>
              <a:t>Visible browser default border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/>
              <a:t>border=“”</a:t>
            </a:r>
            <a:br>
              <a:rPr lang="en-US" altLang="en-US" dirty="0"/>
            </a:br>
            <a:r>
              <a:rPr lang="en-US" altLang="en-US" dirty="0"/>
              <a:t>No visible browser default border.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008D92-C3C6-4D78-B448-E0223C3E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0" y="2086405"/>
            <a:ext cx="3581400" cy="44851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>
            <a:extLst>
              <a:ext uri="{FF2B5EF4-FFF2-40B4-BE49-F238E27FC236}">
                <a16:creationId xmlns:a16="http://schemas.microsoft.com/office/drawing/2014/main" id="{07816DAD-9F2B-4414-B08F-4ED42A74D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HTML colspan Attribute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514A151-12AE-439C-B8DE-61AD6E44289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09600" y="1219200"/>
            <a:ext cx="5142064" cy="4800599"/>
          </a:xfr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39B80C2-9366-4D59-893D-1CEE0747960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7329261" y="2228850"/>
            <a:ext cx="3708854" cy="2114550"/>
          </a:xfrm>
        </p:spPr>
      </p:pic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>
            <a:extLst>
              <a:ext uri="{FF2B5EF4-FFF2-40B4-BE49-F238E27FC236}">
                <a16:creationId xmlns:a16="http://schemas.microsoft.com/office/drawing/2014/main" id="{E52877FA-BD4E-4D20-800F-C31795390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HTML rowspan Attribute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D9C8186-27C5-4026-B1B9-98049493419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838200" y="1251857"/>
            <a:ext cx="4114800" cy="4804135"/>
          </a:xfr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27317E5-088D-4A1E-9E24-43741E4BE6D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239692" y="2057400"/>
            <a:ext cx="5324566" cy="1752600"/>
          </a:xfrm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44ABA65A-0890-4473-AE70-2D3E3F43B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Accessibility and Tables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BFD70A0D-D0F4-4B87-9917-3D7AF3F4B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>
                <a:solidFill>
                  <a:srgbClr val="FF0000"/>
                </a:solidFill>
              </a:rPr>
              <a:t>table header </a:t>
            </a:r>
            <a:r>
              <a:rPr lang="en-US" dirty="0"/>
              <a:t>elements (&lt;th&gt; tags) to indicate column or row headings.</a:t>
            </a:r>
          </a:p>
          <a:p>
            <a:endParaRPr lang="en-US" dirty="0"/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FF0000"/>
                </a:solidFill>
              </a:rPr>
              <a:t>summary</a:t>
            </a:r>
            <a:r>
              <a:rPr lang="en-US" dirty="0"/>
              <a:t> attribute on the table element to provide an overview of the purpose and organization of the table.</a:t>
            </a:r>
          </a:p>
          <a:p>
            <a:endParaRPr lang="en-US" dirty="0"/>
          </a:p>
          <a:p>
            <a:r>
              <a:rPr lang="en-US" dirty="0"/>
              <a:t>Use the </a:t>
            </a:r>
            <a:r>
              <a:rPr lang="en-US" b="1" dirty="0">
                <a:solidFill>
                  <a:srgbClr val="FF0000"/>
                </a:solidFill>
              </a:rPr>
              <a:t>caption</a:t>
            </a:r>
            <a:r>
              <a:rPr lang="en-US" dirty="0"/>
              <a:t> element to provide the title/caption for the table.</a:t>
            </a:r>
          </a:p>
          <a:p>
            <a:endParaRPr lang="en-US" dirty="0"/>
          </a:p>
          <a:p>
            <a:r>
              <a:rPr lang="en-US" dirty="0"/>
              <a:t>Other attributes that provide for accessibility: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headers &amp; id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scope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The DOM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ECC9CE-D7A4-4167-91EA-D8D2AC0F20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 dirty="0"/>
              <a:t>Document Object Model (DOM) constructed from HTML</a:t>
            </a:r>
          </a:p>
          <a:p>
            <a:pPr lvl="0"/>
            <a:r>
              <a:rPr lang="en-AU" dirty="0"/>
              <a:t>Nodes in DOM correspond to element instances</a:t>
            </a:r>
          </a:p>
          <a:p>
            <a:pPr lvl="0"/>
            <a:r>
              <a:rPr lang="en-AU" dirty="0"/>
              <a:t>CSS selectors specify DOM nodes</a:t>
            </a:r>
          </a:p>
          <a:p>
            <a:pPr marL="457200" lvl="1" indent="0">
              <a:buNone/>
            </a:pPr>
            <a:r>
              <a:rPr lang="en-AU" dirty="0"/>
              <a:t>–this provides the link between HTML and CSS</a:t>
            </a:r>
            <a:endParaRPr lang="en-AU" sz="800" dirty="0"/>
          </a:p>
          <a:p>
            <a:endParaRPr lang="en-AU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991" y="2667000"/>
            <a:ext cx="3854152" cy="3282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3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6D1045A3-189D-4F6A-B35A-D9D57856FBC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Cascading Style Sheets (CSS)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07A5D2A-22BB-48A3-83F4-650523059C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See what is possible with CSS:</a:t>
            </a:r>
          </a:p>
          <a:p>
            <a:pPr lvl="1"/>
            <a:r>
              <a:rPr lang="en-US" altLang="en-US"/>
              <a:t>Visit </a:t>
            </a:r>
            <a:r>
              <a:rPr lang="en-US" altLang="en-US">
                <a:hlinkClick r:id="rId3"/>
              </a:rPr>
              <a:t>http://www.csszengarden.com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Style Sheets</a:t>
            </a:r>
          </a:p>
          <a:p>
            <a:pPr lvl="1"/>
            <a:r>
              <a:rPr lang="en-US" altLang="en-US"/>
              <a:t>used for years in Desktop Publishing</a:t>
            </a:r>
          </a:p>
          <a:p>
            <a:pPr lvl="1"/>
            <a:r>
              <a:rPr lang="en-US" altLang="en-US"/>
              <a:t>apply typographical styles and spacing to printed media</a:t>
            </a:r>
            <a:br>
              <a:rPr lang="en-US" altLang="en-US"/>
            </a:br>
            <a:endParaRPr lang="en-US" altLang="en-US"/>
          </a:p>
          <a:p>
            <a:r>
              <a:rPr lang="en-US" altLang="en-US"/>
              <a:t>CSS</a:t>
            </a:r>
          </a:p>
          <a:p>
            <a:pPr lvl="1"/>
            <a:r>
              <a:rPr lang="en-US" altLang="en-US"/>
              <a:t>provides the functionality of style sheets (and much more) for web developers</a:t>
            </a:r>
          </a:p>
          <a:p>
            <a:pPr lvl="1"/>
            <a:r>
              <a:rPr lang="en-US" altLang="en-US"/>
              <a:t>a flexible, cross-platform, standards-based language developed by the W3C. </a:t>
            </a: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189E0216-AEB4-4AF0-835F-E9A73A1F1D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CSS  Advantages 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940E22E-13D5-4A32-8216-5A81DA0AEA2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en-US" dirty="0"/>
              <a:t>Greater typography and page layout control</a:t>
            </a:r>
          </a:p>
          <a:p>
            <a:r>
              <a:rPr lang="en-US" altLang="en-US" dirty="0"/>
              <a:t>Style is separate from structure</a:t>
            </a:r>
          </a:p>
          <a:p>
            <a:r>
              <a:rPr lang="en-US" altLang="en-US" dirty="0"/>
              <a:t>Styles can be stored in a separate document and linked to from the web page</a:t>
            </a:r>
          </a:p>
          <a:p>
            <a:r>
              <a:rPr lang="en-US" altLang="en-US" dirty="0"/>
              <a:t>Potentially smaller documents</a:t>
            </a:r>
          </a:p>
          <a:p>
            <a:r>
              <a:rPr lang="en-US" altLang="en-US" dirty="0"/>
              <a:t>Easier site maintenance</a:t>
            </a:r>
          </a:p>
        </p:txBody>
      </p:sp>
      <p:pic>
        <p:nvPicPr>
          <p:cNvPr id="7" name="Picture 4" descr="Figure5.1a.tif">
            <a:extLst>
              <a:ext uri="{FF2B5EF4-FFF2-40B4-BE49-F238E27FC236}">
                <a16:creationId xmlns:a16="http://schemas.microsoft.com/office/drawing/2014/main" id="{23C333C6-19C9-4FA3-B677-6C522A6252D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781800" y="1799118"/>
            <a:ext cx="5132242" cy="2544282"/>
          </a:xfrm>
        </p:spPr>
      </p:pic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B7CD76E9-E321-47F2-ABD6-A9CCE59EB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Types of Cascading Style Sheets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86E5B78-47B4-4D56-B522-ED5C21975D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Inline Styles</a:t>
            </a:r>
          </a:p>
          <a:p>
            <a:r>
              <a:rPr lang="en-US" altLang="en-US"/>
              <a:t>Embedded Styles</a:t>
            </a:r>
          </a:p>
          <a:p>
            <a:r>
              <a:rPr lang="en-US" altLang="en-US"/>
              <a:t>External Styles</a:t>
            </a:r>
          </a:p>
          <a:p>
            <a:r>
              <a:rPr lang="en-US" altLang="en-US"/>
              <a:t>Imported Styles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0A72B6EE-1075-4099-9F9C-28BBE35FB3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1185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D52847BF-BB07-4CE1-9BCB-A2B7CBA0BAA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Description of the Types of CSS 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3FFCB81A-E00F-4138-951D-7CFE9B78E2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Inline Styles</a:t>
            </a:r>
          </a:p>
          <a:p>
            <a:pPr lvl="1"/>
            <a:r>
              <a:rPr lang="en-US" dirty="0"/>
              <a:t>Configured in the body of the web page </a:t>
            </a:r>
          </a:p>
          <a:p>
            <a:pPr lvl="1"/>
            <a:r>
              <a:rPr lang="en-US" dirty="0"/>
              <a:t>Use the style attribute of an HTML tag</a:t>
            </a:r>
          </a:p>
          <a:p>
            <a:pPr lvl="1"/>
            <a:r>
              <a:rPr lang="en-US" dirty="0"/>
              <a:t>Apply only to the specific element</a:t>
            </a:r>
          </a:p>
          <a:p>
            <a:r>
              <a:rPr lang="en-US" b="1" dirty="0">
                <a:solidFill>
                  <a:srgbClr val="FF0000"/>
                </a:solidFill>
              </a:rPr>
              <a:t>Embedded Styles</a:t>
            </a:r>
          </a:p>
          <a:p>
            <a:pPr lvl="1"/>
            <a:r>
              <a:rPr lang="en-US" dirty="0"/>
              <a:t>Configured in the head section of a web page. </a:t>
            </a:r>
          </a:p>
          <a:p>
            <a:pPr lvl="1"/>
            <a:r>
              <a:rPr lang="en-US" dirty="0"/>
              <a:t>Use the HTML &lt;style&gt; element</a:t>
            </a:r>
          </a:p>
          <a:p>
            <a:pPr lvl="1"/>
            <a:r>
              <a:rPr lang="en-US" dirty="0"/>
              <a:t>Apply to the entire web page document</a:t>
            </a:r>
          </a:p>
          <a:p>
            <a:r>
              <a:rPr lang="en-US" b="1" dirty="0">
                <a:solidFill>
                  <a:srgbClr val="FF0000"/>
                </a:solidFill>
              </a:rPr>
              <a:t>External Styles</a:t>
            </a:r>
          </a:p>
          <a:p>
            <a:pPr lvl="1"/>
            <a:r>
              <a:rPr lang="en-US" dirty="0"/>
              <a:t>Configured in a separate text file with .</a:t>
            </a:r>
            <a:r>
              <a:rPr lang="en-US" dirty="0" err="1"/>
              <a:t>css</a:t>
            </a:r>
            <a:r>
              <a:rPr lang="en-US" dirty="0"/>
              <a:t> file extension</a:t>
            </a:r>
          </a:p>
          <a:p>
            <a:pPr lvl="1"/>
            <a:r>
              <a:rPr lang="en-US" dirty="0"/>
              <a:t>The HTML &lt;link&gt; element in the head section of a web page associates it with the .</a:t>
            </a:r>
            <a:r>
              <a:rPr lang="en-US" dirty="0" err="1"/>
              <a:t>css</a:t>
            </a:r>
            <a:r>
              <a:rPr lang="en-US" dirty="0"/>
              <a:t> file</a:t>
            </a:r>
          </a:p>
          <a:p>
            <a:r>
              <a:rPr lang="en-US" b="1" dirty="0">
                <a:solidFill>
                  <a:srgbClr val="FF0000"/>
                </a:solidFill>
              </a:rPr>
              <a:t>Imported Styles</a:t>
            </a:r>
          </a:p>
          <a:p>
            <a:pPr lvl="1"/>
            <a:r>
              <a:rPr lang="en-US" dirty="0"/>
              <a:t>Similar to External Styles</a:t>
            </a:r>
          </a:p>
          <a:p>
            <a:pPr lvl="1"/>
            <a:r>
              <a:rPr lang="en-US" dirty="0"/>
              <a:t>We’ll concentrate on the other three types of styles.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03F00B84-9C54-45C4-9021-095E7B5AB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1185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A7FE0025-0FAC-4D1C-A761-6B959C83D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The “Cascade”</a:t>
            </a:r>
          </a:p>
        </p:txBody>
      </p:sp>
      <p:pic>
        <p:nvPicPr>
          <p:cNvPr id="8" name="Picture 4" descr="Figure5.3.tif">
            <a:extLst>
              <a:ext uri="{FF2B5EF4-FFF2-40B4-BE49-F238E27FC236}">
                <a16:creationId xmlns:a16="http://schemas.microsoft.com/office/drawing/2014/main" id="{366EB484-0750-4B9C-8B9A-5328CECC0BC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567358"/>
            <a:ext cx="6172200" cy="4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C313843F-D6C5-448B-9AF6-EE4E7BF76A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CSS Syntax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746BB7E5-0EA1-4AF5-B85E-4DAF94980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1295400"/>
            <a:ext cx="10515600" cy="4881563"/>
          </a:xfrm>
        </p:spPr>
        <p:txBody>
          <a:bodyPr/>
          <a:lstStyle/>
          <a:p>
            <a:r>
              <a:rPr lang="en-US" altLang="en-US" dirty="0"/>
              <a:t>Style sheets are composed of  "Rules" that describe the styling to be applied. 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dirty="0"/>
              <a:t>Each rule contains a Selector and a Declaration </a:t>
            </a:r>
          </a:p>
        </p:txBody>
      </p:sp>
      <p:sp>
        <p:nvSpPr>
          <p:cNvPr id="14341" name="Rectangle 6">
            <a:extLst>
              <a:ext uri="{FF2B5EF4-FFF2-40B4-BE49-F238E27FC236}">
                <a16:creationId xmlns:a16="http://schemas.microsoft.com/office/drawing/2014/main" id="{F030CF8A-2652-41B5-B283-DA6F8D9D59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27860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4342" name="Picture 6" descr="Figure5.2.tif">
            <a:extLst>
              <a:ext uri="{FF2B5EF4-FFF2-40B4-BE49-F238E27FC236}">
                <a16:creationId xmlns:a16="http://schemas.microsoft.com/office/drawing/2014/main" id="{ADD2CB87-A3BD-4B54-9500-A981F34D5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3016896"/>
            <a:ext cx="84582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9E1B1165-354B-41F0-A278-999F3D91A5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CSS Syntax Sample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767D9A8F-EBD3-44F1-94B1-B1E78C17FC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Configure a web page to display blue text and yellow background.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body { color:  blue;</a:t>
            </a:r>
          </a:p>
          <a:p>
            <a:r>
              <a:rPr lang="en-US" dirty="0"/>
              <a:t>             background-color:  yellow; }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This could also be written using hexadecimal color values as shown below.</a:t>
            </a:r>
            <a:br>
              <a:rPr lang="en-US" dirty="0"/>
            </a:br>
            <a:endParaRPr lang="en-US" dirty="0"/>
          </a:p>
          <a:p>
            <a:r>
              <a:rPr lang="en-US" dirty="0"/>
              <a:t>body { color:  #0000FF;</a:t>
            </a:r>
          </a:p>
          <a:p>
            <a:r>
              <a:rPr lang="en-US" dirty="0"/>
              <a:t>             background-color:  #FFFF00; }</a:t>
            </a: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D0F88A83-FF0C-45BD-B6F5-DDBFBD26E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438" y="27860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5366" name="Picture 6" descr="Figure5.2.tif">
            <a:extLst>
              <a:ext uri="{FF2B5EF4-FFF2-40B4-BE49-F238E27FC236}">
                <a16:creationId xmlns:a16="http://schemas.microsoft.com/office/drawing/2014/main" id="{3568A363-0766-4131-B450-4753E06F9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1594" y="4433593"/>
            <a:ext cx="4865688" cy="1414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699DCF2C-C56B-4B73-82D7-CB3D7BF8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chemeClr val="bg1"/>
                </a:solidFill>
              </a:rPr>
              <a:t>CSS Syntax for Color Values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549B236-6B52-487D-BB08-86B65BED52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2569685"/>
              </p:ext>
            </p:extLst>
          </p:nvPr>
        </p:nvGraphicFramePr>
        <p:xfrm>
          <a:off x="228600" y="1295400"/>
          <a:ext cx="11353800" cy="4761832"/>
        </p:xfrm>
        <a:graphic>
          <a:graphicData uri="http://schemas.openxmlformats.org/drawingml/2006/table">
            <a:tbl>
              <a:tblPr firstRow="1"/>
              <a:tblGrid>
                <a:gridCol w="3581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5441">
                <a:tc gridSpan="2">
                  <a:txBody>
                    <a:bodyPr/>
                    <a:lstStyle/>
                    <a:p>
                      <a:pPr marL="76200" marR="0" indent="228600">
                        <a:lnSpc>
                          <a:spcPts val="1100"/>
                        </a:lnSpc>
                        <a:spcBef>
                          <a:spcPts val="0"/>
                        </a:spcBef>
                        <a:spcAft>
                          <a:spcPts val="900"/>
                        </a:spcAft>
                      </a:pPr>
                      <a:endParaRPr lang="en-US" sz="36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p { color: red }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Color name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p { color: #FF0000 }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Hexadecimal color value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436"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p { color: #F00 }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Shorthand hexadecimal (one character for each hexadecimal pair – only used with web safe colors)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147"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p { color: rgb(255,0,0) }</a:t>
                      </a:r>
                      <a:endParaRPr lang="en-US" sz="280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Decimal color value (RGB triplet)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90946"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p { color: 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rgba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(255,0,0,0.5) }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CSS3: Decimal color value (RGB triplet) followed by the alpha opacity (a value from 0 to 1). </a:t>
                      </a: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The CSS3 Color Module is in draft status and is not yet uniformly supported by browsers.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07934">
                <a:tc>
                  <a:txBody>
                    <a:bodyPr/>
                    <a:lstStyle/>
                    <a:p>
                      <a:pPr marL="76200" marR="0" indent="0" algn="l" defTabSz="914400" rtl="0" eaLnBrk="1" fontAlgn="auto" latinLnBrk="0" hangingPunct="1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kern="12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p { color: </a:t>
                      </a:r>
                      <a:r>
                        <a:rPr kumimoji="0" lang="en-US" sz="2000" kern="1200" dirty="0" err="1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hsl</a:t>
                      </a:r>
                      <a:r>
                        <a:rPr kumimoji="0" lang="en-US" sz="2000" kern="1200" dirty="0">
                          <a:solidFill>
                            <a:schemeClr val="tx1"/>
                          </a:solidFill>
                          <a:latin typeface="Cambria"/>
                          <a:ea typeface="SimSun"/>
                          <a:cs typeface="Times New Roman"/>
                        </a:rPr>
                        <a:t>(0, 100%, 50%) }</a:t>
                      </a:r>
                    </a:p>
                    <a:p>
                      <a:pPr marL="76200" marR="0" indent="0">
                        <a:lnSpc>
                          <a:spcPct val="2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endParaRPr lang="en-US" sz="2800" dirty="0">
                        <a:solidFill>
                          <a:schemeClr val="bg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76200" marR="0" inden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</a:pPr>
                      <a:r>
                        <a:rPr kumimoji="0" lang="en-US" sz="2000" kern="120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HSL color values.</a:t>
                      </a:r>
                      <a:r>
                        <a:rPr kumimoji="0" lang="en-US" sz="2000" kern="1200" baseline="0" dirty="0">
                          <a:solidFill>
                            <a:schemeClr val="tx1"/>
                          </a:solidFill>
                          <a:latin typeface="Arial"/>
                          <a:ea typeface="SimSun"/>
                          <a:cs typeface="Times New Roman"/>
                        </a:rPr>
                        <a:t> </a:t>
                      </a: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+mn-lt"/>
                          <a:ea typeface="SimSun"/>
                          <a:cs typeface="Times New Roman"/>
                        </a:rPr>
                        <a:t>The CSS3 Color Module is in draft status and is not yet uniformly supported by browsers.</a:t>
                      </a:r>
                      <a:br>
                        <a:rPr lang="en-US" sz="2000" i="1" dirty="0">
                          <a:solidFill>
                            <a:schemeClr val="tx1"/>
                          </a:solidFill>
                          <a:latin typeface="+mn-lt"/>
                          <a:ea typeface="SimSun"/>
                          <a:cs typeface="Times New Roman"/>
                        </a:rPr>
                      </a:br>
                      <a:r>
                        <a:rPr lang="en-US" sz="2000" i="1" dirty="0">
                          <a:solidFill>
                            <a:schemeClr val="tx1"/>
                          </a:solidFill>
                          <a:latin typeface="+mn-lt"/>
                          <a:ea typeface="SimSun"/>
                          <a:cs typeface="Times New Roman"/>
                        </a:rPr>
                        <a:t>See </a:t>
                      </a:r>
                      <a:r>
                        <a:rPr kumimoji="0" lang="en-US" sz="2000" i="1" kern="1200" dirty="0">
                          <a:solidFill>
                            <a:schemeClr val="tx1"/>
                          </a:solidFill>
                          <a:latin typeface="+mn-lt"/>
                          <a:ea typeface="SimSun"/>
                          <a:cs typeface="Times New Roman"/>
                          <a:hlinkClick r:id="rId2"/>
                        </a:rPr>
                        <a:t>http://www.w3.org/TR/css3-color/#hsl-color</a:t>
                      </a:r>
                      <a:endParaRPr kumimoji="0" lang="en-US" sz="2000" i="1" kern="1200" dirty="0">
                        <a:solidFill>
                          <a:schemeClr val="tx1"/>
                        </a:solidFill>
                        <a:latin typeface="+mn-lt"/>
                        <a:ea typeface="SimSu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454D7DDF-FBDA-4302-A1C1-930FA16D11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Inline CSS with the Style Attribute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ADD2E7EC-2BCB-43B4-9E0F-A99944D7D6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Inline CSS</a:t>
            </a:r>
          </a:p>
          <a:p>
            <a:pPr lvl="1"/>
            <a:r>
              <a:rPr lang="en-US" altLang="en-US" dirty="0"/>
              <a:t>Configured in the body of the Web page </a:t>
            </a:r>
          </a:p>
          <a:p>
            <a:pPr lvl="1"/>
            <a:r>
              <a:rPr lang="en-US" altLang="en-US" dirty="0"/>
              <a:t>Use the style attribute of an HTML tag</a:t>
            </a:r>
          </a:p>
          <a:p>
            <a:pPr lvl="1"/>
            <a:r>
              <a:rPr lang="en-US" altLang="en-US" dirty="0"/>
              <a:t>Apply only to the specific element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 The Style Attribute</a:t>
            </a:r>
          </a:p>
          <a:p>
            <a:pPr lvl="1"/>
            <a:r>
              <a:rPr lang="en-US" altLang="en-US" dirty="0"/>
              <a:t>Value: one or more style declaration property and value pairs</a:t>
            </a:r>
          </a:p>
          <a:p>
            <a:r>
              <a:rPr lang="en-US" altLang="en-US" dirty="0"/>
              <a:t>Examples</a:t>
            </a:r>
          </a:p>
          <a:p>
            <a:r>
              <a:rPr lang="en-US" altLang="en-US" dirty="0"/>
              <a:t>	&lt;h1 style="color:#ff0000"&gt;Heading text is red&lt;/h1&gt;</a:t>
            </a:r>
          </a:p>
        </p:txBody>
      </p:sp>
      <p:sp>
        <p:nvSpPr>
          <p:cNvPr id="17413" name="Rectangle 4">
            <a:extLst>
              <a:ext uri="{FF2B5EF4-FFF2-40B4-BE49-F238E27FC236}">
                <a16:creationId xmlns:a16="http://schemas.microsoft.com/office/drawing/2014/main" id="{38B0BD69-3DAA-40F7-A097-672898FED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0100" y="11858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03427" name="Picture 3">
            <a:extLst>
              <a:ext uri="{FF2B5EF4-FFF2-40B4-BE49-F238E27FC236}">
                <a16:creationId xmlns:a16="http://schemas.microsoft.com/office/drawing/2014/main" id="{F3F5EDD6-846B-4CF8-89D1-B75F4C627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10100" y="5438773"/>
            <a:ext cx="260985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1134B259-341A-4B40-9646-99AD55D00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Embedded CSS with the Style Element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1727AFDC-1A2C-4E4A-9E94-A560A345C3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rgbClr val="FF0000"/>
                </a:solidFill>
              </a:rPr>
              <a:t>Configured in the head section </a:t>
            </a:r>
            <a:r>
              <a:rPr lang="en-US" altLang="en-US" dirty="0"/>
              <a:t>of a web page. </a:t>
            </a:r>
          </a:p>
          <a:p>
            <a:r>
              <a:rPr lang="en-US" altLang="en-US" dirty="0"/>
              <a:t>Use the HTML &lt;style&gt; element</a:t>
            </a:r>
          </a:p>
          <a:p>
            <a:r>
              <a:rPr lang="en-US" altLang="en-US" dirty="0"/>
              <a:t>Apply to the entire web page document</a:t>
            </a:r>
          </a:p>
          <a:p>
            <a:r>
              <a:rPr lang="en-US" altLang="en-US" dirty="0"/>
              <a:t>Style declarations are contained between the opening and closing &lt;style&gt; tags</a:t>
            </a:r>
          </a:p>
          <a:p>
            <a:r>
              <a:rPr lang="en-US" altLang="en-US" dirty="0"/>
              <a:t>The optional type attribute indicates the MIME type of text/</a:t>
            </a:r>
            <a:r>
              <a:rPr lang="en-US" altLang="en-US" dirty="0" err="1"/>
              <a:t>css</a:t>
            </a:r>
            <a:endParaRPr lang="en-US" altLang="en-US" dirty="0"/>
          </a:p>
          <a:p>
            <a:r>
              <a:rPr lang="en-US" altLang="en-US" dirty="0"/>
              <a:t>Example:</a:t>
            </a:r>
          </a:p>
          <a:p>
            <a:pPr marL="0" indent="0">
              <a:buNone/>
              <a:defRPr/>
            </a:pPr>
            <a:r>
              <a:rPr lang="en-US" i="1" dirty="0">
                <a:solidFill>
                  <a:srgbClr val="FF0000"/>
                </a:solidFill>
                <a:cs typeface="Times New Roman" pitchFamily="18" charset="0"/>
              </a:rPr>
              <a:t>&lt;style&gt;</a:t>
            </a:r>
          </a:p>
          <a:p>
            <a:pPr marL="0" indent="0">
              <a:buNone/>
              <a:defRPr/>
            </a:pPr>
            <a:r>
              <a:rPr lang="en-US" i="1" dirty="0">
                <a:solidFill>
                  <a:srgbClr val="FF0000"/>
                </a:solidFill>
                <a:cs typeface="Times New Roman" pitchFamily="18" charset="0"/>
              </a:rPr>
              <a:t>body { background-color: #000000;      color: #FFFFFF; }</a:t>
            </a:r>
          </a:p>
          <a:p>
            <a:pPr marL="0" indent="0">
              <a:buNone/>
              <a:defRPr/>
            </a:pPr>
            <a:r>
              <a:rPr lang="en-US" i="1" dirty="0">
                <a:solidFill>
                  <a:srgbClr val="FF0000"/>
                </a:solidFill>
                <a:cs typeface="Times New Roman" pitchFamily="18" charset="0"/>
              </a:rPr>
              <a:t>&lt;/style&gt; </a:t>
            </a:r>
          </a:p>
          <a:p>
            <a:endParaRPr lang="en-US" altLang="en-US" dirty="0"/>
          </a:p>
        </p:txBody>
      </p:sp>
      <p:sp>
        <p:nvSpPr>
          <p:cNvPr id="19460" name="Slide Number Placeholder 5">
            <a:extLst>
              <a:ext uri="{FF2B5EF4-FFF2-40B4-BE49-F238E27FC236}">
                <a16:creationId xmlns:a16="http://schemas.microsoft.com/office/drawing/2014/main" id="{F007B4A8-1191-4C27-AE45-7A1C2172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fld id="{868D7E09-8C79-42D1-BE80-A3A0999B2A59}" type="slidenum">
              <a:rPr lang="en-US" altLang="en-US"/>
              <a:pPr/>
              <a:t>20</a:t>
            </a:fld>
            <a:endParaRPr lang="en-US" altLang="en-US"/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CA11F084-5F56-4AEB-BE4E-A42968885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CSS Embedded Styles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7C6C4AB-F70B-4432-9DFD-DB89745EF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itchFamily="34" charset="0"/>
              <a:buChar char="•"/>
              <a:defRPr/>
            </a:pPr>
            <a:endParaRPr lang="en-US" sz="2400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en-US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en-US" sz="2400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en-US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en-US" sz="2400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endParaRPr lang="en-US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cs typeface="Arial" charset="0"/>
              </a:rPr>
              <a:t> The body selector sets the global style rules for the entire page.</a:t>
            </a:r>
            <a:br>
              <a:rPr lang="en-US" sz="2400" dirty="0">
                <a:cs typeface="Arial" charset="0"/>
              </a:rPr>
            </a:br>
            <a:endParaRPr lang="en-US" sz="2400" dirty="0">
              <a:cs typeface="Arial" charset="0"/>
            </a:endParaRPr>
          </a:p>
          <a:p>
            <a:pPr>
              <a:buFont typeface="Arial" pitchFamily="34" charset="0"/>
              <a:buChar char="•"/>
              <a:defRPr/>
            </a:pPr>
            <a:r>
              <a:rPr lang="en-US" sz="2400" dirty="0">
                <a:cs typeface="Arial" charset="0"/>
              </a:rPr>
              <a:t> These global rules are overridden for &lt;h1&gt; and &lt;h2&gt; elements by the h1 and h2 style rules.</a:t>
            </a:r>
          </a:p>
          <a:p>
            <a:endParaRPr lang="en-AU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3007E1E-1FAA-4616-B54B-C6B0C1C2CC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1314060"/>
            <a:ext cx="9220200" cy="283914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 t="-26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C3B360-2FD3-4C4A-9158-79C4598A2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609600"/>
            <a:ext cx="1144905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288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050">
            <a:extLst>
              <a:ext uri="{FF2B5EF4-FFF2-40B4-BE49-F238E27FC236}">
                <a16:creationId xmlns:a16="http://schemas.microsoft.com/office/drawing/2014/main" id="{822272D1-9E31-4D3D-9C1B-A6B1141323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External Style Sheets </a:t>
            </a:r>
          </a:p>
        </p:txBody>
      </p:sp>
      <p:sp>
        <p:nvSpPr>
          <p:cNvPr id="20483" name="Rectangle 2051">
            <a:extLst>
              <a:ext uri="{FF2B5EF4-FFF2-40B4-BE49-F238E27FC236}">
                <a16:creationId xmlns:a16="http://schemas.microsoft.com/office/drawing/2014/main" id="{9AC386B4-7259-4D6E-BCE7-F78C8C759D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CSS style rules are contained in a text file separate from the HTML documents. </a:t>
            </a:r>
          </a:p>
          <a:p>
            <a:endParaRPr lang="en-US" altLang="en-US" dirty="0"/>
          </a:p>
          <a:p>
            <a:r>
              <a:rPr lang="en-US" altLang="en-US" dirty="0"/>
              <a:t>The External Style Sheet text file: </a:t>
            </a:r>
          </a:p>
          <a:p>
            <a:pPr lvl="1"/>
            <a:r>
              <a:rPr lang="en-US" altLang="en-US" dirty="0"/>
              <a:t>extension ".</a:t>
            </a:r>
            <a:r>
              <a:rPr lang="en-US" altLang="en-US" dirty="0" err="1"/>
              <a:t>css</a:t>
            </a:r>
            <a:r>
              <a:rPr lang="en-US" altLang="en-US" dirty="0"/>
              <a:t>" </a:t>
            </a:r>
          </a:p>
          <a:p>
            <a:pPr lvl="1"/>
            <a:r>
              <a:rPr lang="en-US" altLang="en-US" dirty="0"/>
              <a:t>contains only style rules</a:t>
            </a:r>
          </a:p>
          <a:p>
            <a:pPr lvl="1"/>
            <a:r>
              <a:rPr lang="en-US" altLang="en-US" dirty="0"/>
              <a:t>does not contain any HTML tags</a:t>
            </a:r>
          </a:p>
          <a:p>
            <a:pPr lvl="1"/>
            <a:endParaRPr lang="en-US" altLang="en-US" dirty="0"/>
          </a:p>
          <a:p>
            <a:pPr lvl="1"/>
            <a:r>
              <a:rPr lang="en-US" altLang="en-US" dirty="0">
                <a:cs typeface="Arial" panose="020B0604020202020204" pitchFamily="34" charset="0"/>
              </a:rPr>
              <a:t>Multiple web pages can associate with the same external style sheet file.</a:t>
            </a:r>
          </a:p>
          <a:p>
            <a:pPr lvl="1"/>
            <a:endParaRPr lang="en-US" altLang="en-US" dirty="0"/>
          </a:p>
          <a:p>
            <a:pPr lvl="1"/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61" name="Rectangle 2">
            <a:extLst>
              <a:ext uri="{FF2B5EF4-FFF2-40B4-BE49-F238E27FC236}">
                <a16:creationId xmlns:a16="http://schemas.microsoft.com/office/drawing/2014/main" id="{52CCC26A-5356-4C0E-8EFE-1AD142EFF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External Style Sheets - 2</a:t>
            </a:r>
          </a:p>
        </p:txBody>
      </p:sp>
      <p:sp>
        <p:nvSpPr>
          <p:cNvPr id="39938" name="AutoShape 16">
            <a:extLst>
              <a:ext uri="{FF2B5EF4-FFF2-40B4-BE49-F238E27FC236}">
                <a16:creationId xmlns:a16="http://schemas.microsoft.com/office/drawing/2014/main" id="{5DB6BBD7-E8CE-460D-922D-F25BE74E0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2825" y="2362200"/>
            <a:ext cx="4343400" cy="4114800"/>
          </a:xfrm>
          <a:prstGeom prst="leftArrowCallout">
            <a:avLst>
              <a:gd name="adj1" fmla="val 25000"/>
              <a:gd name="adj2" fmla="val 25000"/>
              <a:gd name="adj3" fmla="val 19137"/>
              <a:gd name="adj4" fmla="val 66667"/>
            </a:avLst>
          </a:prstGeom>
          <a:solidFill>
            <a:schemeClr val="tx2">
              <a:lumMod val="25000"/>
              <a:alpha val="59000"/>
            </a:schemeClr>
          </a:solidFill>
          <a:ln w="2857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cs typeface="Arial" charset="0"/>
            </a:endParaRPr>
          </a:p>
        </p:txBody>
      </p:sp>
      <p:sp>
        <p:nvSpPr>
          <p:cNvPr id="21513" name="AutoShape 11">
            <a:extLst>
              <a:ext uri="{FF2B5EF4-FFF2-40B4-BE49-F238E27FC236}">
                <a16:creationId xmlns:a16="http://schemas.microsoft.com/office/drawing/2014/main" id="{ACAEC171-26DB-4125-89EC-C83E992EB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5029200"/>
            <a:ext cx="1295400" cy="1219200"/>
          </a:xfrm>
          <a:prstGeom prst="roundRect">
            <a:avLst>
              <a:gd name="adj" fmla="val 16667"/>
            </a:avLst>
          </a:prstGeom>
          <a:solidFill>
            <a:srgbClr val="EAEAEA">
              <a:alpha val="4901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800"/>
          </a:p>
        </p:txBody>
      </p:sp>
      <p:sp>
        <p:nvSpPr>
          <p:cNvPr id="21514" name="AutoShape 6">
            <a:extLst>
              <a:ext uri="{FF2B5EF4-FFF2-40B4-BE49-F238E27FC236}">
                <a16:creationId xmlns:a16="http://schemas.microsoft.com/office/drawing/2014/main" id="{2EF70C98-DF62-419B-9FBF-B82CE6502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6200" y="2667000"/>
            <a:ext cx="1295400" cy="1066800"/>
          </a:xfrm>
          <a:prstGeom prst="roundRect">
            <a:avLst>
              <a:gd name="adj" fmla="val 16667"/>
            </a:avLst>
          </a:prstGeom>
          <a:solidFill>
            <a:srgbClr val="EAEAEA">
              <a:alpha val="5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index.html</a:t>
            </a:r>
          </a:p>
        </p:txBody>
      </p:sp>
      <p:sp>
        <p:nvSpPr>
          <p:cNvPr id="21515" name="AutoShape 7">
            <a:extLst>
              <a:ext uri="{FF2B5EF4-FFF2-40B4-BE49-F238E27FC236}">
                <a16:creationId xmlns:a16="http://schemas.microsoft.com/office/drawing/2014/main" id="{590641F8-5AB3-4235-826E-378483132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400" y="3581400"/>
            <a:ext cx="1219200" cy="1066800"/>
          </a:xfrm>
          <a:prstGeom prst="roundRect">
            <a:avLst>
              <a:gd name="adj" fmla="val 16667"/>
            </a:avLst>
          </a:prstGeom>
          <a:solidFill>
            <a:srgbClr val="EAEAEA">
              <a:alpha val="5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clients.html</a:t>
            </a:r>
          </a:p>
        </p:txBody>
      </p:sp>
      <p:sp>
        <p:nvSpPr>
          <p:cNvPr id="21516" name="AutoShape 8">
            <a:extLst>
              <a:ext uri="{FF2B5EF4-FFF2-40B4-BE49-F238E27FC236}">
                <a16:creationId xmlns:a16="http://schemas.microsoft.com/office/drawing/2014/main" id="{9972734D-0957-4142-96CE-6ECA24DE9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86800" y="4419600"/>
            <a:ext cx="1219200" cy="1066800"/>
          </a:xfrm>
          <a:prstGeom prst="roundRect">
            <a:avLst>
              <a:gd name="adj" fmla="val 16667"/>
            </a:avLst>
          </a:prstGeom>
          <a:solidFill>
            <a:srgbClr val="EAEAEA">
              <a:alpha val="5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800"/>
              <a:t>about.html</a:t>
            </a:r>
          </a:p>
        </p:txBody>
      </p:sp>
      <p:sp>
        <p:nvSpPr>
          <p:cNvPr id="21517" name="Text Box 17">
            <a:extLst>
              <a:ext uri="{FF2B5EF4-FFF2-40B4-BE49-F238E27FC236}">
                <a16:creationId xmlns:a16="http://schemas.microsoft.com/office/drawing/2014/main" id="{550CCB02-EC35-48A2-8999-006B4CD67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96401" y="5638800"/>
            <a:ext cx="8937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/>
              <a:t>Etc…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B05968-BD2B-4B1B-ABF0-05161B80C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79" y="2362200"/>
            <a:ext cx="4695510" cy="3705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CF81A5-160A-40D4-976F-6FB486F456F2}"/>
              </a:ext>
            </a:extLst>
          </p:cNvPr>
          <p:cNvSpPr txBox="1"/>
          <p:nvPr/>
        </p:nvSpPr>
        <p:spPr>
          <a:xfrm>
            <a:off x="2209800" y="1777425"/>
            <a:ext cx="2185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siteStyle.css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4" name="Rectangle 2">
            <a:extLst>
              <a:ext uri="{FF2B5EF4-FFF2-40B4-BE49-F238E27FC236}">
                <a16:creationId xmlns:a16="http://schemas.microsoft.com/office/drawing/2014/main" id="{10CAAEBB-6698-4C75-95F4-F5CAF5EE6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&lt;link&gt; Element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AE2B2FAB-95EB-4C9B-A502-BEAEB66C11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 self-contained tag </a:t>
            </a:r>
          </a:p>
          <a:p>
            <a:r>
              <a:rPr lang="en-US" altLang="en-US"/>
              <a:t>Placed in the header section</a:t>
            </a:r>
          </a:p>
          <a:p>
            <a:r>
              <a:rPr lang="en-US" altLang="en-US"/>
              <a:t>Purpose: associates the external style sheet file with the web page. </a:t>
            </a:r>
          </a:p>
          <a:p>
            <a:r>
              <a:rPr lang="en-US" altLang="en-US"/>
              <a:t>Example:</a:t>
            </a:r>
          </a:p>
          <a:p>
            <a:endParaRPr lang="en-US" altLang="en-US"/>
          </a:p>
        </p:txBody>
      </p:sp>
      <p:sp>
        <p:nvSpPr>
          <p:cNvPr id="22533" name="Rectangle 5">
            <a:extLst>
              <a:ext uri="{FF2B5EF4-FFF2-40B4-BE49-F238E27FC236}">
                <a16:creationId xmlns:a16="http://schemas.microsoft.com/office/drawing/2014/main" id="{D52E0BBC-B3E5-4766-8EE3-D326EA39F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4600" y="4343400"/>
            <a:ext cx="7924800" cy="685800"/>
          </a:xfrm>
          <a:prstGeom prst="rect">
            <a:avLst/>
          </a:prstGeom>
          <a:solidFill>
            <a:srgbClr val="EAEAEA">
              <a:alpha val="4392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534" name="Text Box 4">
            <a:extLst>
              <a:ext uri="{FF2B5EF4-FFF2-40B4-BE49-F238E27FC236}">
                <a16:creationId xmlns:a16="http://schemas.microsoft.com/office/drawing/2014/main" id="{B6DAFF60-BA96-4B71-A5C1-E67629B98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4419601"/>
            <a:ext cx="548481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b="1"/>
              <a:t>&lt;link rel="stylesheet" href="color.css"&gt;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26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1AC0DE-F184-455D-A947-E0DC3FA5C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554" y="838200"/>
            <a:ext cx="9650046" cy="515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47840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 t="-26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24CEC98-DEC1-43FB-9297-C68FECE1FB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" y="838200"/>
            <a:ext cx="1144905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726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66722-80F4-4358-A03A-B90207A37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>
                <a:solidFill>
                  <a:schemeClr val="bg1"/>
                </a:solidFill>
              </a:rPr>
              <a:t>Next Week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B393-0F2E-4B7F-A349-A00432CBDA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Forms </a:t>
            </a:r>
          </a:p>
          <a:p>
            <a:r>
              <a:rPr lang="en-AU" dirty="0"/>
              <a:t>Advanced CSS</a:t>
            </a:r>
          </a:p>
          <a:p>
            <a:r>
              <a:rPr lang="en-AU" dirty="0"/>
              <a:t>Designing the navigation </a:t>
            </a:r>
            <a:r>
              <a:rPr lang="en-AU"/>
              <a:t>for a website</a:t>
            </a:r>
            <a:r>
              <a:rPr lang="en-A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6929720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5B60CE4C-EDC0-496D-AE6D-84B42325BD16}" vid="{64883BDB-BA55-4845-887F-AD4C7C3254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WIN Lecture Final template-T1-2022</Template>
  <TotalTime>337</TotalTime>
  <Words>1105</Words>
  <Application>Microsoft Office PowerPoint</Application>
  <PresentationFormat>Widescreen</PresentationFormat>
  <Paragraphs>188</Paragraphs>
  <Slides>28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Arial</vt:lpstr>
      <vt:lpstr>Book Antiqua</vt:lpstr>
      <vt:lpstr>Bookman Old Style</vt:lpstr>
      <vt:lpstr>Calibri</vt:lpstr>
      <vt:lpstr>Calibri Light</vt:lpstr>
      <vt:lpstr>Cambria</vt:lpstr>
      <vt:lpstr>Times New Roman</vt:lpstr>
      <vt:lpstr>Verdana</vt:lpstr>
      <vt:lpstr>Theme2</vt:lpstr>
      <vt:lpstr>PowerPoint Presentation</vt:lpstr>
      <vt:lpstr>This Week</vt:lpstr>
      <vt:lpstr>HTML Table</vt:lpstr>
      <vt:lpstr>HTML Table Elements</vt:lpstr>
      <vt:lpstr>HTML Table Example</vt:lpstr>
      <vt:lpstr>HTML border Attribute</vt:lpstr>
      <vt:lpstr>HTML colspan Attribute</vt:lpstr>
      <vt:lpstr>HTML rowspan Attribute</vt:lpstr>
      <vt:lpstr>Accessibility and Tables</vt:lpstr>
      <vt:lpstr>The DOM</vt:lpstr>
      <vt:lpstr>Cascading Style Sheets (CSS)</vt:lpstr>
      <vt:lpstr>CSS  Advantages </vt:lpstr>
      <vt:lpstr>Types of Cascading Style Sheets</vt:lpstr>
      <vt:lpstr>Description of the Types of CSS </vt:lpstr>
      <vt:lpstr>The “Cascade”</vt:lpstr>
      <vt:lpstr>CSS Syntax</vt:lpstr>
      <vt:lpstr>CSS Syntax Sample</vt:lpstr>
      <vt:lpstr>CSS Syntax for Color Values</vt:lpstr>
      <vt:lpstr>Inline CSS with the Style Attribute</vt:lpstr>
      <vt:lpstr>Embedded CSS with the Style Element</vt:lpstr>
      <vt:lpstr>CSS Embedded Styles</vt:lpstr>
      <vt:lpstr>PowerPoint Presentation</vt:lpstr>
      <vt:lpstr>External Style Sheets </vt:lpstr>
      <vt:lpstr>External Style Sheets - 2</vt:lpstr>
      <vt:lpstr>The &lt;link&gt; Element</vt:lpstr>
      <vt:lpstr>PowerPoint Presentation</vt:lpstr>
      <vt:lpstr>PowerPoint Presentation</vt:lpstr>
      <vt:lpstr>Next Week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Sai Kiran Lakkaraju</dc:creator>
  <cp:lastModifiedBy>Ali Aljaafreh</cp:lastModifiedBy>
  <cp:revision>12</cp:revision>
  <dcterms:created xsi:type="dcterms:W3CDTF">2022-03-12T12:34:51Z</dcterms:created>
  <dcterms:modified xsi:type="dcterms:W3CDTF">2023-07-26T02:35:00Z</dcterms:modified>
</cp:coreProperties>
</file>