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0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1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24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60" r:id="rId4"/>
    <p:sldId id="262" r:id="rId5"/>
    <p:sldId id="273" r:id="rId6"/>
    <p:sldId id="275" r:id="rId7"/>
    <p:sldId id="277" r:id="rId8"/>
    <p:sldId id="281" r:id="rId9"/>
    <p:sldId id="282" r:id="rId10"/>
    <p:sldId id="317" r:id="rId11"/>
    <p:sldId id="285" r:id="rId12"/>
    <p:sldId id="287" r:id="rId13"/>
    <p:sldId id="288" r:id="rId14"/>
    <p:sldId id="289" r:id="rId15"/>
    <p:sldId id="322" r:id="rId16"/>
    <p:sldId id="321" r:id="rId17"/>
    <p:sldId id="301" r:id="rId18"/>
    <p:sldId id="302" r:id="rId19"/>
    <p:sldId id="311" r:id="rId20"/>
    <p:sldId id="312" r:id="rId21"/>
    <p:sldId id="330" r:id="rId22"/>
    <p:sldId id="314" r:id="rId23"/>
    <p:sldId id="315" r:id="rId24"/>
    <p:sldId id="331" r:id="rId25"/>
    <p:sldId id="332" r:id="rId26"/>
    <p:sldId id="320" r:id="rId27"/>
    <p:sldId id="319" r:id="rId28"/>
    <p:sldId id="324" r:id="rId29"/>
    <p:sldId id="323" r:id="rId30"/>
    <p:sldId id="325" r:id="rId31"/>
    <p:sldId id="326" r:id="rId32"/>
    <p:sldId id="327" r:id="rId33"/>
    <p:sldId id="328" r:id="rId34"/>
    <p:sldId id="329" r:id="rId35"/>
    <p:sldId id="31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4B5394-50EE-42AF-843B-BF8E7B4B15F7}">
          <p14:sldIdLst>
            <p14:sldId id="256"/>
            <p14:sldId id="257"/>
            <p14:sldId id="260"/>
            <p14:sldId id="262"/>
            <p14:sldId id="273"/>
            <p14:sldId id="275"/>
            <p14:sldId id="277"/>
            <p14:sldId id="281"/>
            <p14:sldId id="282"/>
            <p14:sldId id="317"/>
            <p14:sldId id="285"/>
            <p14:sldId id="287"/>
            <p14:sldId id="288"/>
            <p14:sldId id="289"/>
            <p14:sldId id="322"/>
            <p14:sldId id="321"/>
          </p14:sldIdLst>
        </p14:section>
        <p14:section name="CSS advanced" id="{4F0F5E90-9256-40F8-BA24-7D1F988D9C1D}">
          <p14:sldIdLst>
            <p14:sldId id="301"/>
            <p14:sldId id="302"/>
            <p14:sldId id="311"/>
            <p14:sldId id="312"/>
            <p14:sldId id="330"/>
            <p14:sldId id="314"/>
            <p14:sldId id="315"/>
            <p14:sldId id="331"/>
            <p14:sldId id="332"/>
            <p14:sldId id="320"/>
            <p14:sldId id="319"/>
            <p14:sldId id="324"/>
            <p14:sldId id="323"/>
            <p14:sldId id="325"/>
            <p14:sldId id="326"/>
            <p14:sldId id="327"/>
            <p14:sldId id="328"/>
            <p14:sldId id="329"/>
          </p14:sldIdLst>
        </p14:section>
        <p14:section name="Next Week" id="{FD86B605-444E-4BCA-826D-771DBC58A369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75229" autoAdjust="0"/>
  </p:normalViewPr>
  <p:slideViewPr>
    <p:cSldViewPr>
      <p:cViewPr varScale="1">
        <p:scale>
          <a:sx n="86" d="100"/>
          <a:sy n="86" d="100"/>
        </p:scale>
        <p:origin x="78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F1B1C-EF43-42DF-8D93-6D1AA054F092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D68BF-496A-42D2-A159-C1EBC09BAB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84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59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58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77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5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Without the name attribute the output of the code will be blank.</a:t>
            </a:r>
          </a:p>
          <a:p>
            <a:endParaRPr lang="en-US" dirty="0"/>
          </a:p>
          <a:p>
            <a:r>
              <a:rPr lang="en-US" dirty="0"/>
              <a:t>In the string add name=“</a:t>
            </a:r>
            <a:r>
              <a:rPr lang="en-US" dirty="0" err="1"/>
              <a:t>fname</a:t>
            </a:r>
            <a:r>
              <a:rPr lang="en-US" dirty="0"/>
              <a:t>” and show the output.</a:t>
            </a:r>
          </a:p>
          <a:p>
            <a:r>
              <a:rPr lang="en-US" dirty="0"/>
              <a:t>&lt;input type="text" id="</a:t>
            </a:r>
            <a:r>
              <a:rPr lang="en-US" dirty="0" err="1"/>
              <a:t>fname</a:t>
            </a:r>
            <a:r>
              <a:rPr lang="en-US" dirty="0"/>
              <a:t>" name="</a:t>
            </a:r>
            <a:r>
              <a:rPr lang="en-US" dirty="0" err="1"/>
              <a:t>fname</a:t>
            </a:r>
            <a:r>
              <a:rPr lang="en-US" dirty="0"/>
              <a:t>" value="John"&gt;&lt;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18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65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85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00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88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067CAF56-31B5-4DF2-AC53-04DB1A234D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205E4E3A-F4A0-4A34-BC4E-37C9639FF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665AD869-3D0C-466B-A308-F2622A083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9A6D0A-4AB2-4DE5-8B10-3A1C63B13BC4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17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862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2C0E936E-E9DC-457F-A7F4-DF08318B12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829FF328-9D16-4922-A5C9-895927D90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Let us choose one style and stick to it.</a:t>
            </a:r>
          </a:p>
          <a:p>
            <a:endParaRPr lang="en-US" altLang="en-US" dirty="0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A76D77B1-92DE-4D71-9FE7-DF622E147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876FD4-ECD3-4807-B632-1F8784F80349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18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797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ECDE120E-DDBB-4BDE-B88C-11124E785E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938C2FAD-B9F2-4105-8003-36B85851C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3F183CC6-DD90-46B0-93FB-7B94B227E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9F7C1F-4975-4920-9760-D197D33468CA}" type="slidenum">
              <a:rPr kumimoji="0" lang="en-US" altLang="en-US" sz="130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19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0D46D2C7-4369-42E1-B731-F384C38931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025679EB-8CA1-408F-A6E6-D58A56443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DC985D64-5115-4060-B915-023698A1E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3C1C94-8744-4D10-BC62-12DF01E8A944}" type="slidenum">
              <a:rPr kumimoji="0" lang="en-US" altLang="en-US" sz="130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20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241673D0-693C-4E1C-A836-A002B21E1C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6A28BDC0-3332-45F9-9375-C0DA28935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6C6D30BF-003E-4CDC-8DF4-5B8F4DEBE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A480022-0DC5-45AC-93AD-318BB962088F}" type="slidenum">
              <a:rPr kumimoji="0" lang="en-US" altLang="en-US" sz="130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21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433DF400-7BAC-48BD-9DFC-5E581871C5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4EC33B2D-CEB4-44D9-8BC7-01DC69F06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D40DE2F1-1A69-4869-841B-A62C38169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0F5C9E-6E3B-4AC4-9E75-6B570B1E5298}" type="slidenum">
              <a:rPr kumimoji="0" lang="en-US" altLang="en-US" sz="130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22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46413A9A-223E-4207-9D3D-1C1D55B82B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230431CA-BC10-4C52-A811-EC606E3DC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141C7C87-AF68-4917-92E4-687A78D2A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837C8AA-5C9F-46D3-9A93-F9B2C764CCFB}" type="slidenum">
              <a:rPr kumimoji="0" lang="en-US" altLang="en-US" sz="130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23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3C53BEDE-2682-4F49-BCC6-D76900154D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B896D260-A826-4EAC-8B2D-3E5B79D6A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D59A6989-64C8-4B19-82A9-17B337E91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8AA5AB-E905-4E01-AEC5-22CCB79A7FEA}" type="slidenum">
              <a:rPr kumimoji="0" lang="en-US" altLang="en-US" sz="130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24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742976C8-D300-4156-9A0D-6431263BAA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7131E9A-8689-4306-AEFE-88C52BCCD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4AFB7890-D519-4033-8CBC-9859315E2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CF554DF-DDDE-4D0C-83EB-686D8568D5C6}" type="slidenum">
              <a:rPr kumimoji="0" lang="en-US" altLang="en-US" sz="130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25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41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772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10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727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678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517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788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903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741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dirty="0"/>
              <a:t>HTML forms</a:t>
            </a:r>
            <a:r>
              <a:rPr lang="en-US" dirty="0"/>
              <a:t>​</a:t>
            </a:r>
          </a:p>
          <a:p>
            <a:pPr lvl="1"/>
            <a:r>
              <a:rPr lang="en-AU" dirty="0"/>
              <a:t>–controls</a:t>
            </a:r>
            <a:r>
              <a:rPr lang="en-US" dirty="0"/>
              <a:t>​</a:t>
            </a:r>
          </a:p>
          <a:p>
            <a:pPr lvl="1"/>
            <a:r>
              <a:rPr lang="en-AU" dirty="0"/>
              <a:t>–labels</a:t>
            </a:r>
            <a:r>
              <a:rPr lang="en-US" dirty="0"/>
              <a:t>​</a:t>
            </a:r>
          </a:p>
          <a:p>
            <a:pPr lvl="1"/>
            <a:r>
              <a:rPr lang="en-AU" dirty="0"/>
              <a:t>–input validation</a:t>
            </a:r>
            <a:r>
              <a:rPr lang="en-US" dirty="0"/>
              <a:t>​</a:t>
            </a:r>
          </a:p>
          <a:p>
            <a:r>
              <a:rPr lang="en-AU" dirty="0"/>
              <a:t>CSS3 selectors</a:t>
            </a:r>
            <a:r>
              <a:rPr lang="en-US" dirty="0"/>
              <a:t>​</a:t>
            </a:r>
          </a:p>
          <a:p>
            <a:r>
              <a:rPr lang="en-AU" dirty="0"/>
              <a:t>CSS3 units</a:t>
            </a:r>
            <a:r>
              <a:rPr lang="en-US" dirty="0"/>
              <a:t>​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68BF-496A-42D2-A159-C1EBC09BAB5B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480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B22C-E7C2-4D9B-9C3E-B3770423D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EA447-2275-4903-97D5-0EF4EF264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0323C-6842-42A1-AE34-80EECC96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285F-01C7-4064-AF1F-C986D711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61DB0-E754-4632-BADF-5CEE7CA7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7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E172-530A-4D1A-B2C5-91C70AE4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4E0C8-7DCF-48A5-B01B-72B77AC44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D8764-6F1E-416E-88F1-C40EC896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A7AD7-758F-437C-8CE1-AFECB2DA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139AE-6A7F-4A3F-B55D-EF7BB338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9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45D9-8D6E-462F-AC5F-7BB4715F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11C77-EC1B-4D70-9E27-37B2E6C53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31775-49F7-4A48-B7C0-D9C11BD8F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7C9EE-4580-41D5-B986-FDAE9A06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1C14-7C63-4286-AD36-5C148DD0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3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A15-60D4-4D51-8523-72BD3AF8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C380-48F3-4C56-AD06-EB8A6D266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E5B96-8801-48EC-8518-84940648E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C1791-8B8D-451F-B33E-480EB0964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50D6A-1B8C-41EC-8155-C991E24F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E6DD7-BAF3-4453-8ADD-14B605AB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6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A53F-EFA9-4935-9BA6-ACD23B63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D2FFD-3B85-4820-9A85-46D10637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43DD0-9099-4073-9F4D-FA7CE1F1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F83C7-3C4A-4E06-A6EC-CCE99DC6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1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55C52-F4AE-48FF-B7ED-E59B9B30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0CF46-11FE-48D1-B8B9-CAECA0ED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EEA-32CF-4EDC-B2A9-66DF66C7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8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7B79-C372-4208-9243-122D500E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D3DEE-3AA0-40D2-B769-CFE4018E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934A8-77AF-408B-B458-B54836913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AF5-DB43-4606-9EAD-D4DFF04E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FE0FD-4B71-401F-8A4E-A66DEE72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D4E9A-31D9-4729-B33A-37322776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2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BC55-C3D8-407B-834B-CECFFB5D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26BAC-83CF-4F24-B598-08F19EA61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D9986-C85E-462F-86EC-A99E04E0C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FD837-8440-405F-8CDC-D907FDE0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B99F4-866C-4C1F-8FDA-F5B6DE8A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63BB6-94D8-4898-AC43-C5544E5D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5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58A4960-2CF9-4F7B-B4C7-6C13F4FEF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01271" y="2133600"/>
            <a:ext cx="5538329" cy="3031720"/>
          </a:xfrm>
          <a:prstGeom prst="rect">
            <a:avLst/>
          </a:prstGeom>
          <a:solidFill>
            <a:srgbClr val="3536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C0E71FB0-7939-4DDF-A383-231D84E07241}"/>
              </a:ext>
            </a:extLst>
          </p:cNvPr>
          <p:cNvSpPr>
            <a:spLocks/>
          </p:cNvSpPr>
          <p:nvPr userDrawn="1"/>
        </p:nvSpPr>
        <p:spPr bwMode="auto">
          <a:xfrm>
            <a:off x="136585" y="2152291"/>
            <a:ext cx="6694046" cy="3031721"/>
          </a:xfrm>
          <a:custGeom>
            <a:avLst/>
            <a:gdLst>
              <a:gd name="T0" fmla="*/ 4054 w 4054"/>
              <a:gd name="T1" fmla="*/ 804 h 1623"/>
              <a:gd name="T2" fmla="*/ 3860 w 4054"/>
              <a:gd name="T3" fmla="*/ 631 h 1623"/>
              <a:gd name="T4" fmla="*/ 3860 w 4054"/>
              <a:gd name="T5" fmla="*/ 0 h 1623"/>
              <a:gd name="T6" fmla="*/ 0 w 4054"/>
              <a:gd name="T7" fmla="*/ 0 h 1623"/>
              <a:gd name="T8" fmla="*/ 0 w 4054"/>
              <a:gd name="T9" fmla="*/ 1623 h 1623"/>
              <a:gd name="T10" fmla="*/ 3860 w 4054"/>
              <a:gd name="T11" fmla="*/ 1623 h 1623"/>
              <a:gd name="T12" fmla="*/ 3860 w 4054"/>
              <a:gd name="T13" fmla="*/ 976 h 1623"/>
              <a:gd name="T14" fmla="*/ 4054 w 4054"/>
              <a:gd name="T15" fmla="*/ 804 h 1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054" h="1623">
                <a:moveTo>
                  <a:pt x="4054" y="804"/>
                </a:moveTo>
                <a:lnTo>
                  <a:pt x="3860" y="631"/>
                </a:lnTo>
                <a:lnTo>
                  <a:pt x="3860" y="0"/>
                </a:lnTo>
                <a:lnTo>
                  <a:pt x="0" y="0"/>
                </a:lnTo>
                <a:lnTo>
                  <a:pt x="0" y="1623"/>
                </a:lnTo>
                <a:lnTo>
                  <a:pt x="3860" y="1623"/>
                </a:lnTo>
                <a:lnTo>
                  <a:pt x="3860" y="976"/>
                </a:lnTo>
                <a:lnTo>
                  <a:pt x="4054" y="804"/>
                </a:lnTo>
                <a:close/>
              </a:path>
            </a:pathLst>
          </a:custGeom>
          <a:gradFill>
            <a:gsLst>
              <a:gs pos="0">
                <a:srgbClr val="FFFF00">
                  <a:alpha val="30000"/>
                </a:srgbClr>
              </a:gs>
              <a:gs pos="50000">
                <a:srgbClr val="FFFF00">
                  <a:alpha val="52000"/>
                </a:srgb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 dirty="0"/>
          </a:p>
        </p:txBody>
      </p:sp>
      <p:pic>
        <p:nvPicPr>
          <p:cNvPr id="6" name="Picture 5" descr="A picture containing object&#10;&#10;Description automatically generated">
            <a:extLst>
              <a:ext uri="{FF2B5EF4-FFF2-40B4-BE49-F238E27FC236}">
                <a16:creationId xmlns:a16="http://schemas.microsoft.com/office/drawing/2014/main" id="{EE829E3D-5DC5-4C91-B8B5-3B7110E1DE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046" y="1438"/>
            <a:ext cx="7665790" cy="182736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205C-9ED4-4F7F-9D8A-6727FF2865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2971800"/>
            <a:ext cx="4776330" cy="685800"/>
          </a:xfrm>
        </p:spPr>
        <p:txBody>
          <a:bodyPr/>
          <a:lstStyle>
            <a:lvl1pPr>
              <a:defRPr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B8F57-8DD4-44E9-AC18-A7A8C7131C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86600" y="2970663"/>
            <a:ext cx="4191000" cy="91440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538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5000" r="-1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D7EAF-242D-4B80-9DDE-E75E2110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1D8C2-8A15-46F1-A685-6BDE75347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E8A7B-EC95-43F8-8F85-BA5FC1C30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38BF8-A7D3-44B9-9393-07DE8B836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48635-2CA3-476A-A1E5-2809B06A1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racket, holding, hitting, woman&#10;&#10;Description automatically generated">
            <a:extLst>
              <a:ext uri="{FF2B5EF4-FFF2-40B4-BE49-F238E27FC236}">
                <a16:creationId xmlns:a16="http://schemas.microsoft.com/office/drawing/2014/main" id="{1F5731C2-29BF-4169-8176-7D7E8F362D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297" y="0"/>
            <a:ext cx="12275297" cy="681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9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11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hyperlink" Target="https://www.w3schools.com/html/tryit.asp?filename=tryhtml_form_submit_id" TargetMode="Externa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hyperlink" Target="https://www.w3schools.com/css/css_combinators.asp" TargetMode="Externa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23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22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25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24.png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26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hyperlink" Target="https://www.w3schools.com/css/css_pseudo_elements.asp" TargetMode="Externa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7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28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hyperlink" Target="https://www.w3schools.com/css/tryit.asp?filename=trycss_link" TargetMode="External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31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hyperlink" Target="https://www.w3schools.com/cssref/css_units.asp" TargetMode="External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85A57C-D93F-440A-A179-9167EF5297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Web Development 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829F048-0C6D-D370-A2E3-89A531E05DA7}"/>
              </a:ext>
            </a:extLst>
          </p:cNvPr>
          <p:cNvSpPr txBox="1">
            <a:spLocks/>
          </p:cNvSpPr>
          <p:nvPr/>
        </p:nvSpPr>
        <p:spPr>
          <a:xfrm>
            <a:off x="6248400" y="2970663"/>
            <a:ext cx="477633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Week-05</a:t>
            </a:r>
          </a:p>
        </p:txBody>
      </p:sp>
    </p:spTree>
    <p:extLst>
      <p:ext uri="{BB962C8B-B14F-4D97-AF65-F5344CB8AC3E}">
        <p14:creationId xmlns:p14="http://schemas.microsoft.com/office/powerpoint/2010/main" val="71563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75F2-7E6C-4AFF-BF13-FE7D8521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4F70B-992D-45AB-9233-219907CAE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Forms </a:t>
            </a:r>
          </a:p>
          <a:p>
            <a:r>
              <a:rPr lang="en-AU" dirty="0"/>
              <a:t>Advanced CSS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1515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9FA6422-E169-4E7B-86B6-AB00BCFD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Forms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38200" y="1660849"/>
            <a:ext cx="10515600" cy="4516114"/>
          </a:xfrm>
        </p:spPr>
        <p:txBody>
          <a:bodyPr/>
          <a:lstStyle/>
          <a:p>
            <a:pPr lvl="0"/>
            <a:r>
              <a:rPr lang="en-AU" dirty="0"/>
              <a:t>Used to gather information from users</a:t>
            </a:r>
          </a:p>
          <a:p>
            <a:pPr lvl="0"/>
            <a:r>
              <a:rPr lang="en-AU" dirty="0"/>
              <a:t>Sent to the server (usually POST HTTP request)</a:t>
            </a:r>
          </a:p>
          <a:p>
            <a:pPr lvl="0"/>
            <a:r>
              <a:rPr lang="en-AU" dirty="0"/>
              <a:t>Require back-end processing on the server</a:t>
            </a:r>
          </a:p>
          <a:p>
            <a:pPr lvl="0"/>
            <a:r>
              <a:rPr lang="en-AU" dirty="0"/>
              <a:t>Example</a:t>
            </a:r>
          </a:p>
          <a:p>
            <a:pPr lvl="0"/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04" y="3429000"/>
            <a:ext cx="7514551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5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The &lt;form&gt; Element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CBAE5ED-8472-4BAE-B5EC-95C315072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The HTML </a:t>
            </a:r>
            <a:r>
              <a:rPr lang="en-AU" b="1" i="1" dirty="0">
                <a:solidFill>
                  <a:srgbClr val="FF0000"/>
                </a:solidFill>
              </a:rPr>
              <a:t>&lt;form&gt; </a:t>
            </a:r>
            <a:r>
              <a:rPr lang="en-AU" dirty="0"/>
              <a:t>element is used to create an HTML form for user input</a:t>
            </a:r>
          </a:p>
          <a:p>
            <a:pPr lvl="0"/>
            <a:endParaRPr lang="en-AU" dirty="0"/>
          </a:p>
          <a:p>
            <a:pPr lvl="0"/>
            <a:r>
              <a:rPr lang="en-AU" dirty="0"/>
              <a:t>The &lt;form&gt; element is a container for different types of input elements, such as: </a:t>
            </a:r>
            <a:r>
              <a:rPr lang="en-AU" i="1" dirty="0"/>
              <a:t>text fields, checkboxes, radio buttons, submit buttons</a:t>
            </a:r>
            <a:r>
              <a:rPr lang="en-AU" dirty="0"/>
              <a:t>, etc.</a:t>
            </a:r>
          </a:p>
          <a:p>
            <a:endParaRPr lang="en-AU" dirty="0"/>
          </a:p>
          <a:p>
            <a:r>
              <a:rPr lang="en-AU" i="1" dirty="0">
                <a:solidFill>
                  <a:srgbClr val="FF0000"/>
                </a:solidFill>
              </a:rPr>
              <a:t>&lt;form&gt;</a:t>
            </a:r>
          </a:p>
          <a:p>
            <a:endParaRPr lang="en-AU" dirty="0"/>
          </a:p>
          <a:p>
            <a:pPr lvl="1"/>
            <a:r>
              <a:rPr lang="en-AU" dirty="0"/>
              <a:t>Form elements</a:t>
            </a:r>
          </a:p>
          <a:p>
            <a:r>
              <a:rPr lang="en-AU" i="1" dirty="0">
                <a:solidFill>
                  <a:srgbClr val="FF0000"/>
                </a:solidFill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3979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The &lt;input&gt; Element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en-AU" dirty="0"/>
              <a:t>The HTML </a:t>
            </a:r>
            <a:r>
              <a:rPr lang="en-AU" b="1" i="1" dirty="0">
                <a:solidFill>
                  <a:srgbClr val="FF0000"/>
                </a:solidFill>
              </a:rPr>
              <a:t>&lt;input&gt; </a:t>
            </a:r>
            <a:r>
              <a:rPr lang="en-AU" dirty="0"/>
              <a:t>element is the most used form element.</a:t>
            </a:r>
          </a:p>
          <a:p>
            <a:pPr lvl="0"/>
            <a:r>
              <a:rPr lang="en-AU" dirty="0"/>
              <a:t>An &lt;input&gt; element can be displayed in many ways, depending on the type attribute.</a:t>
            </a:r>
          </a:p>
          <a:p>
            <a:pPr lvl="0"/>
            <a:r>
              <a:rPr lang="en-AU" dirty="0"/>
              <a:t>Here are some examples:</a:t>
            </a:r>
          </a:p>
          <a:p>
            <a:pPr lvl="0"/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3419143"/>
            <a:ext cx="9825441" cy="25244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6588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Text Fields</a:t>
            </a:r>
          </a:p>
        </p:txBody>
      </p:sp>
      <p:sp>
        <p:nvSpPr>
          <p:cNvPr id="14344" name="Rectangle 8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The </a:t>
            </a:r>
            <a:r>
              <a:rPr lang="en-AU" b="1" i="1" dirty="0">
                <a:solidFill>
                  <a:srgbClr val="FF0000"/>
                </a:solidFill>
              </a:rPr>
              <a:t>&lt;input type="text"&gt; </a:t>
            </a:r>
            <a:r>
              <a:rPr lang="en-AU" dirty="0"/>
              <a:t>defines a single-line input field for text input.</a:t>
            </a:r>
          </a:p>
          <a:p>
            <a:r>
              <a:rPr lang="en-AU" dirty="0"/>
              <a:t>A form with input fields for text:</a:t>
            </a:r>
          </a:p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2947900"/>
            <a:ext cx="5875845" cy="1881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159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The &lt;label&gt; Element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The </a:t>
            </a:r>
            <a:r>
              <a:rPr lang="en-AU" b="1" i="1" dirty="0">
                <a:solidFill>
                  <a:srgbClr val="FF0000"/>
                </a:solidFill>
              </a:rPr>
              <a:t>&lt;label&gt; </a:t>
            </a:r>
            <a:r>
              <a:rPr lang="en-AU" dirty="0"/>
              <a:t>tag defines a label for many form elements.</a:t>
            </a:r>
          </a:p>
          <a:p>
            <a:pPr lvl="0"/>
            <a:r>
              <a:rPr lang="en-AU" dirty="0"/>
              <a:t>The &lt;label&gt; element is useful for </a:t>
            </a:r>
            <a:r>
              <a:rPr lang="en-AU" u="sng" dirty="0"/>
              <a:t>screen-reader users</a:t>
            </a:r>
            <a:r>
              <a:rPr lang="en-AU" dirty="0"/>
              <a:t>, because the screen-reader will read out loud the label when the user focus on the input element.</a:t>
            </a:r>
          </a:p>
          <a:p>
            <a:pPr lvl="0"/>
            <a:r>
              <a:rPr lang="en-AU" dirty="0"/>
              <a:t>The &lt;label&gt; element also </a:t>
            </a:r>
            <a:r>
              <a:rPr lang="en-AU" u="sng" dirty="0"/>
              <a:t>help users who have difficulty clicking </a:t>
            </a:r>
            <a:r>
              <a:rPr lang="en-AU" dirty="0"/>
              <a:t>on very small regions (such as radio buttons or checkboxes) - because when the user clicks the text within the &lt;label&gt; element, it toggles the radio button/checkbox.</a:t>
            </a:r>
          </a:p>
          <a:p>
            <a:pPr lvl="0"/>
            <a:r>
              <a:rPr lang="en-AU" dirty="0"/>
              <a:t>The</a:t>
            </a:r>
            <a:r>
              <a:rPr lang="en-AU" b="1" i="1" dirty="0">
                <a:solidFill>
                  <a:srgbClr val="FF0000"/>
                </a:solidFill>
              </a:rPr>
              <a:t> for </a:t>
            </a:r>
            <a:r>
              <a:rPr lang="en-AU" dirty="0"/>
              <a:t>attribute of the &lt;label&gt; tag should be equal to the id attribute of the &lt;input&gt; element to bind them together.</a:t>
            </a:r>
          </a:p>
        </p:txBody>
      </p:sp>
    </p:spTree>
    <p:extLst>
      <p:ext uri="{BB962C8B-B14F-4D97-AF65-F5344CB8AC3E}">
        <p14:creationId xmlns:p14="http://schemas.microsoft.com/office/powerpoint/2010/main" val="3777817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Radio Buttons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en-AU" dirty="0"/>
              <a:t>The &lt;input type="radio"&gt; defines a radio button.</a:t>
            </a:r>
          </a:p>
          <a:p>
            <a:pPr lvl="0"/>
            <a:r>
              <a:rPr lang="en-AU" dirty="0"/>
              <a:t>Radio buttons let a user select ONE of a limited number of choices.</a:t>
            </a:r>
          </a:p>
          <a:p>
            <a:pPr lvl="0"/>
            <a:r>
              <a:rPr lang="en-AU" dirty="0"/>
              <a:t>A form with radio buttons:</a:t>
            </a:r>
          </a:p>
          <a:p>
            <a:pPr lvl="0"/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866228"/>
            <a:ext cx="8858010" cy="29249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4600" y="3081337"/>
            <a:ext cx="1666354" cy="14144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6800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Checkboxes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en-AU" dirty="0"/>
              <a:t>The </a:t>
            </a:r>
            <a:r>
              <a:rPr lang="en-AU" b="1" i="1" dirty="0">
                <a:solidFill>
                  <a:srgbClr val="FF0000"/>
                </a:solidFill>
              </a:rPr>
              <a:t>&lt;input type="checkbox"&gt; </a:t>
            </a:r>
            <a:r>
              <a:rPr lang="en-AU" dirty="0"/>
              <a:t>defines a checkbox.</a:t>
            </a:r>
          </a:p>
          <a:p>
            <a:pPr lvl="0"/>
            <a:r>
              <a:rPr lang="en-AU" dirty="0"/>
              <a:t>Checkboxes let a user select ZERO or MORE options of a limited number of choices.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13" y="2808460"/>
            <a:ext cx="9242576" cy="28303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830" y="3396343"/>
            <a:ext cx="1680952" cy="955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2703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The Submit Button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The </a:t>
            </a:r>
            <a:r>
              <a:rPr lang="en-AU" b="1" i="1" dirty="0">
                <a:solidFill>
                  <a:srgbClr val="FF0000"/>
                </a:solidFill>
              </a:rPr>
              <a:t>&lt;input type="submit"&gt; </a:t>
            </a:r>
            <a:r>
              <a:rPr lang="en-AU" dirty="0"/>
              <a:t>defines a button for submitting the form data to a form-handler.</a:t>
            </a:r>
          </a:p>
          <a:p>
            <a:pPr lvl="0"/>
            <a:r>
              <a:rPr lang="en-AU" dirty="0"/>
              <a:t>The form-handler is typically a file on the server with a script for processing input data.</a:t>
            </a:r>
          </a:p>
          <a:p>
            <a:pPr lvl="0"/>
            <a:r>
              <a:rPr lang="en-AU" dirty="0"/>
              <a:t>The form-handler is specified in the form's action attribute.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1A6120-AF08-4AF2-9044-73C3FE62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88" y="3722914"/>
            <a:ext cx="7962406" cy="21444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808B46-7B26-4A4A-9541-CCF8E51E1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605" y="3722914"/>
            <a:ext cx="3216729" cy="214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1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The Name Attribute for &lt;input&gt;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en-AU" dirty="0"/>
              <a:t>Notice that each input field must have a name attribute to be submitted.</a:t>
            </a:r>
          </a:p>
          <a:p>
            <a:pPr lvl="0"/>
            <a:r>
              <a:rPr lang="en-AU" dirty="0"/>
              <a:t>If the name attribute is omitted, the value of the input field will not be sent at all.</a:t>
            </a:r>
          </a:p>
          <a:p>
            <a:pPr lvl="0"/>
            <a:r>
              <a:rPr lang="en-AU" dirty="0">
                <a:hlinkClick r:id="rId6"/>
              </a:rPr>
              <a:t>https://www.w3schools.com/html/tryit.asp?filename=tryhtml_form_submit_id</a:t>
            </a:r>
            <a:endParaRPr lang="en-AU" dirty="0"/>
          </a:p>
          <a:p>
            <a:pPr lvl="0"/>
            <a:endParaRPr lang="en-A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762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The Action Attribute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action attribute defines the action to be performed when the form is submitted.</a:t>
            </a:r>
          </a:p>
          <a:p>
            <a:r>
              <a:rPr lang="en-AU" dirty="0"/>
              <a:t>Usually, the form data is sent to a file on the server when the user clicks on the submit button.</a:t>
            </a:r>
          </a:p>
          <a:p>
            <a:r>
              <a:rPr lang="en-AU" dirty="0"/>
              <a:t>In the example below, the form data is sent to a file called "</a:t>
            </a:r>
            <a:r>
              <a:rPr lang="en-AU" dirty="0" err="1"/>
              <a:t>action_page.php</a:t>
            </a:r>
            <a:r>
              <a:rPr lang="en-AU" dirty="0"/>
              <a:t>". This file contains a server-side script that handles the form data:</a:t>
            </a:r>
            <a:br>
              <a:rPr lang="en-AU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19" y="4509120"/>
            <a:ext cx="7107771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98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The Method Attribute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The method attribute specifies the HTTP method to be used when submitting the form data.</a:t>
            </a:r>
          </a:p>
          <a:p>
            <a:endParaRPr lang="en-AU" dirty="0"/>
          </a:p>
          <a:p>
            <a:r>
              <a:rPr lang="en-AU" dirty="0"/>
              <a:t>The form-data can be sent as URL variables (with method="get") or as HTTP post transaction (with method="post").</a:t>
            </a:r>
          </a:p>
          <a:p>
            <a:endParaRPr lang="en-AU" dirty="0"/>
          </a:p>
          <a:p>
            <a:r>
              <a:rPr lang="en-AU" dirty="0"/>
              <a:t>The default HTTP method when submitting form data is GET. 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0156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Notes on GET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Appends the form data to the URL, in name/value pairs</a:t>
            </a:r>
          </a:p>
          <a:p>
            <a:endParaRPr lang="en-AU" dirty="0"/>
          </a:p>
          <a:p>
            <a:r>
              <a:rPr lang="en-AU" dirty="0"/>
              <a:t>NEVER use GET to send sensitive data! (the submitted form data is visible in the URL!)</a:t>
            </a:r>
          </a:p>
          <a:p>
            <a:endParaRPr lang="en-AU" dirty="0"/>
          </a:p>
          <a:p>
            <a:r>
              <a:rPr lang="en-AU" b="1" i="1" dirty="0"/>
              <a:t>The length of a URL is limited (2048 characters)</a:t>
            </a:r>
          </a:p>
          <a:p>
            <a:endParaRPr lang="en-AU" dirty="0"/>
          </a:p>
          <a:p>
            <a:r>
              <a:rPr lang="en-AU" dirty="0"/>
              <a:t>GET is good for non-secure data, like query strings in Google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2798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Notes on POST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Appends the form data inside the body of the HTTP request (the submitted form data is not shown in the URL)</a:t>
            </a:r>
          </a:p>
          <a:p>
            <a:endParaRPr lang="en-AU" dirty="0"/>
          </a:p>
          <a:p>
            <a:r>
              <a:rPr lang="en-AU" b="1" i="1" dirty="0"/>
              <a:t>POST has no size limitations</a:t>
            </a:r>
            <a:r>
              <a:rPr lang="en-AU" dirty="0"/>
              <a:t>, and can be used to send large amounts of data.</a:t>
            </a:r>
          </a:p>
          <a:p>
            <a:endParaRPr lang="en-AU" dirty="0"/>
          </a:p>
          <a:p>
            <a:r>
              <a:rPr lang="en-AU" dirty="0"/>
              <a:t>Tip: Always use POST if the form data contains sensitive or personal information!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789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List of All &lt;form&gt; Attributes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4" y="1124743"/>
            <a:ext cx="10131526" cy="48245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9192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C313843F-D6C5-448B-9AF6-EE4E7BF76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CSS Syntax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46BB7E5-0EA1-4AF5-B85E-4DAF94980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r>
              <a:rPr lang="en-US" altLang="en-US" dirty="0"/>
              <a:t>Style sheets are composed of  "Rules" that describe the styling to be applied.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Each rule contains a Selector and a Declaration </a:t>
            </a:r>
          </a:p>
        </p:txBody>
      </p:sp>
      <p:sp>
        <p:nvSpPr>
          <p:cNvPr id="14341" name="Rectangle 6">
            <a:extLst>
              <a:ext uri="{FF2B5EF4-FFF2-40B4-BE49-F238E27FC236}">
                <a16:creationId xmlns:a16="http://schemas.microsoft.com/office/drawing/2014/main" id="{F030CF8A-2652-41B5-B283-DA6F8D9D5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27860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4342" name="Picture 6" descr="Figure5.2.tif">
            <a:extLst>
              <a:ext uri="{FF2B5EF4-FFF2-40B4-BE49-F238E27FC236}">
                <a16:creationId xmlns:a16="http://schemas.microsoft.com/office/drawing/2014/main" id="{ADD2CB87-A3BD-4B54-9500-A981F34D5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016896"/>
            <a:ext cx="84582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81724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9E1B1165-354B-41F0-A278-999F3D91A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CSS Syntax Sample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67D9A8F-EBD3-44F1-94B1-B1E78C17FC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 a web page to display blue text and yellow background.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body { color:  blue;</a:t>
            </a:r>
          </a:p>
          <a:p>
            <a:r>
              <a:rPr lang="en-US" dirty="0"/>
              <a:t>             background-color:  yellow; }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could also be written using hexadecimal color values as shown below.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body { color:  #0000FF;</a:t>
            </a:r>
          </a:p>
          <a:p>
            <a:r>
              <a:rPr lang="en-US" dirty="0"/>
              <a:t>             background-color:  #FFFF00; }</a:t>
            </a: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D0F88A83-FF0C-45BD-B6F5-DDBFBD26E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27860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5366" name="Picture 6" descr="Figure5.2.tif">
            <a:extLst>
              <a:ext uri="{FF2B5EF4-FFF2-40B4-BE49-F238E27FC236}">
                <a16:creationId xmlns:a16="http://schemas.microsoft.com/office/drawing/2014/main" id="{3568A363-0766-4131-B450-4753E06F9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594" y="4433593"/>
            <a:ext cx="4865688" cy="141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964492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255AC9F3-1E3D-415A-8EE3-18A33D34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 CSS Selectors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304741B4-1AB6-41BC-8CCE-5B75B940C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Common Types of Selectors:</a:t>
            </a:r>
          </a:p>
          <a:p>
            <a:pPr lvl="1"/>
            <a:r>
              <a:rPr lang="en-US" altLang="en-US"/>
              <a:t>HTML element name selector</a:t>
            </a:r>
          </a:p>
          <a:p>
            <a:pPr lvl="1"/>
            <a:r>
              <a:rPr lang="en-US" altLang="en-US"/>
              <a:t>class selector</a:t>
            </a:r>
          </a:p>
          <a:p>
            <a:pPr lvl="1"/>
            <a:r>
              <a:rPr lang="en-US" altLang="en-US"/>
              <a:t>id selector</a:t>
            </a:r>
          </a:p>
          <a:p>
            <a:pPr lvl="1"/>
            <a:r>
              <a:rPr lang="en-US" altLang="en-US"/>
              <a:t>descendant selector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A25A5EB5-D940-4A83-8CD8-21412A998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CSS with “class”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39B5270-25A7-42D7-8C41-AC3E28DA1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515600" cy="4576763"/>
          </a:xfrm>
        </p:spPr>
        <p:txBody>
          <a:bodyPr/>
          <a:lstStyle/>
          <a:p>
            <a:r>
              <a:rPr lang="en-US" altLang="en-US" dirty="0"/>
              <a:t>class Selector</a:t>
            </a:r>
          </a:p>
          <a:p>
            <a:pPr lvl="1"/>
            <a:r>
              <a:rPr lang="en-US" altLang="en-US" dirty="0"/>
              <a:t>Apply a CSS  rule to  ONE OR MORE  elements on a web page</a:t>
            </a:r>
          </a:p>
          <a:p>
            <a:pPr lvl="1"/>
            <a:r>
              <a:rPr lang="en-US" altLang="en-US" dirty="0"/>
              <a:t>Does not associate the  style to a particular HTML element	</a:t>
            </a:r>
          </a:p>
          <a:p>
            <a:pPr lvl="1"/>
            <a:r>
              <a:rPr lang="en-US" altLang="en-US" dirty="0"/>
              <a:t>	</a:t>
            </a:r>
          </a:p>
          <a:p>
            <a:r>
              <a:rPr lang="en-US" altLang="en-US" dirty="0"/>
              <a:t>Configure with .</a:t>
            </a:r>
            <a:r>
              <a:rPr lang="en-US" altLang="en-US" dirty="0" err="1"/>
              <a:t>classname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sample creates a class called “new” with red italic text.</a:t>
            </a:r>
          </a:p>
          <a:p>
            <a:endParaRPr lang="en-US" altLang="en-US" dirty="0"/>
          </a:p>
          <a:p>
            <a:r>
              <a:rPr lang="en-US" altLang="en-US" dirty="0"/>
              <a:t>To use the class, code the following HTML:</a:t>
            </a:r>
          </a:p>
          <a:p>
            <a:r>
              <a:rPr lang="en-US" altLang="en-US" b="1" i="1" dirty="0">
                <a:solidFill>
                  <a:srgbClr val="FF0000"/>
                </a:solidFill>
              </a:rPr>
              <a:t>&lt;p class=“new”&gt;</a:t>
            </a:r>
            <a:r>
              <a:rPr lang="en-US" altLang="en-US" dirty="0"/>
              <a:t>This is text is red and in italics&lt;/p&gt;</a:t>
            </a:r>
          </a:p>
        </p:txBody>
      </p:sp>
      <p:sp>
        <p:nvSpPr>
          <p:cNvPr id="212996" name="Text Box 4">
            <a:extLst>
              <a:ext uri="{FF2B5EF4-FFF2-40B4-BE49-F238E27FC236}">
                <a16:creationId xmlns:a16="http://schemas.microsoft.com/office/drawing/2014/main" id="{2507DC75-5B3E-4172-B547-56D518479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9783" y="2383452"/>
            <a:ext cx="4640885" cy="1200329"/>
          </a:xfrm>
          <a:prstGeom prst="rect">
            <a:avLst/>
          </a:prstGeom>
          <a:solidFill>
            <a:srgbClr val="EAEAEA">
              <a:alpha val="34000"/>
            </a:srgbClr>
          </a:solidFill>
          <a:ln w="9525">
            <a:solidFill>
              <a:schemeClr val="accent4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b="1" dirty="0">
                <a:cs typeface="Times New Roman" pitchFamily="18" charset="0"/>
              </a:rPr>
              <a:t>&lt;style type="text/</a:t>
            </a:r>
            <a:r>
              <a:rPr lang="en-US" b="1" dirty="0" err="1">
                <a:cs typeface="Times New Roman" pitchFamily="18" charset="0"/>
              </a:rPr>
              <a:t>css</a:t>
            </a:r>
            <a:r>
              <a:rPr lang="en-US" b="1" dirty="0">
                <a:cs typeface="Times New Roman" pitchFamily="18" charset="0"/>
              </a:rPr>
              <a:t>"&gt;</a:t>
            </a:r>
            <a:endParaRPr lang="en-US" dirty="0"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>
                <a:cs typeface="Times New Roman" pitchFamily="18" charset="0"/>
              </a:rPr>
              <a:t>.new { color: #FF0000; font-style: italic;</a:t>
            </a:r>
            <a:endParaRPr lang="en-US" dirty="0"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>
                <a:cs typeface="Times New Roman" pitchFamily="18" charset="0"/>
              </a:rPr>
              <a:t>          }</a:t>
            </a:r>
          </a:p>
          <a:p>
            <a:pPr eaLnBrk="1" hangingPunct="1">
              <a:defRPr/>
            </a:pPr>
            <a:r>
              <a:rPr lang="en-US" b="1" dirty="0">
                <a:cs typeface="Times New Roman" pitchFamily="18" charset="0"/>
              </a:rPr>
              <a:t>&lt;/style&gt; </a:t>
            </a:r>
          </a:p>
        </p:txBody>
      </p:sp>
      <p:pic>
        <p:nvPicPr>
          <p:cNvPr id="109570" name="Picture 2">
            <a:extLst>
              <a:ext uri="{FF2B5EF4-FFF2-40B4-BE49-F238E27FC236}">
                <a16:creationId xmlns:a16="http://schemas.microsoft.com/office/drawing/2014/main" id="{B8FBB93F-EFC0-4F77-8FDB-3CF25FCEA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6172201"/>
            <a:ext cx="20955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2849268A-104A-46BF-96E9-12080625E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a CSS id Selector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DBCEE17-88C2-4BF9-BEFC-7C9EBE6E7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861" y="1568191"/>
            <a:ext cx="10515600" cy="4576763"/>
          </a:xfrm>
        </p:spPr>
        <p:txBody>
          <a:bodyPr/>
          <a:lstStyle/>
          <a:p>
            <a:r>
              <a:rPr lang="en-US" altLang="en-US" b="1" i="1" dirty="0">
                <a:solidFill>
                  <a:srgbClr val="FF0000"/>
                </a:solidFill>
              </a:rPr>
              <a:t>id Selector</a:t>
            </a:r>
          </a:p>
          <a:p>
            <a:pPr lvl="1"/>
            <a:r>
              <a:rPr lang="en-US" altLang="en-US" dirty="0"/>
              <a:t>Apply a CSS rule to ONLY ONE element on a web page.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Configure with </a:t>
            </a:r>
            <a:r>
              <a:rPr lang="en-US" altLang="en-US" b="1" i="1" dirty="0">
                <a:solidFill>
                  <a:srgbClr val="FF0000"/>
                </a:solidFill>
              </a:rPr>
              <a:t>#idname</a:t>
            </a:r>
          </a:p>
          <a:p>
            <a:endParaRPr lang="en-US" altLang="en-US" dirty="0"/>
          </a:p>
          <a:p>
            <a:r>
              <a:rPr lang="en-US" altLang="en-US" dirty="0"/>
              <a:t>The sample creates an id called “new” with red, large, italic text.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To use the id, code the following HTML: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b="1" i="1" dirty="0">
                <a:solidFill>
                  <a:srgbClr val="FF0000"/>
                </a:solidFill>
              </a:rPr>
              <a:t>&lt;p id=“new”&gt;</a:t>
            </a:r>
            <a:r>
              <a:rPr lang="en-US" altLang="en-US" dirty="0"/>
              <a:t>This is text is red, large, and in italics&lt;/p&gt;</a:t>
            </a:r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id="{61689F32-9923-4B59-9B65-E09C8649A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1273175"/>
            <a:ext cx="3278188" cy="2308225"/>
          </a:xfrm>
          <a:prstGeom prst="rect">
            <a:avLst/>
          </a:prstGeom>
          <a:solidFill>
            <a:srgbClr val="EAEAEA">
              <a:alpha val="3294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&lt;style type="text/css"&gt;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#new { color: #FF0000;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font-size:2em;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font-style: italic;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&lt;/style&gt; </a:t>
            </a:r>
          </a:p>
        </p:txBody>
      </p:sp>
      <p:pic>
        <p:nvPicPr>
          <p:cNvPr id="108548" name="Picture 4">
            <a:extLst>
              <a:ext uri="{FF2B5EF4-FFF2-40B4-BE49-F238E27FC236}">
                <a16:creationId xmlns:a16="http://schemas.microsoft.com/office/drawing/2014/main" id="{4D429A53-477C-4CAB-A259-53E3D7AE7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5702043"/>
            <a:ext cx="474345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4EC90F50-16CA-411A-A00A-BA59AC194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a CSS Descendant Selector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27CDF11E-19AA-4E8C-8FB1-8A5076A10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Descendant Selector</a:t>
            </a:r>
          </a:p>
          <a:p>
            <a:pPr lvl="1"/>
            <a:r>
              <a:rPr lang="en-US" altLang="en-US" dirty="0"/>
              <a:t>Apply a CSS rule within the context of the container (parent) element.</a:t>
            </a:r>
          </a:p>
          <a:p>
            <a:pPr lvl="1"/>
            <a:r>
              <a:rPr lang="en-US" altLang="en-US" dirty="0"/>
              <a:t>Sometimes called a contextual selector.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Configure by listing the container selector followed by the selector you are styling.</a:t>
            </a:r>
          </a:p>
          <a:p>
            <a:endParaRPr lang="en-US" altLang="en-US" dirty="0"/>
          </a:p>
          <a:p>
            <a:r>
              <a:rPr lang="en-US" altLang="en-US" dirty="0"/>
              <a:t>The sample specifies a green text color for only the </a:t>
            </a:r>
            <a:r>
              <a:rPr lang="en-US" altLang="en-US" b="1" i="1" dirty="0">
                <a:solidFill>
                  <a:srgbClr val="FF0000"/>
                </a:solidFill>
              </a:rPr>
              <a:t>paragraph elements located within the footer element. 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2F49124A-EDD4-4C09-BBA0-4E1BA6122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942601"/>
            <a:ext cx="4876800" cy="1200150"/>
          </a:xfrm>
          <a:prstGeom prst="rect">
            <a:avLst/>
          </a:prstGeom>
          <a:solidFill>
            <a:srgbClr val="EAEAEA">
              <a:alpha val="3294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&lt;style&gt;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footer  p {color: #00ff00; 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&lt;/style&gt; 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1E69C0CD-3227-40EA-AE1E-B58702E91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div element &lt;div&gt;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CECDB2D-BD18-4CE8-BEE7-9A7228E5A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block-display element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Purpose: configure a specially formatted division or area of a web page</a:t>
            </a:r>
          </a:p>
          <a:p>
            <a:pPr lvl="1"/>
            <a:r>
              <a:rPr lang="en-US" altLang="en-US"/>
              <a:t>There is a line break before and after the division. </a:t>
            </a:r>
          </a:p>
          <a:p>
            <a:pPr lvl="1"/>
            <a:r>
              <a:rPr lang="en-US" altLang="en-US"/>
              <a:t>Can contain other block-level and inline elements</a:t>
            </a:r>
          </a:p>
          <a:p>
            <a:pPr lvl="1"/>
            <a:endParaRPr lang="en-US" altLang="en-US"/>
          </a:p>
          <a:p>
            <a:r>
              <a:rPr lang="en-US" altLang="en-US"/>
              <a:t>Useful to define a generic area that will contain other block display tags (such as paragraphs or spans) within it. 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B73FD990-EF13-43A9-9939-0CD05B839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Span Element &lt;span&gt;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9A9F0CA-02DC-4FE0-8698-0E3A52EAD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inline-level element</a:t>
            </a:r>
          </a:p>
          <a:p>
            <a:r>
              <a:rPr lang="en-US" altLang="en-US" dirty="0"/>
              <a:t>Purpose: </a:t>
            </a:r>
          </a:p>
          <a:p>
            <a:pPr lvl="1"/>
            <a:r>
              <a:rPr lang="en-US" altLang="en-US" dirty="0"/>
              <a:t>Configure a specially formatted area displayed in-line with other elements, such as within a paragraph.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There is no line break before and after the span.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>
            <a:extLst>
              <a:ext uri="{FF2B5EF4-FFF2-40B4-BE49-F238E27FC236}">
                <a16:creationId xmlns:a16="http://schemas.microsoft.com/office/drawing/2014/main" id="{933F55F2-0D96-43E9-8973-0C167C843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&lt;span&gt; Example 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E7031F7E-035A-4B9D-A63C-3963DAB1F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Embedded CSS:</a:t>
            </a:r>
            <a:br>
              <a:rPr lang="en-US" altLang="en-US" dirty="0"/>
            </a:br>
            <a:r>
              <a:rPr lang="en-US" altLang="en-US" dirty="0"/>
              <a:t>&lt;style&gt;</a:t>
            </a:r>
          </a:p>
          <a:p>
            <a:pPr marL="0" indent="0">
              <a:buNone/>
            </a:pPr>
            <a:r>
              <a:rPr lang="en-US" altLang="en-US" b="1" i="1" dirty="0">
                <a:solidFill>
                  <a:srgbClr val="FF0000"/>
                </a:solidFill>
              </a:rPr>
              <a:t>.</a:t>
            </a:r>
            <a:r>
              <a:rPr lang="en-US" altLang="en-US" b="1" i="1" dirty="0" err="1">
                <a:solidFill>
                  <a:srgbClr val="FF0000"/>
                </a:solidFill>
              </a:rPr>
              <a:t>companyname</a:t>
            </a:r>
            <a:r>
              <a:rPr lang="en-US" altLang="en-US" b="1" i="1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{ font-weight: bold;</a:t>
            </a:r>
          </a:p>
          <a:p>
            <a:pPr marL="0" indent="0">
              <a:buNone/>
            </a:pPr>
            <a:r>
              <a:rPr lang="en-US" altLang="en-US" dirty="0"/>
              <a:t>                             font-family: Georgia, "Times New Roman", serif;</a:t>
            </a:r>
          </a:p>
          <a:p>
            <a:pPr marL="0" indent="0">
              <a:buNone/>
            </a:pPr>
            <a:r>
              <a:rPr lang="en-US" altLang="en-US" dirty="0"/>
              <a:t>                            font-size: 1.25em; }</a:t>
            </a:r>
          </a:p>
          <a:p>
            <a:pPr marL="0" indent="0">
              <a:buNone/>
            </a:pPr>
            <a:r>
              <a:rPr lang="en-US" altLang="en-US" dirty="0"/>
              <a:t> &lt;/style&gt;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HTML:</a:t>
            </a:r>
          </a:p>
          <a:p>
            <a:pPr marL="0" indent="0">
              <a:buNone/>
            </a:pPr>
            <a:r>
              <a:rPr lang="en-US" altLang="en-US" dirty="0"/>
              <a:t>&lt;p&gt;Your needs are important to us at &lt;span class=“</a:t>
            </a:r>
            <a:r>
              <a:rPr lang="en-US" altLang="en-US" dirty="0" err="1"/>
              <a:t>companyname</a:t>
            </a:r>
            <a:r>
              <a:rPr lang="en-US" altLang="en-US" dirty="0"/>
              <a:t>"&gt;Acme Web Design&lt;/span&gt;. We will work with you to build your website.&lt;/p&gt;</a:t>
            </a:r>
          </a:p>
        </p:txBody>
      </p:sp>
      <p:pic>
        <p:nvPicPr>
          <p:cNvPr id="111618" name="Picture 2">
            <a:extLst>
              <a:ext uri="{FF2B5EF4-FFF2-40B4-BE49-F238E27FC236}">
                <a16:creationId xmlns:a16="http://schemas.microsoft.com/office/drawing/2014/main" id="{64523EE6-8132-4CDF-A1DA-CB6A7EA16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00737" y="1257300"/>
            <a:ext cx="54197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CSS3 </a:t>
            </a:r>
            <a:r>
              <a:rPr lang="en-AU">
                <a:solidFill>
                  <a:schemeClr val="bg1"/>
                </a:solidFill>
              </a:rPr>
              <a:t>combinator selectors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838200" y="1295400"/>
            <a:ext cx="10363200" cy="4675205"/>
          </a:xfrm>
        </p:spPr>
      </p:pic>
      <p:sp>
        <p:nvSpPr>
          <p:cNvPr id="5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5078323" y="6210565"/>
            <a:ext cx="5894477" cy="564620"/>
          </a:xfrm>
          <a:prstGeom prst="rect">
            <a:avLst/>
          </a:prstGeom>
          <a:solidFill>
            <a:srgbClr val="FFFFFF">
              <a:alpha val="5098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dirty="0">
                <a:hlinkClick r:id="rId7"/>
              </a:rPr>
              <a:t>https://www.w3schools.com/css/css_combinators.asp</a:t>
            </a:r>
            <a:endParaRPr lang="en-AU" sz="2000" dirty="0"/>
          </a:p>
          <a:p>
            <a:endParaRPr lang="en-AU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139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CSS3 Pseudo-elements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pseudo-element is used to style specified parts of an element.</a:t>
            </a:r>
          </a:p>
          <a:p>
            <a:r>
              <a:rPr lang="en-AU" dirty="0"/>
              <a:t>For example, it can be used to:</a:t>
            </a:r>
          </a:p>
          <a:p>
            <a:pPr lvl="1"/>
            <a:r>
              <a:rPr lang="en-AU" dirty="0"/>
              <a:t>Style the first letter, or line, of an element</a:t>
            </a:r>
          </a:p>
          <a:p>
            <a:pPr lvl="1"/>
            <a:r>
              <a:rPr lang="en-AU" dirty="0"/>
              <a:t>Insert content before, or after, the content of an element</a:t>
            </a:r>
          </a:p>
          <a:p>
            <a:pPr lvl="1"/>
            <a:endParaRPr lang="en-AU" dirty="0"/>
          </a:p>
          <a:p>
            <a:r>
              <a:rPr lang="en-AU" dirty="0"/>
              <a:t>The syntax of pseudo-elements: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703" y="4437112"/>
            <a:ext cx="3699791" cy="11521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6187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The ::first-line Pseudo-element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The ::first-line pseudo-element is used to add a special style to the first line of a text.</a:t>
            </a:r>
          </a:p>
          <a:p>
            <a:r>
              <a:rPr lang="en-AU" dirty="0"/>
              <a:t>The following example formats the first line of the text in all &lt;p&gt; elements:</a:t>
            </a:r>
          </a:p>
          <a:p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776" y="3068960"/>
            <a:ext cx="2876125" cy="12241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592" y="4653136"/>
            <a:ext cx="661035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4221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The ::first-letter Pseudo-element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The ::first-letter pseudo-element is used to add a special style to the first letter of a text.</a:t>
            </a:r>
          </a:p>
          <a:p>
            <a:r>
              <a:rPr lang="en-AU" dirty="0"/>
              <a:t>The following example formats the first letter of the text in all &lt;p&gt; elements: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776" y="2924944"/>
            <a:ext cx="2818912" cy="13117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1624" y="4530401"/>
            <a:ext cx="6162675" cy="4191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9313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CSS3 Pseudo Elements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>
                <a:hlinkClick r:id="rId6"/>
              </a:rPr>
              <a:t>https://www.w3schools.com/css/css_pseudo_elements.asp</a:t>
            </a:r>
            <a:endParaRPr lang="en-AU" dirty="0"/>
          </a:p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50" y="1268760"/>
            <a:ext cx="11752088" cy="35032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5010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CSS3 Pseudo-classes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A pseudo-class is used to define a special state of an element.</a:t>
            </a:r>
          </a:p>
          <a:p>
            <a:r>
              <a:rPr lang="en-AU" dirty="0"/>
              <a:t>For example, it can be used to:</a:t>
            </a:r>
          </a:p>
          <a:p>
            <a:pPr lvl="1"/>
            <a:r>
              <a:rPr lang="en-AU" dirty="0"/>
              <a:t>Style an element when a user mouses over it</a:t>
            </a:r>
          </a:p>
          <a:p>
            <a:pPr lvl="1"/>
            <a:r>
              <a:rPr lang="en-AU" dirty="0"/>
              <a:t>Style visited and unvisited links differently</a:t>
            </a:r>
          </a:p>
          <a:p>
            <a:pPr lvl="1"/>
            <a:r>
              <a:rPr lang="en-AU" dirty="0"/>
              <a:t>Style an element when it gets focus</a:t>
            </a:r>
          </a:p>
          <a:p>
            <a:r>
              <a:rPr lang="en-AU" dirty="0"/>
              <a:t>The syntax of pseudo-classes: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784" y="4437112"/>
            <a:ext cx="2838879" cy="8713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6984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Semantic Inline Elements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381000" y="1524000"/>
            <a:ext cx="8839200" cy="4652963"/>
          </a:xfrm>
        </p:spPr>
        <p:txBody>
          <a:bodyPr/>
          <a:lstStyle/>
          <a:p>
            <a:r>
              <a:rPr lang="en-AU" sz="2000" dirty="0">
                <a:hlinkClick r:id="rId6"/>
              </a:rPr>
              <a:t>https://www.w3schools.com/css/tryit.asp?filename=trycss_link</a:t>
            </a:r>
            <a:endParaRPr lang="en-AU" sz="2000" dirty="0"/>
          </a:p>
          <a:p>
            <a:endParaRPr lang="en-AU" dirty="0"/>
          </a:p>
          <a:p>
            <a:r>
              <a:rPr lang="en-AU" dirty="0"/>
              <a:t>Note: a:hover MUST come after a:link and a:visited in the CSS definition in order to be effective! a:active MUST come after a:hover in the CSS definition in order to be effective! Pseudo-class names are not case-sensitive.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2091C10-CA6F-47FF-B2CE-CF752B20F4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9753600" y="1542661"/>
            <a:ext cx="1819275" cy="41052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2323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All CSS Pseudo Classes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04801" y="1447801"/>
            <a:ext cx="5724028" cy="38100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614" y="1444691"/>
            <a:ext cx="5178186" cy="38959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58901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CSS3 Unit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CSS has several different units for expressing a length.</a:t>
            </a:r>
          </a:p>
          <a:p>
            <a:r>
              <a:rPr lang="en-AU" dirty="0"/>
              <a:t>Many CSS properties take "length" values, such as width, margin, padding, font-size, etc.</a:t>
            </a:r>
          </a:p>
          <a:p>
            <a:r>
              <a:rPr lang="en-AU" dirty="0"/>
              <a:t>Length is a number followed by a length unit, such as 10px, 2em, etc.</a:t>
            </a:r>
          </a:p>
          <a:p>
            <a:r>
              <a:rPr lang="en-AU" dirty="0"/>
              <a:t>Set different length values, using </a:t>
            </a:r>
            <a:r>
              <a:rPr lang="en-AU" dirty="0" err="1"/>
              <a:t>px</a:t>
            </a:r>
            <a:r>
              <a:rPr lang="en-AU" dirty="0"/>
              <a:t> (pixels):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>
                <a:hlinkClick r:id="rId6"/>
              </a:rPr>
              <a:t>https://www.w3schools.com/cssref/css_units.asp</a:t>
            </a:r>
            <a:endParaRPr lang="en-AU" dirty="0"/>
          </a:p>
          <a:p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2344" y="3284984"/>
            <a:ext cx="2016224" cy="20274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5164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6722-80F4-4358-A03A-B90207A37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3B393-0F2E-4B7F-A349-A00432CBD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Embedded media,</a:t>
            </a:r>
          </a:p>
          <a:p>
            <a:pPr lvl="1"/>
            <a:r>
              <a:rPr lang="en-AU" dirty="0"/>
              <a:t>Embedded media</a:t>
            </a:r>
          </a:p>
          <a:p>
            <a:pPr lvl="1"/>
            <a:r>
              <a:rPr lang="en-AU" dirty="0"/>
              <a:t>YouTube Video</a:t>
            </a:r>
          </a:p>
          <a:p>
            <a:pPr lvl="1"/>
            <a:r>
              <a:rPr lang="en-AU" dirty="0"/>
              <a:t>Google Maps</a:t>
            </a:r>
          </a:p>
          <a:p>
            <a:pPr>
              <a:lnSpc>
                <a:spcPct val="200000"/>
              </a:lnSpc>
            </a:pPr>
            <a:r>
              <a:rPr lang="en-US" dirty="0"/>
              <a:t> advanced image use, </a:t>
            </a:r>
          </a:p>
          <a:p>
            <a:pPr lvl="1"/>
            <a:r>
              <a:rPr lang="en-AU" dirty="0"/>
              <a:t>their importance</a:t>
            </a:r>
          </a:p>
          <a:p>
            <a:pPr lvl="1"/>
            <a:r>
              <a:rPr lang="en-AU" dirty="0"/>
              <a:t>file format and performance</a:t>
            </a:r>
          </a:p>
          <a:p>
            <a:pPr>
              <a:lnSpc>
                <a:spcPct val="200000"/>
              </a:lnSpc>
            </a:pPr>
            <a:r>
              <a:rPr lang="en-US" dirty="0"/>
              <a:t>icons. </a:t>
            </a:r>
          </a:p>
          <a:p>
            <a:pPr>
              <a:lnSpc>
                <a:spcPct val="200000"/>
              </a:lnSpc>
            </a:pPr>
            <a:r>
              <a:rPr lang="en-AU" dirty="0"/>
              <a:t>Designing the navigation for a website.</a:t>
            </a:r>
            <a:r>
              <a:rPr lang="en-US" dirty="0"/>
              <a:t>	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92972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hdjcmPjs29UmLRIrOw1Cq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uOVskLPgAacLGzqLJ2dJ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aKY5CC4Ou6rtdni3pzWm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oTBfb5H0mwrSndSHM3GR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SA3WS1WKx38U0oKhfVxU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sYai1aBOtlPe8WMhL6J2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3HPpWmQT6r2Glo9f8BgQm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xyUy99RnCcRgjMEiWJZX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6pPjxKFowBUCm5UAC6LxZ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puY05NwHA2Pu3oMSc9Zw9K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0MVQiqRULVNVkpoze2NCz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Xy3gxwz7BbCCUezb7FwxI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RlLtgo7QPiFgsLEnW3m2F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dULg5IYw5T42kDeT80VG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XgQHQTnfKeThTdVM22B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E4olhywq6lkC9NTAFlDc7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PEVh3LZXLuI6WxiMDXLY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H2ULt73Jhl1ITscO6kgI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B60CE4C-EDC0-496D-AE6D-84B42325BD16}" vid="{64883BDB-BA55-4845-887F-AD4C7C3254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WIN Lecture Final template-T1-2022</Template>
  <TotalTime>403</TotalTime>
  <Words>1780</Words>
  <Application>Microsoft Office PowerPoint</Application>
  <PresentationFormat>Widescreen</PresentationFormat>
  <Paragraphs>246</Paragraphs>
  <Slides>35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Book Antiqua</vt:lpstr>
      <vt:lpstr>Bookman Old Style</vt:lpstr>
      <vt:lpstr>Calibri</vt:lpstr>
      <vt:lpstr>Calibri Light</vt:lpstr>
      <vt:lpstr>Times New Roman</vt:lpstr>
      <vt:lpstr>Verdana</vt:lpstr>
      <vt:lpstr>Theme2</vt:lpstr>
      <vt:lpstr>PowerPoint Presentation</vt:lpstr>
      <vt:lpstr>This Week</vt:lpstr>
      <vt:lpstr>Forms</vt:lpstr>
      <vt:lpstr>The &lt;form&gt; Element</vt:lpstr>
      <vt:lpstr>The &lt;input&gt; Element</vt:lpstr>
      <vt:lpstr>Text Fields</vt:lpstr>
      <vt:lpstr>The &lt;label&gt; Element</vt:lpstr>
      <vt:lpstr>Radio Buttons</vt:lpstr>
      <vt:lpstr>Checkboxes</vt:lpstr>
      <vt:lpstr>The Submit Button</vt:lpstr>
      <vt:lpstr>The Name Attribute for &lt;input&gt;</vt:lpstr>
      <vt:lpstr>The Action Attribute</vt:lpstr>
      <vt:lpstr>The Method Attribute</vt:lpstr>
      <vt:lpstr>Notes on GET</vt:lpstr>
      <vt:lpstr>Notes on POST</vt:lpstr>
      <vt:lpstr>List of All &lt;form&gt; Attributes</vt:lpstr>
      <vt:lpstr>CSS Syntax</vt:lpstr>
      <vt:lpstr>CSS Syntax Sample</vt:lpstr>
      <vt:lpstr> CSS Selectors</vt:lpstr>
      <vt:lpstr>Using CSS with “class”</vt:lpstr>
      <vt:lpstr>Using a CSS id Selector</vt:lpstr>
      <vt:lpstr>Using a CSS Descendant Selector</vt:lpstr>
      <vt:lpstr>The div element &lt;div&gt;</vt:lpstr>
      <vt:lpstr>The Span Element &lt;span&gt;</vt:lpstr>
      <vt:lpstr>&lt;span&gt; Example </vt:lpstr>
      <vt:lpstr>CSS3 combinator selectors</vt:lpstr>
      <vt:lpstr>CSS3 Pseudo-elements</vt:lpstr>
      <vt:lpstr>The ::first-line Pseudo-element</vt:lpstr>
      <vt:lpstr>The ::first-letter Pseudo-element</vt:lpstr>
      <vt:lpstr>CSS3 Pseudo Elements</vt:lpstr>
      <vt:lpstr>CSS3 Pseudo-classes</vt:lpstr>
      <vt:lpstr>Semantic Inline Elements</vt:lpstr>
      <vt:lpstr>All CSS Pseudo Classes</vt:lpstr>
      <vt:lpstr>CSS3 Unit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Kiran Lakkaraju</dc:creator>
  <cp:lastModifiedBy>Ali Aljaafreh</cp:lastModifiedBy>
  <cp:revision>13</cp:revision>
  <dcterms:created xsi:type="dcterms:W3CDTF">2022-03-12T12:34:51Z</dcterms:created>
  <dcterms:modified xsi:type="dcterms:W3CDTF">2023-07-26T02:41:06Z</dcterms:modified>
</cp:coreProperties>
</file>