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8.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19.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9" r:id="rId3"/>
    <p:sldId id="309" r:id="rId4"/>
    <p:sldId id="266" r:id="rId5"/>
    <p:sldId id="312" r:id="rId6"/>
    <p:sldId id="313" r:id="rId7"/>
    <p:sldId id="314" r:id="rId8"/>
    <p:sldId id="268" r:id="rId9"/>
    <p:sldId id="288" r:id="rId10"/>
    <p:sldId id="267" r:id="rId11"/>
    <p:sldId id="278" r:id="rId12"/>
    <p:sldId id="260" r:id="rId13"/>
    <p:sldId id="332" r:id="rId14"/>
    <p:sldId id="333" r:id="rId15"/>
    <p:sldId id="334" r:id="rId16"/>
    <p:sldId id="335" r:id="rId17"/>
    <p:sldId id="262" r:id="rId18"/>
    <p:sldId id="273" r:id="rId19"/>
    <p:sldId id="277" r:id="rId20"/>
    <p:sldId id="342" r:id="rId21"/>
    <p:sldId id="337" r:id="rId22"/>
    <p:sldId id="281" r:id="rId23"/>
    <p:sldId id="275" r:id="rId24"/>
    <p:sldId id="341" r:id="rId25"/>
    <p:sldId id="343" r:id="rId26"/>
    <p:sldId id="344" r:id="rId27"/>
    <p:sldId id="345" r:id="rId28"/>
    <p:sldId id="346" r:id="rId29"/>
    <p:sldId id="347" r:id="rId30"/>
    <p:sldId id="338" r:id="rId31"/>
    <p:sldId id="339" r:id="rId32"/>
    <p:sldId id="34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4B5394-50EE-42AF-843B-BF8E7B4B15F7}">
          <p14:sldIdLst>
            <p14:sldId id="256"/>
            <p14:sldId id="259"/>
          </p14:sldIdLst>
        </p14:section>
        <p14:section name="Page Design" id="{15A89D7B-A3FF-4E55-A2FE-C45CD50E007F}">
          <p14:sldIdLst>
            <p14:sldId id="309"/>
            <p14:sldId id="266"/>
            <p14:sldId id="312"/>
            <p14:sldId id="313"/>
            <p14:sldId id="314"/>
            <p14:sldId id="268"/>
            <p14:sldId id="288"/>
            <p14:sldId id="267"/>
            <p14:sldId id="278"/>
          </p14:sldIdLst>
        </p14:section>
        <p14:section name="Tools" id="{2F625736-25B0-47B2-B036-E0A0E8851451}">
          <p14:sldIdLst>
            <p14:sldId id="260"/>
            <p14:sldId id="332"/>
            <p14:sldId id="333"/>
            <p14:sldId id="334"/>
            <p14:sldId id="335"/>
            <p14:sldId id="262"/>
            <p14:sldId id="273"/>
            <p14:sldId id="277"/>
            <p14:sldId id="342"/>
            <p14:sldId id="337"/>
            <p14:sldId id="281"/>
            <p14:sldId id="275"/>
            <p14:sldId id="341"/>
            <p14:sldId id="343"/>
            <p14:sldId id="344"/>
            <p14:sldId id="345"/>
            <p14:sldId id="346"/>
            <p14:sldId id="347"/>
            <p14:sldId id="338"/>
            <p14:sldId id="339"/>
          </p14:sldIdLst>
        </p14:section>
        <p14:section name="Next Week" id="{FD86B605-444E-4BCA-826D-771DBC58A369}">
          <p14:sldIdLst>
            <p14:sldId id="34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75229" autoAdjust="0"/>
  </p:normalViewPr>
  <p:slideViewPr>
    <p:cSldViewPr>
      <p:cViewPr varScale="1">
        <p:scale>
          <a:sx n="54" d="100"/>
          <a:sy n="54" d="100"/>
        </p:scale>
        <p:origin x="96" y="576"/>
      </p:cViewPr>
      <p:guideLst>
        <p:guide orient="horz" pos="2160"/>
        <p:guide pos="3840"/>
      </p:guideLst>
    </p:cSldViewPr>
  </p:slideViewPr>
  <p:notesTextViewPr>
    <p:cViewPr>
      <p:scale>
        <a:sx n="3" d="2"/>
        <a:sy n="3" d="2"/>
      </p:scale>
      <p:origin x="0" y="0"/>
    </p:cViewPr>
  </p:notesTextViewPr>
  <p:sorterViewPr>
    <p:cViewPr>
      <p:scale>
        <a:sx n="100" d="100"/>
        <a:sy n="100" d="100"/>
      </p:scale>
      <p:origin x="0" y="-1819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2F1B1C-EF43-42DF-8D93-6D1AA054F092}" type="datetimeFigureOut">
              <a:rPr lang="en-AU" smtClean="0"/>
              <a:t>11/10/2025</a:t>
            </a:fld>
            <a:endParaRPr lang="en-AU"/>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5D68BF-496A-42D2-A159-C1EBC09BAB5B}" type="slidenum">
              <a:rPr lang="en-AU" smtClean="0"/>
              <a:t>‹#›</a:t>
            </a:fld>
            <a:endParaRPr lang="en-AU"/>
          </a:p>
        </p:txBody>
      </p:sp>
    </p:spTree>
    <p:extLst>
      <p:ext uri="{BB962C8B-B14F-4D97-AF65-F5344CB8AC3E}">
        <p14:creationId xmlns:p14="http://schemas.microsoft.com/office/powerpoint/2010/main" val="173843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smashingmagazine.com/2010/03/29/free-printable-sketching-wireframing-and-note-taking-pdf-template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adaptistration.com/blog/2010/03/01/venture-project-update-fun-with-wireframe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pPr/>
              <a:t>2</a:t>
            </a:fld>
            <a:endParaRPr lang="zh-CN" altLang="en-US">
              <a:solidFill>
                <a:prstClr val="black"/>
              </a:solidFill>
            </a:endParaRPr>
          </a:p>
        </p:txBody>
      </p:sp>
    </p:spTree>
    <p:extLst>
      <p:ext uri="{BB962C8B-B14F-4D97-AF65-F5344CB8AC3E}">
        <p14:creationId xmlns:p14="http://schemas.microsoft.com/office/powerpoint/2010/main" val="8985204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AU" dirty="0"/>
              <a:t>With more and more users viewing websites from platforms other than their desktops/laptops it has become imperative</a:t>
            </a:r>
            <a:r>
              <a:rPr lang="en-AU" baseline="0" dirty="0"/>
              <a:t> that web pages adapt themselves automatically to a different screen resolution.</a:t>
            </a:r>
          </a:p>
          <a:p>
            <a:pPr marL="171450" indent="-171450">
              <a:buFont typeface="Arial" pitchFamily="34" charset="0"/>
              <a:buChar char="•"/>
            </a:pPr>
            <a:r>
              <a:rPr lang="en-AU" baseline="0" dirty="0"/>
              <a:t>This has now been made much easier with the advent of </a:t>
            </a:r>
            <a:r>
              <a:rPr lang="en-AU" b="1" baseline="0" dirty="0"/>
              <a:t>CSS’3’s media queries</a:t>
            </a:r>
            <a:r>
              <a:rPr lang="en-AU" baseline="0" dirty="0"/>
              <a:t>.</a:t>
            </a:r>
          </a:p>
          <a:p>
            <a:pPr marL="171450" indent="-171450">
              <a:buFont typeface="Arial" pitchFamily="34" charset="0"/>
              <a:buChar char="•"/>
            </a:pPr>
            <a:r>
              <a:rPr lang="en-AU" baseline="0" dirty="0"/>
              <a:t>It is no longer necessary to have a variety of different version of the same website; instead, all that is required is a series of “instructions” in the main CSS file for the website, identifying what needs to happen when content is viewed on platforms of different sizes.</a:t>
            </a:r>
          </a:p>
          <a:p>
            <a:pPr marL="171450" indent="-171450">
              <a:buFont typeface="Arial" pitchFamily="34" charset="0"/>
              <a:buChar char="•"/>
            </a:pPr>
            <a:r>
              <a:rPr lang="en-AU" baseline="0" dirty="0"/>
              <a:t>In general there will be 4 such instructions covering PC, </a:t>
            </a:r>
            <a:r>
              <a:rPr lang="en-AU" baseline="0" dirty="0" err="1"/>
              <a:t>iPad</a:t>
            </a:r>
            <a:r>
              <a:rPr lang="en-AU" baseline="0" dirty="0"/>
              <a:t>, iPhone, and smartphones.</a:t>
            </a:r>
          </a:p>
          <a:p>
            <a:pPr marL="171450" indent="-171450">
              <a:buFont typeface="Arial" pitchFamily="34" charset="0"/>
              <a:buChar char="•"/>
            </a:pPr>
            <a:endParaRPr lang="en-AU" baseline="0" dirty="0"/>
          </a:p>
          <a:p>
            <a:pPr marL="171450" indent="-171450">
              <a:buFont typeface="Arial" pitchFamily="34" charset="0"/>
              <a:buChar char="•"/>
            </a:pPr>
            <a:r>
              <a:rPr lang="en-AU" baseline="0" dirty="0"/>
              <a:t>Examples:</a:t>
            </a:r>
          </a:p>
          <a:p>
            <a:pPr marL="171450" indent="-171450">
              <a:buFont typeface="Arial" pitchFamily="34" charset="0"/>
              <a:buChar char="•"/>
            </a:pPr>
            <a:r>
              <a:rPr lang="en-AU" b="1" baseline="0" dirty="0"/>
              <a:t>Fixed: </a:t>
            </a:r>
            <a:r>
              <a:rPr lang="en-AU" baseline="0" dirty="0"/>
              <a:t>https://www.google.com.au/#q=google</a:t>
            </a:r>
          </a:p>
          <a:p>
            <a:pPr marL="171450" indent="-171450">
              <a:buFont typeface="Arial" pitchFamily="34" charset="0"/>
              <a:buChar char="•"/>
            </a:pPr>
            <a:r>
              <a:rPr lang="en-AU" b="1" baseline="0" dirty="0"/>
              <a:t>Flexible: </a:t>
            </a:r>
            <a:r>
              <a:rPr lang="en-AU" baseline="0" dirty="0"/>
              <a:t>http://en.wikipedia.org , http://www.amazon.com/</a:t>
            </a:r>
          </a:p>
          <a:p>
            <a:pPr marL="171450" indent="-171450">
              <a:buFont typeface="Arial" pitchFamily="34" charset="0"/>
              <a:buChar char="•"/>
            </a:pPr>
            <a:r>
              <a:rPr lang="en-AU" b="1" baseline="0" dirty="0" err="1"/>
              <a:t>Centered</a:t>
            </a:r>
            <a:r>
              <a:rPr lang="en-AU" b="1" baseline="0" dirty="0"/>
              <a:t>: </a:t>
            </a:r>
            <a:r>
              <a:rPr lang="en-AU" baseline="0" dirty="0"/>
              <a:t>http://federation.edu.au/ , http://www.ebay.com.au/</a:t>
            </a:r>
          </a:p>
          <a:p>
            <a:pPr marL="171450" indent="-171450">
              <a:buFont typeface="Arial" pitchFamily="34" charset="0"/>
              <a:buChar char="•"/>
            </a:pPr>
            <a:r>
              <a:rPr lang="en-AU" b="1" baseline="0" dirty="0"/>
              <a:t>Responsive: </a:t>
            </a:r>
            <a:r>
              <a:rPr lang="en-AU" baseline="0" dirty="0"/>
              <a:t>https://www.youtube.com/ , http://www.microsoft.com/en-au/default.aspx</a:t>
            </a:r>
            <a:endParaRPr lang="en-AU" dirty="0"/>
          </a:p>
        </p:txBody>
      </p:sp>
      <p:sp>
        <p:nvSpPr>
          <p:cNvPr id="4" name="Slide Number Placeholder 3"/>
          <p:cNvSpPr>
            <a:spLocks noGrp="1"/>
          </p:cNvSpPr>
          <p:nvPr>
            <p:ph type="sldNum" sz="quarter" idx="10"/>
          </p:nvPr>
        </p:nvSpPr>
        <p:spPr/>
        <p:txBody>
          <a:bodyPr/>
          <a:lstStyle/>
          <a:p>
            <a:fld id="{E8D806A0-A068-4B10-B821-208B16B4CF19}" type="slidenum">
              <a:rPr lang="en-AU" smtClean="0"/>
              <a:t>3</a:t>
            </a:fld>
            <a:endParaRPr lang="en-AU"/>
          </a:p>
        </p:txBody>
      </p:sp>
    </p:spTree>
    <p:extLst>
      <p:ext uri="{BB962C8B-B14F-4D97-AF65-F5344CB8AC3E}">
        <p14:creationId xmlns:p14="http://schemas.microsoft.com/office/powerpoint/2010/main" val="3780476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E8D806A0-A068-4B10-B821-208B16B4CF19}" type="slidenum">
              <a:rPr lang="en-AU" smtClean="0"/>
              <a:t>4</a:t>
            </a:fld>
            <a:endParaRPr lang="en-AU"/>
          </a:p>
        </p:txBody>
      </p:sp>
    </p:spTree>
    <p:extLst>
      <p:ext uri="{BB962C8B-B14F-4D97-AF65-F5344CB8AC3E}">
        <p14:creationId xmlns:p14="http://schemas.microsoft.com/office/powerpoint/2010/main" val="3850825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Sketches are not compulsory</a:t>
            </a:r>
            <a:r>
              <a:rPr lang="en-AU" b="1" baseline="0" dirty="0"/>
              <a:t> for the Design Document, students can make sketches </a:t>
            </a:r>
            <a:r>
              <a:rPr lang="en-AU" b="1" i="1" baseline="0" dirty="0"/>
              <a:t>if they like</a:t>
            </a:r>
            <a:r>
              <a:rPr lang="en-AU" b="1" baseline="0" dirty="0"/>
              <a:t>, wireframes ARE required.</a:t>
            </a:r>
            <a:endParaRPr lang="en-AU" b="1" dirty="0"/>
          </a:p>
          <a:p>
            <a:endParaRPr lang="en-AU" dirty="0"/>
          </a:p>
          <a:p>
            <a:r>
              <a:rPr lang="en-AU" dirty="0"/>
              <a:t>Example of sketches made during consultation with client. From these sketches it is relatively simple to create wireframes/storyboards.</a:t>
            </a:r>
          </a:p>
          <a:p>
            <a:r>
              <a:rPr lang="en-AU" dirty="0"/>
              <a:t>Notice the lack of information other than the placeholders</a:t>
            </a:r>
            <a:r>
              <a:rPr lang="en-AU" baseline="0" dirty="0"/>
              <a:t> for content. For initial client/designer contact this is all that is necessary to begin the process of content design. Wireframes will take this step much further by providing solid information regarding text, colour schemes, media etc.</a:t>
            </a:r>
            <a:endParaRPr lang="en-AU" dirty="0"/>
          </a:p>
        </p:txBody>
      </p:sp>
      <p:sp>
        <p:nvSpPr>
          <p:cNvPr id="4" name="Slide Number Placeholder 3"/>
          <p:cNvSpPr>
            <a:spLocks noGrp="1"/>
          </p:cNvSpPr>
          <p:nvPr>
            <p:ph type="sldNum" sz="quarter" idx="10"/>
          </p:nvPr>
        </p:nvSpPr>
        <p:spPr/>
        <p:txBody>
          <a:bodyPr/>
          <a:lstStyle/>
          <a:p>
            <a:fld id="{E8D806A0-A068-4B10-B821-208B16B4CF19}" type="slidenum">
              <a:rPr lang="en-AU" smtClean="0"/>
              <a:t>5</a:t>
            </a:fld>
            <a:endParaRPr lang="en-AU"/>
          </a:p>
        </p:txBody>
      </p:sp>
    </p:spTree>
    <p:extLst>
      <p:ext uri="{BB962C8B-B14F-4D97-AF65-F5344CB8AC3E}">
        <p14:creationId xmlns:p14="http://schemas.microsoft.com/office/powerpoint/2010/main" val="118440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E8D806A0-A068-4B10-B821-208B16B4CF19}" type="slidenum">
              <a:rPr lang="en-AU" smtClean="0"/>
              <a:t>6</a:t>
            </a:fld>
            <a:endParaRPr lang="en-AU"/>
          </a:p>
        </p:txBody>
      </p:sp>
    </p:spTree>
    <p:extLst>
      <p:ext uri="{BB962C8B-B14F-4D97-AF65-F5344CB8AC3E}">
        <p14:creationId xmlns:p14="http://schemas.microsoft.com/office/powerpoint/2010/main" val="3377634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dirty="0"/>
              <a:t>In the Assignment</a:t>
            </a:r>
            <a:r>
              <a:rPr lang="en-AU" b="1" baseline="0" dirty="0"/>
              <a:t> 2 Design Document – The wireframes will make up the bulk of the content design section!</a:t>
            </a:r>
            <a:endParaRPr lang="en-AU" b="1" dirty="0"/>
          </a:p>
          <a:p>
            <a:endParaRPr lang="en-AU" dirty="0"/>
          </a:p>
          <a:p>
            <a:r>
              <a:rPr lang="en-AU" dirty="0"/>
              <a:t>Sketching and wireframe templates can be obtained free from</a:t>
            </a:r>
          </a:p>
          <a:p>
            <a:r>
              <a:rPr lang="en-AU" dirty="0">
                <a:hlinkClick r:id="rId3"/>
              </a:rPr>
              <a:t>http://www.smashingmagazine.com/2010/03/29/free-printable-sketching-wireframing-and-note-taking-pdf-templates/</a:t>
            </a:r>
            <a:endParaRPr lang="en-AU" dirty="0"/>
          </a:p>
          <a:p>
            <a:endParaRPr lang="en-AU" dirty="0"/>
          </a:p>
        </p:txBody>
      </p:sp>
      <p:sp>
        <p:nvSpPr>
          <p:cNvPr id="4" name="Slide Number Placeholder 3"/>
          <p:cNvSpPr>
            <a:spLocks noGrp="1"/>
          </p:cNvSpPr>
          <p:nvPr>
            <p:ph type="sldNum" sz="quarter" idx="10"/>
          </p:nvPr>
        </p:nvSpPr>
        <p:spPr/>
        <p:txBody>
          <a:bodyPr/>
          <a:lstStyle/>
          <a:p>
            <a:fld id="{E8D806A0-A068-4B10-B821-208B16B4CF19}" type="slidenum">
              <a:rPr lang="en-AU" smtClean="0"/>
              <a:t>7</a:t>
            </a:fld>
            <a:endParaRPr lang="en-AU"/>
          </a:p>
        </p:txBody>
      </p:sp>
    </p:spTree>
    <p:extLst>
      <p:ext uri="{BB962C8B-B14F-4D97-AF65-F5344CB8AC3E}">
        <p14:creationId xmlns:p14="http://schemas.microsoft.com/office/powerpoint/2010/main" val="1204052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adapted from </a:t>
            </a:r>
            <a:r>
              <a:rPr lang="en-AU" dirty="0">
                <a:hlinkClick r:id="rId3"/>
              </a:rPr>
              <a:t>http://www.adaptistration.com/blog/2010/03/01/venture-project-update-fun-with-wireframes/</a:t>
            </a:r>
            <a:endParaRPr lang="en-AU" dirty="0"/>
          </a:p>
        </p:txBody>
      </p:sp>
      <p:sp>
        <p:nvSpPr>
          <p:cNvPr id="4" name="Slide Number Placeholder 3"/>
          <p:cNvSpPr>
            <a:spLocks noGrp="1"/>
          </p:cNvSpPr>
          <p:nvPr>
            <p:ph type="sldNum" sz="quarter" idx="10"/>
          </p:nvPr>
        </p:nvSpPr>
        <p:spPr/>
        <p:txBody>
          <a:bodyPr/>
          <a:lstStyle/>
          <a:p>
            <a:fld id="{E8D806A0-A068-4B10-B821-208B16B4CF19}" type="slidenum">
              <a:rPr lang="en-AU" smtClean="0"/>
              <a:t>8</a:t>
            </a:fld>
            <a:endParaRPr lang="en-AU"/>
          </a:p>
        </p:txBody>
      </p:sp>
    </p:spTree>
    <p:extLst>
      <p:ext uri="{BB962C8B-B14F-4D97-AF65-F5344CB8AC3E}">
        <p14:creationId xmlns:p14="http://schemas.microsoft.com/office/powerpoint/2010/main" val="76921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Identify</a:t>
            </a:r>
            <a:r>
              <a:rPr lang="en-AU" baseline="0" dirty="0"/>
              <a:t> (where applicable)</a:t>
            </a:r>
            <a:endParaRPr lang="en-AU" dirty="0"/>
          </a:p>
        </p:txBody>
      </p:sp>
      <p:sp>
        <p:nvSpPr>
          <p:cNvPr id="4" name="Slide Number Placeholder 3"/>
          <p:cNvSpPr>
            <a:spLocks noGrp="1"/>
          </p:cNvSpPr>
          <p:nvPr>
            <p:ph type="sldNum" sz="quarter" idx="10"/>
          </p:nvPr>
        </p:nvSpPr>
        <p:spPr/>
        <p:txBody>
          <a:bodyPr/>
          <a:lstStyle/>
          <a:p>
            <a:fld id="{157B81BF-C2C6-4996-B24F-877975821B4F}" type="slidenum">
              <a:rPr lang="en-AU" smtClean="0"/>
              <a:t>9</a:t>
            </a:fld>
            <a:endParaRPr lang="en-AU" dirty="0"/>
          </a:p>
        </p:txBody>
      </p:sp>
    </p:spTree>
    <p:extLst>
      <p:ext uri="{BB962C8B-B14F-4D97-AF65-F5344CB8AC3E}">
        <p14:creationId xmlns:p14="http://schemas.microsoft.com/office/powerpoint/2010/main" val="3805813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E8D806A0-A068-4B10-B821-208B16B4CF19}" type="slidenum">
              <a:rPr lang="en-AU" smtClean="0"/>
              <a:t>10</a:t>
            </a:fld>
            <a:endParaRPr lang="en-AU"/>
          </a:p>
        </p:txBody>
      </p:sp>
    </p:spTree>
    <p:extLst>
      <p:ext uri="{BB962C8B-B14F-4D97-AF65-F5344CB8AC3E}">
        <p14:creationId xmlns:p14="http://schemas.microsoft.com/office/powerpoint/2010/main" val="1845408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AU" dirty="0"/>
              <a:t>It is important that designers get clients</a:t>
            </a:r>
            <a:r>
              <a:rPr lang="en-AU" baseline="0" dirty="0"/>
              <a:t> to sign off on the mock-ups before anything else proceeds.</a:t>
            </a:r>
          </a:p>
          <a:p>
            <a:pPr marL="171450" indent="-171450">
              <a:buFont typeface="Arial" pitchFamily="34" charset="0"/>
              <a:buChar char="•"/>
            </a:pPr>
            <a:r>
              <a:rPr lang="en-AU" baseline="0" dirty="0"/>
              <a:t>If left to change, design-creep, and ultimately project-creep will set in and the project is likely to suffer badly.</a:t>
            </a:r>
          </a:p>
          <a:p>
            <a:pPr marL="171450" indent="-171450">
              <a:buFont typeface="Arial" pitchFamily="34" charset="0"/>
              <a:buChar char="•"/>
            </a:pPr>
            <a:r>
              <a:rPr lang="en-AU" b="1" baseline="0" dirty="0"/>
              <a:t>“Design creep” </a:t>
            </a:r>
            <a:r>
              <a:rPr lang="en-AU" baseline="0" dirty="0"/>
              <a:t>is a term given to the situation where the client constantly changes their mind about the look and feel of the site.</a:t>
            </a:r>
          </a:p>
          <a:p>
            <a:pPr marL="171450" indent="-171450">
              <a:buFont typeface="Arial" pitchFamily="34" charset="0"/>
              <a:buChar char="•"/>
            </a:pPr>
            <a:r>
              <a:rPr lang="en-AU" baseline="0" dirty="0"/>
              <a:t>It is very important that designer establish what the clients needs and preferences are very early in the process so that design can focus on those needs. </a:t>
            </a:r>
            <a:endParaRPr lang="en-AU" dirty="0"/>
          </a:p>
        </p:txBody>
      </p:sp>
      <p:sp>
        <p:nvSpPr>
          <p:cNvPr id="4" name="Slide Number Placeholder 3"/>
          <p:cNvSpPr>
            <a:spLocks noGrp="1"/>
          </p:cNvSpPr>
          <p:nvPr>
            <p:ph type="sldNum" sz="quarter" idx="10"/>
          </p:nvPr>
        </p:nvSpPr>
        <p:spPr/>
        <p:txBody>
          <a:bodyPr/>
          <a:lstStyle/>
          <a:p>
            <a:fld id="{8CBF4BA8-8B59-4FC0-A6F6-5068BADD2BC5}" type="slidenum">
              <a:rPr lang="en-US" smtClean="0"/>
              <a:t>11</a:t>
            </a:fld>
            <a:endParaRPr lang="en-US"/>
          </a:p>
        </p:txBody>
      </p:sp>
    </p:spTree>
    <p:extLst>
      <p:ext uri="{BB962C8B-B14F-4D97-AF65-F5344CB8AC3E}">
        <p14:creationId xmlns:p14="http://schemas.microsoft.com/office/powerpoint/2010/main" val="1730081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18</a:t>
            </a:fld>
            <a:endParaRPr lang="en-US"/>
          </a:p>
        </p:txBody>
      </p:sp>
    </p:spTree>
    <p:extLst>
      <p:ext uri="{BB962C8B-B14F-4D97-AF65-F5344CB8AC3E}">
        <p14:creationId xmlns:p14="http://schemas.microsoft.com/office/powerpoint/2010/main" val="4193359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22</a:t>
            </a:fld>
            <a:endParaRPr lang="en-US"/>
          </a:p>
        </p:txBody>
      </p:sp>
    </p:spTree>
    <p:extLst>
      <p:ext uri="{BB962C8B-B14F-4D97-AF65-F5344CB8AC3E}">
        <p14:creationId xmlns:p14="http://schemas.microsoft.com/office/powerpoint/2010/main" val="2018477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23</a:t>
            </a:fld>
            <a:endParaRPr lang="en-US"/>
          </a:p>
        </p:txBody>
      </p:sp>
    </p:spTree>
    <p:extLst>
      <p:ext uri="{BB962C8B-B14F-4D97-AF65-F5344CB8AC3E}">
        <p14:creationId xmlns:p14="http://schemas.microsoft.com/office/powerpoint/2010/main" val="713958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B3ACB-7CB4-9BC8-A698-CE2BF6B90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F73EC-C443-7935-842E-A0D94BA4B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56529B-4C1D-C38A-8795-69827FC1180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8D9B226E-B675-415D-B350-0DD950F56F8A}"/>
              </a:ext>
            </a:extLst>
          </p:cNvPr>
          <p:cNvSpPr>
            <a:spLocks noGrp="1"/>
          </p:cNvSpPr>
          <p:nvPr>
            <p:ph type="sldNum" sz="quarter" idx="10"/>
          </p:nvPr>
        </p:nvSpPr>
        <p:spPr/>
        <p:txBody>
          <a:bodyPr/>
          <a:lstStyle/>
          <a:p>
            <a:fld id="{41DAE13F-53EE-44FD-9505-E953145094D6}" type="slidenum">
              <a:rPr lang="en-US" smtClean="0"/>
              <a:pPr/>
              <a:t>24</a:t>
            </a:fld>
            <a:endParaRPr lang="en-US"/>
          </a:p>
        </p:txBody>
      </p:sp>
    </p:spTree>
    <p:extLst>
      <p:ext uri="{BB962C8B-B14F-4D97-AF65-F5344CB8AC3E}">
        <p14:creationId xmlns:p14="http://schemas.microsoft.com/office/powerpoint/2010/main" val="1465274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7DAF0-B911-97E5-8C8F-02594267F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C81DE-489D-13BB-8726-B20B1DD72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92577-F8BE-CE8D-C47D-A6FAA443CE68}"/>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AE7380C-A934-A087-68F3-BA8C92E803C1}"/>
              </a:ext>
            </a:extLst>
          </p:cNvPr>
          <p:cNvSpPr>
            <a:spLocks noGrp="1"/>
          </p:cNvSpPr>
          <p:nvPr>
            <p:ph type="sldNum" sz="quarter" idx="10"/>
          </p:nvPr>
        </p:nvSpPr>
        <p:spPr/>
        <p:txBody>
          <a:bodyPr/>
          <a:lstStyle/>
          <a:p>
            <a:fld id="{41DAE13F-53EE-44FD-9505-E953145094D6}" type="slidenum">
              <a:rPr lang="en-US" smtClean="0"/>
              <a:pPr/>
              <a:t>25</a:t>
            </a:fld>
            <a:endParaRPr lang="en-US"/>
          </a:p>
        </p:txBody>
      </p:sp>
    </p:spTree>
    <p:extLst>
      <p:ext uri="{BB962C8B-B14F-4D97-AF65-F5344CB8AC3E}">
        <p14:creationId xmlns:p14="http://schemas.microsoft.com/office/powerpoint/2010/main" val="8540101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03D01-BA8E-A238-A79F-F93670FBC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E76313-7E50-3A28-034B-AA191746D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86FBD-DB3E-E7E1-16C0-12AB7B587972}"/>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6891262E-A881-D88C-799B-0DCD5558DDAF}"/>
              </a:ext>
            </a:extLst>
          </p:cNvPr>
          <p:cNvSpPr>
            <a:spLocks noGrp="1"/>
          </p:cNvSpPr>
          <p:nvPr>
            <p:ph type="sldNum" sz="quarter" idx="10"/>
          </p:nvPr>
        </p:nvSpPr>
        <p:spPr/>
        <p:txBody>
          <a:bodyPr/>
          <a:lstStyle/>
          <a:p>
            <a:fld id="{41DAE13F-53EE-44FD-9505-E953145094D6}" type="slidenum">
              <a:rPr lang="en-US" smtClean="0"/>
              <a:pPr/>
              <a:t>26</a:t>
            </a:fld>
            <a:endParaRPr lang="en-US"/>
          </a:p>
        </p:txBody>
      </p:sp>
    </p:spTree>
    <p:extLst>
      <p:ext uri="{BB962C8B-B14F-4D97-AF65-F5344CB8AC3E}">
        <p14:creationId xmlns:p14="http://schemas.microsoft.com/office/powerpoint/2010/main" val="1933903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3C3A3-9159-0504-E294-F9A814A2B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B6827B-D28B-9D83-71DA-549B35626D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1B91D-A904-5D7C-F19C-2C2B35D107C9}"/>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28671C40-D531-A8CA-0E28-D1652599E29E}"/>
              </a:ext>
            </a:extLst>
          </p:cNvPr>
          <p:cNvSpPr>
            <a:spLocks noGrp="1"/>
          </p:cNvSpPr>
          <p:nvPr>
            <p:ph type="sldNum" sz="quarter" idx="10"/>
          </p:nvPr>
        </p:nvSpPr>
        <p:spPr/>
        <p:txBody>
          <a:bodyPr/>
          <a:lstStyle/>
          <a:p>
            <a:fld id="{41DAE13F-53EE-44FD-9505-E953145094D6}" type="slidenum">
              <a:rPr lang="en-US" smtClean="0"/>
              <a:pPr/>
              <a:t>27</a:t>
            </a:fld>
            <a:endParaRPr lang="en-US"/>
          </a:p>
        </p:txBody>
      </p:sp>
    </p:spTree>
    <p:extLst>
      <p:ext uri="{BB962C8B-B14F-4D97-AF65-F5344CB8AC3E}">
        <p14:creationId xmlns:p14="http://schemas.microsoft.com/office/powerpoint/2010/main" val="4286268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ABB97-5664-6BFC-6E18-A0D7FF71E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C9118-C754-A019-7E30-7E132C19F9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E7A2F-6877-9FD7-813D-20EAA39239CA}"/>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BD6674ED-B55D-1F07-6A25-3F2A178B1E3A}"/>
              </a:ext>
            </a:extLst>
          </p:cNvPr>
          <p:cNvSpPr>
            <a:spLocks noGrp="1"/>
          </p:cNvSpPr>
          <p:nvPr>
            <p:ph type="sldNum" sz="quarter" idx="10"/>
          </p:nvPr>
        </p:nvSpPr>
        <p:spPr/>
        <p:txBody>
          <a:bodyPr/>
          <a:lstStyle/>
          <a:p>
            <a:fld id="{41DAE13F-53EE-44FD-9505-E953145094D6}" type="slidenum">
              <a:rPr lang="en-US" smtClean="0"/>
              <a:pPr/>
              <a:t>28</a:t>
            </a:fld>
            <a:endParaRPr lang="en-US"/>
          </a:p>
        </p:txBody>
      </p:sp>
    </p:spTree>
    <p:extLst>
      <p:ext uri="{BB962C8B-B14F-4D97-AF65-F5344CB8AC3E}">
        <p14:creationId xmlns:p14="http://schemas.microsoft.com/office/powerpoint/2010/main" val="209705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73DE2-F34B-243C-A007-A4B914EF8D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944F5-67AE-F0D4-AB12-051F64482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B561B-AB08-DA50-4056-50919CFFDC93}"/>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C7F3C6B0-C1BD-10AB-EE54-748D15AEDCFB}"/>
              </a:ext>
            </a:extLst>
          </p:cNvPr>
          <p:cNvSpPr>
            <a:spLocks noGrp="1"/>
          </p:cNvSpPr>
          <p:nvPr>
            <p:ph type="sldNum" sz="quarter" idx="10"/>
          </p:nvPr>
        </p:nvSpPr>
        <p:spPr/>
        <p:txBody>
          <a:bodyPr/>
          <a:lstStyle/>
          <a:p>
            <a:fld id="{41DAE13F-53EE-44FD-9505-E953145094D6}" type="slidenum">
              <a:rPr lang="en-US" smtClean="0"/>
              <a:pPr/>
              <a:t>29</a:t>
            </a:fld>
            <a:endParaRPr lang="en-US"/>
          </a:p>
        </p:txBody>
      </p:sp>
    </p:spTree>
    <p:extLst>
      <p:ext uri="{BB962C8B-B14F-4D97-AF65-F5344CB8AC3E}">
        <p14:creationId xmlns:p14="http://schemas.microsoft.com/office/powerpoint/2010/main" val="3120430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1DAE13F-53EE-44FD-9505-E953145094D6}" type="slidenum">
              <a:rPr lang="en-US" smtClean="0"/>
              <a:pPr/>
              <a:t>30</a:t>
            </a:fld>
            <a:endParaRPr lang="en-US"/>
          </a:p>
        </p:txBody>
      </p:sp>
    </p:spTree>
    <p:extLst>
      <p:ext uri="{BB962C8B-B14F-4D97-AF65-F5344CB8AC3E}">
        <p14:creationId xmlns:p14="http://schemas.microsoft.com/office/powerpoint/2010/main" val="28583275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9EC556-0E4F-4361-96C2-0C2CAFEAB7B8}" type="slidenum">
              <a:rPr lang="zh-CN" altLang="en-US" smtClean="0">
                <a:solidFill>
                  <a:prstClr val="black"/>
                </a:solidFill>
              </a:rPr>
              <a:pPr/>
              <a:t>31</a:t>
            </a:fld>
            <a:endParaRPr lang="zh-CN" altLang="en-US">
              <a:solidFill>
                <a:prstClr val="black"/>
              </a:solidFill>
            </a:endParaRPr>
          </a:p>
        </p:txBody>
      </p:sp>
    </p:spTree>
    <p:extLst>
      <p:ext uri="{BB962C8B-B14F-4D97-AF65-F5344CB8AC3E}">
        <p14:creationId xmlns:p14="http://schemas.microsoft.com/office/powerpoint/2010/main" val="270700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B22C-E7C2-4D9B-9C3E-B3770423D9D6}"/>
              </a:ext>
            </a:extLst>
          </p:cNvPr>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FCEA447-2275-4903-97D5-0EF4EF2648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FF0323C-6842-42A1-AE34-80EECC9637D0}"/>
              </a:ext>
            </a:extLst>
          </p:cNvPr>
          <p:cNvSpPr>
            <a:spLocks noGrp="1"/>
          </p:cNvSpPr>
          <p:nvPr>
            <p:ph type="dt" sz="half" idx="10"/>
          </p:nvPr>
        </p:nvSpPr>
        <p:spPr/>
        <p:txBody>
          <a:bodyPr/>
          <a:lstStyle/>
          <a:p>
            <a:fld id="{E45AECDF-4D51-4BE2-A52E-75061839962F}" type="datetimeFigureOut">
              <a:rPr lang="en-US" smtClean="0"/>
              <a:t>10/11/2025</a:t>
            </a:fld>
            <a:endParaRPr lang="en-US"/>
          </a:p>
        </p:txBody>
      </p:sp>
      <p:sp>
        <p:nvSpPr>
          <p:cNvPr id="5" name="Footer Placeholder 4">
            <a:extLst>
              <a:ext uri="{FF2B5EF4-FFF2-40B4-BE49-F238E27FC236}">
                <a16:creationId xmlns:a16="http://schemas.microsoft.com/office/drawing/2014/main" id="{26CD285F-01C7-4064-AF1F-C986D7110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61DB0-E754-4632-BADF-5CEE7CA7B9C3}"/>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84271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E172-530A-4D1A-B2C5-91C70AE41676}"/>
              </a:ext>
            </a:extLst>
          </p:cNvPr>
          <p:cNvSpPr>
            <a:spLocks noGrp="1"/>
          </p:cNvSpPr>
          <p:nvPr>
            <p:ph type="title"/>
          </p:nvPr>
        </p:nvSpPr>
        <p:spPr>
          <a:xfrm>
            <a:off x="838200" y="365125"/>
            <a:ext cx="10515600" cy="9302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134E0C8-7DCF-48A5-B01B-72B77AC44C68}"/>
              </a:ext>
            </a:extLst>
          </p:cNvPr>
          <p:cNvSpPr>
            <a:spLocks noGrp="1"/>
          </p:cNvSpPr>
          <p:nvPr>
            <p:ph idx="1"/>
          </p:nvPr>
        </p:nvSpPr>
        <p:spPr>
          <a:xfrm>
            <a:off x="838200" y="1600200"/>
            <a:ext cx="10515600" cy="45767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15D8764-6F1E-416E-88F1-C40EC8969A40}"/>
              </a:ext>
            </a:extLst>
          </p:cNvPr>
          <p:cNvSpPr>
            <a:spLocks noGrp="1"/>
          </p:cNvSpPr>
          <p:nvPr>
            <p:ph type="dt" sz="half" idx="10"/>
          </p:nvPr>
        </p:nvSpPr>
        <p:spPr/>
        <p:txBody>
          <a:bodyPr/>
          <a:lstStyle/>
          <a:p>
            <a:fld id="{E45AECDF-4D51-4BE2-A52E-75061839962F}" type="datetimeFigureOut">
              <a:rPr lang="en-US" smtClean="0"/>
              <a:t>10/11/2025</a:t>
            </a:fld>
            <a:endParaRPr lang="en-US"/>
          </a:p>
        </p:txBody>
      </p:sp>
      <p:sp>
        <p:nvSpPr>
          <p:cNvPr id="5" name="Footer Placeholder 4">
            <a:extLst>
              <a:ext uri="{FF2B5EF4-FFF2-40B4-BE49-F238E27FC236}">
                <a16:creationId xmlns:a16="http://schemas.microsoft.com/office/drawing/2014/main" id="{A09A7AD7-758F-437C-8CE1-AFECB2DA0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9139AE-6A7F-4A3F-B55D-EF7BB338DD1B}"/>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492793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A45D9-8D6E-462F-AC5F-7BB4715F8AB3}"/>
              </a:ext>
            </a:extLst>
          </p:cNvPr>
          <p:cNvSpPr>
            <a:spLocks noGrp="1"/>
          </p:cNvSpPr>
          <p:nvPr>
            <p:ph type="title"/>
          </p:nvPr>
        </p:nvSpPr>
        <p:spPr>
          <a:xfrm>
            <a:off x="831850" y="1709738"/>
            <a:ext cx="10515600" cy="2852737"/>
          </a:xfrm>
        </p:spPr>
        <p:txBody>
          <a:bodyPr anchor="b">
            <a:normAutofit/>
          </a:bodyPr>
          <a:lstStyle>
            <a:lvl1pPr>
              <a:defRPr sz="4800">
                <a:latin typeface="Bookman Old Style" panose="02050604050505020204" pitchFamily="18"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9611C77-EC1B-4D70-9E27-37B2E6C53C9B}"/>
              </a:ext>
            </a:extLst>
          </p:cNvPr>
          <p:cNvSpPr>
            <a:spLocks noGrp="1"/>
          </p:cNvSpPr>
          <p:nvPr>
            <p:ph type="body" idx="1"/>
          </p:nvPr>
        </p:nvSpPr>
        <p:spPr>
          <a:xfrm>
            <a:off x="831850" y="4589463"/>
            <a:ext cx="10515600" cy="1500187"/>
          </a:xfrm>
        </p:spPr>
        <p:txBody>
          <a:bodyPr/>
          <a:lstStyle>
            <a:lvl1pPr marL="0" indent="0">
              <a:buNone/>
              <a:defRPr sz="2400">
                <a:solidFill>
                  <a:schemeClr val="tx1"/>
                </a:solidFill>
                <a:latin typeface="Book Antiqua" panose="020406020503050303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631775-49F7-4A48-B7C0-D9C11BD8F36E}"/>
              </a:ext>
            </a:extLst>
          </p:cNvPr>
          <p:cNvSpPr>
            <a:spLocks noGrp="1"/>
          </p:cNvSpPr>
          <p:nvPr>
            <p:ph type="dt" sz="half" idx="10"/>
          </p:nvPr>
        </p:nvSpPr>
        <p:spPr/>
        <p:txBody>
          <a:bodyPr/>
          <a:lstStyle/>
          <a:p>
            <a:fld id="{E45AECDF-4D51-4BE2-A52E-75061839962F}" type="datetimeFigureOut">
              <a:rPr lang="en-US" smtClean="0"/>
              <a:t>10/11/2025</a:t>
            </a:fld>
            <a:endParaRPr lang="en-US"/>
          </a:p>
        </p:txBody>
      </p:sp>
      <p:sp>
        <p:nvSpPr>
          <p:cNvPr id="5" name="Footer Placeholder 4">
            <a:extLst>
              <a:ext uri="{FF2B5EF4-FFF2-40B4-BE49-F238E27FC236}">
                <a16:creationId xmlns:a16="http://schemas.microsoft.com/office/drawing/2014/main" id="{9447C9EE-4580-41D5-B986-FDAE9A068E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141C14-7C63-4286-AD36-5C148DD01600}"/>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6163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7A15-60D4-4D51-8523-72BD3AF8B631}"/>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9B8C380-48F3-4C56-AD06-EB8A6D2663D5}"/>
              </a:ext>
            </a:extLst>
          </p:cNvPr>
          <p:cNvSpPr>
            <a:spLocks noGrp="1"/>
          </p:cNvSpPr>
          <p:nvPr>
            <p:ph sz="half" idx="1"/>
          </p:nvPr>
        </p:nvSpPr>
        <p:spPr>
          <a:xfrm>
            <a:off x="838200" y="1524000"/>
            <a:ext cx="5181600" cy="4652963"/>
          </a:xfrm>
        </p:spPr>
        <p:txBody>
          <a:bodyPr/>
          <a:lstStyle>
            <a:lvl1pPr>
              <a:defRPr sz="2400">
                <a:latin typeface="Book Antiqua" panose="02040602050305030304" pitchFamily="18" charset="0"/>
              </a:defRPr>
            </a:lvl1pPr>
            <a:lvl2pPr>
              <a:defRPr>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7E5B96-8801-48EC-8518-84940648E4B1}"/>
              </a:ext>
            </a:extLst>
          </p:cNvPr>
          <p:cNvSpPr>
            <a:spLocks noGrp="1"/>
          </p:cNvSpPr>
          <p:nvPr>
            <p:ph sz="half" idx="2"/>
          </p:nvPr>
        </p:nvSpPr>
        <p:spPr>
          <a:xfrm>
            <a:off x="6172200" y="1524000"/>
            <a:ext cx="5181600" cy="4652963"/>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51C1791-8B8D-451F-B33E-480EB0964ED6}"/>
              </a:ext>
            </a:extLst>
          </p:cNvPr>
          <p:cNvSpPr>
            <a:spLocks noGrp="1"/>
          </p:cNvSpPr>
          <p:nvPr>
            <p:ph type="dt" sz="half" idx="10"/>
          </p:nvPr>
        </p:nvSpPr>
        <p:spPr/>
        <p:txBody>
          <a:bodyPr/>
          <a:lstStyle/>
          <a:p>
            <a:fld id="{E45AECDF-4D51-4BE2-A52E-75061839962F}" type="datetimeFigureOut">
              <a:rPr lang="en-US" smtClean="0"/>
              <a:t>10/11/2025</a:t>
            </a:fld>
            <a:endParaRPr lang="en-US"/>
          </a:p>
        </p:txBody>
      </p:sp>
      <p:sp>
        <p:nvSpPr>
          <p:cNvPr id="6" name="Footer Placeholder 5">
            <a:extLst>
              <a:ext uri="{FF2B5EF4-FFF2-40B4-BE49-F238E27FC236}">
                <a16:creationId xmlns:a16="http://schemas.microsoft.com/office/drawing/2014/main" id="{CB850D6A-1B8C-41EC-8155-C991E24F4A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4E6DD7-BAF3-4453-8ADD-14B605AB97BD}"/>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994168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AA53F-EFA9-4935-9BA6-ACD23B63F8C9}"/>
              </a:ext>
            </a:extLst>
          </p:cNvPr>
          <p:cNvSpPr>
            <a:spLocks noGrp="1"/>
          </p:cNvSpPr>
          <p:nvPr>
            <p:ph type="title"/>
          </p:nvPr>
        </p:nvSpPr>
        <p:spPr>
          <a:xfrm>
            <a:off x="838200" y="365125"/>
            <a:ext cx="10515600" cy="854075"/>
          </a:xfrm>
        </p:spPr>
        <p:txBody>
          <a:bodyPr>
            <a:normAutofit/>
          </a:bodyPr>
          <a:lstStyle>
            <a:lvl1pPr>
              <a:defRPr sz="3600">
                <a:latin typeface="Bookman Old Style" panose="02050604050505020204" pitchFamily="18" charset="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5DD2FFD-3B85-4820-9A85-46D1063768EA}"/>
              </a:ext>
            </a:extLst>
          </p:cNvPr>
          <p:cNvSpPr>
            <a:spLocks noGrp="1"/>
          </p:cNvSpPr>
          <p:nvPr>
            <p:ph type="dt" sz="half" idx="10"/>
          </p:nvPr>
        </p:nvSpPr>
        <p:spPr/>
        <p:txBody>
          <a:bodyPr/>
          <a:lstStyle/>
          <a:p>
            <a:fld id="{E45AECDF-4D51-4BE2-A52E-75061839962F}" type="datetimeFigureOut">
              <a:rPr lang="en-US" smtClean="0"/>
              <a:t>10/11/2025</a:t>
            </a:fld>
            <a:endParaRPr lang="en-US"/>
          </a:p>
        </p:txBody>
      </p:sp>
      <p:sp>
        <p:nvSpPr>
          <p:cNvPr id="4" name="Footer Placeholder 3">
            <a:extLst>
              <a:ext uri="{FF2B5EF4-FFF2-40B4-BE49-F238E27FC236}">
                <a16:creationId xmlns:a16="http://schemas.microsoft.com/office/drawing/2014/main" id="{40843DD0-9099-4073-9F4D-FA7CE1F1E5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AF83C7-3C4A-4E06-A6EC-CCE99DC6B71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2769618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655C52-F4AE-48FF-B7ED-E59B9B30B770}"/>
              </a:ext>
            </a:extLst>
          </p:cNvPr>
          <p:cNvSpPr>
            <a:spLocks noGrp="1"/>
          </p:cNvSpPr>
          <p:nvPr>
            <p:ph type="dt" sz="half" idx="10"/>
          </p:nvPr>
        </p:nvSpPr>
        <p:spPr/>
        <p:txBody>
          <a:bodyPr/>
          <a:lstStyle/>
          <a:p>
            <a:fld id="{E45AECDF-4D51-4BE2-A52E-75061839962F}" type="datetimeFigureOut">
              <a:rPr lang="en-US" smtClean="0"/>
              <a:t>10/11/2025</a:t>
            </a:fld>
            <a:endParaRPr lang="en-US"/>
          </a:p>
        </p:txBody>
      </p:sp>
      <p:sp>
        <p:nvSpPr>
          <p:cNvPr id="3" name="Footer Placeholder 2">
            <a:extLst>
              <a:ext uri="{FF2B5EF4-FFF2-40B4-BE49-F238E27FC236}">
                <a16:creationId xmlns:a16="http://schemas.microsoft.com/office/drawing/2014/main" id="{1170CF46-11FE-48D1-B8B9-CAECA0EDD1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C6CEEA-32CF-4EDC-B2A9-66DF66C74869}"/>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3044786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B79-C372-4208-9243-122D500E17BD}"/>
              </a:ext>
            </a:extLst>
          </p:cNvPr>
          <p:cNvSpPr>
            <a:spLocks noGrp="1"/>
          </p:cNvSpPr>
          <p:nvPr>
            <p:ph type="title"/>
          </p:nvPr>
        </p:nvSpPr>
        <p:spPr>
          <a:xfrm>
            <a:off x="839788" y="457200"/>
            <a:ext cx="3932237" cy="1600200"/>
          </a:xfrm>
        </p:spPr>
        <p:txBody>
          <a:bodyPr anchor="b"/>
          <a:lstStyle>
            <a:lvl1pPr>
              <a:defRPr sz="3200">
                <a:latin typeface="Bookman Old Style" panose="02050604050505020204"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16D3DEE-3AA0-40D2-B769-CFE4018E1A9A}"/>
              </a:ext>
            </a:extLst>
          </p:cNvPr>
          <p:cNvSpPr>
            <a:spLocks noGrp="1"/>
          </p:cNvSpPr>
          <p:nvPr>
            <p:ph idx="1"/>
          </p:nvPr>
        </p:nvSpPr>
        <p:spPr>
          <a:xfrm>
            <a:off x="5183188" y="987425"/>
            <a:ext cx="6172200" cy="4873625"/>
          </a:xfrm>
        </p:spPr>
        <p:txBody>
          <a:bodyPr/>
          <a:lstStyle>
            <a:lvl1pPr>
              <a:defRPr sz="2400">
                <a:latin typeface="Book Antiqua" panose="02040602050305030304" pitchFamily="18" charset="0"/>
              </a:defRPr>
            </a:lvl1pPr>
            <a:lvl2pPr>
              <a:defRPr sz="2000">
                <a:latin typeface="Book Antiqua" panose="02040602050305030304" pitchFamily="18" charset="0"/>
              </a:defRPr>
            </a:lvl2pPr>
            <a:lvl3pPr>
              <a:defRPr sz="1800">
                <a:latin typeface="Book Antiqua" panose="02040602050305030304" pitchFamily="18" charset="0"/>
              </a:defRPr>
            </a:lvl3pPr>
            <a:lvl4pPr>
              <a:defRPr sz="1800">
                <a:latin typeface="Book Antiqua" panose="02040602050305030304" pitchFamily="18" charset="0"/>
              </a:defRPr>
            </a:lvl4pPr>
            <a:lvl5pPr>
              <a:defRPr sz="1800">
                <a:latin typeface="Book Antiqua" panose="0204060205030503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C69934A8-77AF-408B-B458-B54836913E45}"/>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AF5-DB43-4606-9EAD-D4DFF04E9AD0}"/>
              </a:ext>
            </a:extLst>
          </p:cNvPr>
          <p:cNvSpPr>
            <a:spLocks noGrp="1"/>
          </p:cNvSpPr>
          <p:nvPr>
            <p:ph type="dt" sz="half" idx="10"/>
          </p:nvPr>
        </p:nvSpPr>
        <p:spPr/>
        <p:txBody>
          <a:bodyPr/>
          <a:lstStyle/>
          <a:p>
            <a:fld id="{E45AECDF-4D51-4BE2-A52E-75061839962F}" type="datetimeFigureOut">
              <a:rPr lang="en-US" smtClean="0"/>
              <a:t>10/11/2025</a:t>
            </a:fld>
            <a:endParaRPr lang="en-US"/>
          </a:p>
        </p:txBody>
      </p:sp>
      <p:sp>
        <p:nvSpPr>
          <p:cNvPr id="6" name="Footer Placeholder 5">
            <a:extLst>
              <a:ext uri="{FF2B5EF4-FFF2-40B4-BE49-F238E27FC236}">
                <a16:creationId xmlns:a16="http://schemas.microsoft.com/office/drawing/2014/main" id="{2F9FE0FD-4B71-401F-8A4E-A66DEE7296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7D4E9A-31D9-4729-B33A-373227767EBE}"/>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936027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BC55-C3D8-407B-834B-CECFFB5DE733}"/>
              </a:ext>
            </a:extLst>
          </p:cNvPr>
          <p:cNvSpPr>
            <a:spLocks noGrp="1"/>
          </p:cNvSpPr>
          <p:nvPr>
            <p:ph type="title"/>
          </p:nvPr>
        </p:nvSpPr>
        <p:spPr>
          <a:xfrm>
            <a:off x="839788" y="457200"/>
            <a:ext cx="3932237" cy="1600200"/>
          </a:xfrm>
        </p:spPr>
        <p:txBody>
          <a:bodyPr anchor="b">
            <a:normAutofit/>
          </a:bodyPr>
          <a:lstStyle>
            <a:lvl1pPr>
              <a:defRPr sz="2800">
                <a:latin typeface="Bookman Old Style" panose="02050604050505020204" pitchFamily="18" charset="0"/>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226BAC-83CF-4F24-B598-08F19EA616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B4D9986-C85E-462F-86EC-A99E04E0C84C}"/>
              </a:ext>
            </a:extLst>
          </p:cNvPr>
          <p:cNvSpPr>
            <a:spLocks noGrp="1"/>
          </p:cNvSpPr>
          <p:nvPr>
            <p:ph type="body" sz="half" idx="2"/>
          </p:nvPr>
        </p:nvSpPr>
        <p:spPr>
          <a:xfrm>
            <a:off x="839788" y="2057400"/>
            <a:ext cx="3932237" cy="3811588"/>
          </a:xfrm>
        </p:spPr>
        <p:txBody>
          <a:bodyPr/>
          <a:lstStyle>
            <a:lvl1pPr marL="0" indent="0">
              <a:buNone/>
              <a:defRPr sz="1600">
                <a:latin typeface="Book Antiqua" panose="0204060205030503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1FD837-8440-405F-8CDC-D907FDE06860}"/>
              </a:ext>
            </a:extLst>
          </p:cNvPr>
          <p:cNvSpPr>
            <a:spLocks noGrp="1"/>
          </p:cNvSpPr>
          <p:nvPr>
            <p:ph type="dt" sz="half" idx="10"/>
          </p:nvPr>
        </p:nvSpPr>
        <p:spPr/>
        <p:txBody>
          <a:bodyPr/>
          <a:lstStyle/>
          <a:p>
            <a:fld id="{E45AECDF-4D51-4BE2-A52E-75061839962F}" type="datetimeFigureOut">
              <a:rPr lang="en-US" smtClean="0"/>
              <a:t>10/11/2025</a:t>
            </a:fld>
            <a:endParaRPr lang="en-US"/>
          </a:p>
        </p:txBody>
      </p:sp>
      <p:sp>
        <p:nvSpPr>
          <p:cNvPr id="6" name="Footer Placeholder 5">
            <a:extLst>
              <a:ext uri="{FF2B5EF4-FFF2-40B4-BE49-F238E27FC236}">
                <a16:creationId xmlns:a16="http://schemas.microsoft.com/office/drawing/2014/main" id="{BB8B99F4-866C-4C1F-8FDA-F5B6DE8A72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B63BB6-94D8-4898-AC43-C5544E5D6E32}"/>
              </a:ext>
            </a:extLst>
          </p:cNvPr>
          <p:cNvSpPr>
            <a:spLocks noGrp="1"/>
          </p:cNvSpPr>
          <p:nvPr>
            <p:ph type="sldNum" sz="quarter" idx="12"/>
          </p:nvPr>
        </p:nvSpPr>
        <p:spPr/>
        <p:txBody>
          <a:bodyPr/>
          <a:lstStyle/>
          <a:p>
            <a:fld id="{C6D6110E-6F6A-430F-BA2C-264668399F0E}" type="slidenum">
              <a:rPr lang="en-US" smtClean="0"/>
              <a:t>‹#›</a:t>
            </a:fld>
            <a:endParaRPr lang="en-US"/>
          </a:p>
        </p:txBody>
      </p:sp>
    </p:spTree>
    <p:extLst>
      <p:ext uri="{BB962C8B-B14F-4D97-AF65-F5344CB8AC3E}">
        <p14:creationId xmlns:p14="http://schemas.microsoft.com/office/powerpoint/2010/main" val="1776557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id="{058A4960-2CF9-4F7B-B4C7-6C13F4FEF05D}"/>
              </a:ext>
            </a:extLst>
          </p:cNvPr>
          <p:cNvSpPr>
            <a:spLocks noChangeArrowheads="1"/>
          </p:cNvSpPr>
          <p:nvPr userDrawn="1"/>
        </p:nvSpPr>
        <p:spPr bwMode="auto">
          <a:xfrm>
            <a:off x="6501271" y="2133600"/>
            <a:ext cx="5538329" cy="3031720"/>
          </a:xfrm>
          <a:prstGeom prst="rect">
            <a:avLst/>
          </a:prstGeom>
          <a:solidFill>
            <a:srgbClr val="35363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2567" tIns="36284" rIns="72567" bIns="36284" numCol="1" anchor="t" anchorCtr="0" compatLnSpc="1">
            <a:prstTxWarp prst="textNoShape">
              <a:avLst/>
            </a:prstTxWarp>
          </a:bodyPr>
          <a:lstStyle/>
          <a:p>
            <a:endParaRPr lang="zh-CN" altLang="en-US" sz="1428"/>
          </a:p>
        </p:txBody>
      </p:sp>
      <p:sp>
        <p:nvSpPr>
          <p:cNvPr id="7" name="Freeform 8">
            <a:extLst>
              <a:ext uri="{FF2B5EF4-FFF2-40B4-BE49-F238E27FC236}">
                <a16:creationId xmlns:a16="http://schemas.microsoft.com/office/drawing/2014/main" id="{C0E71FB0-7939-4DDF-A383-231D84E07241}"/>
              </a:ext>
            </a:extLst>
          </p:cNvPr>
          <p:cNvSpPr>
            <a:spLocks/>
          </p:cNvSpPr>
          <p:nvPr userDrawn="1"/>
        </p:nvSpPr>
        <p:spPr bwMode="auto">
          <a:xfrm>
            <a:off x="136585" y="2152291"/>
            <a:ext cx="6694046" cy="3031721"/>
          </a:xfrm>
          <a:custGeom>
            <a:avLst/>
            <a:gdLst>
              <a:gd name="T0" fmla="*/ 4054 w 4054"/>
              <a:gd name="T1" fmla="*/ 804 h 1623"/>
              <a:gd name="T2" fmla="*/ 3860 w 4054"/>
              <a:gd name="T3" fmla="*/ 631 h 1623"/>
              <a:gd name="T4" fmla="*/ 3860 w 4054"/>
              <a:gd name="T5" fmla="*/ 0 h 1623"/>
              <a:gd name="T6" fmla="*/ 0 w 4054"/>
              <a:gd name="T7" fmla="*/ 0 h 1623"/>
              <a:gd name="T8" fmla="*/ 0 w 4054"/>
              <a:gd name="T9" fmla="*/ 1623 h 1623"/>
              <a:gd name="T10" fmla="*/ 3860 w 4054"/>
              <a:gd name="T11" fmla="*/ 1623 h 1623"/>
              <a:gd name="T12" fmla="*/ 3860 w 4054"/>
              <a:gd name="T13" fmla="*/ 976 h 1623"/>
              <a:gd name="T14" fmla="*/ 4054 w 4054"/>
              <a:gd name="T15" fmla="*/ 804 h 1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54" h="1623">
                <a:moveTo>
                  <a:pt x="4054" y="804"/>
                </a:moveTo>
                <a:lnTo>
                  <a:pt x="3860" y="631"/>
                </a:lnTo>
                <a:lnTo>
                  <a:pt x="3860" y="0"/>
                </a:lnTo>
                <a:lnTo>
                  <a:pt x="0" y="0"/>
                </a:lnTo>
                <a:lnTo>
                  <a:pt x="0" y="1623"/>
                </a:lnTo>
                <a:lnTo>
                  <a:pt x="3860" y="1623"/>
                </a:lnTo>
                <a:lnTo>
                  <a:pt x="3860" y="976"/>
                </a:lnTo>
                <a:lnTo>
                  <a:pt x="4054" y="804"/>
                </a:lnTo>
                <a:close/>
              </a:path>
            </a:pathLst>
          </a:custGeom>
          <a:gradFill>
            <a:gsLst>
              <a:gs pos="0">
                <a:srgbClr val="FFFF00">
                  <a:alpha val="30000"/>
                </a:srgbClr>
              </a:gs>
              <a:gs pos="50000">
                <a:srgbClr val="FFFF00">
                  <a:alpha val="52000"/>
                </a:srgbClr>
              </a:gs>
              <a:gs pos="100000">
                <a:schemeClr val="accent1">
                  <a:tint val="23500"/>
                  <a:satMod val="160000"/>
                </a:scheme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2567" tIns="36284" rIns="72567" bIns="36284" numCol="1" anchor="t" anchorCtr="0" compatLnSpc="1">
            <a:prstTxWarp prst="textNoShape">
              <a:avLst/>
            </a:prstTxWarp>
          </a:bodyPr>
          <a:lstStyle/>
          <a:p>
            <a:endParaRPr lang="zh-CN" altLang="en-US" sz="1428" dirty="0"/>
          </a:p>
        </p:txBody>
      </p:sp>
      <p:pic>
        <p:nvPicPr>
          <p:cNvPr id="6" name="Picture 5" descr="A picture containing object&#10;&#10;Description automatically generated">
            <a:extLst>
              <a:ext uri="{FF2B5EF4-FFF2-40B4-BE49-F238E27FC236}">
                <a16:creationId xmlns:a16="http://schemas.microsoft.com/office/drawing/2014/main" id="{EE829E3D-5DC5-4C91-B8B5-3B7110E1DE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44046" y="1438"/>
            <a:ext cx="7665790" cy="1827362"/>
          </a:xfrm>
          <a:prstGeom prst="rect">
            <a:avLst/>
          </a:prstGeom>
        </p:spPr>
      </p:pic>
      <p:sp>
        <p:nvSpPr>
          <p:cNvPr id="3" name="Text Placeholder 2">
            <a:extLst>
              <a:ext uri="{FF2B5EF4-FFF2-40B4-BE49-F238E27FC236}">
                <a16:creationId xmlns:a16="http://schemas.microsoft.com/office/drawing/2014/main" id="{DEF0205C-9ED4-4F7F-9D8A-6727FF2865C7}"/>
              </a:ext>
            </a:extLst>
          </p:cNvPr>
          <p:cNvSpPr>
            <a:spLocks noGrp="1"/>
          </p:cNvSpPr>
          <p:nvPr>
            <p:ph type="body" sz="quarter" idx="10"/>
          </p:nvPr>
        </p:nvSpPr>
        <p:spPr>
          <a:xfrm>
            <a:off x="914400" y="2971800"/>
            <a:ext cx="4776330" cy="685800"/>
          </a:xfrm>
        </p:spPr>
        <p:txBody>
          <a:bodyPr/>
          <a:lstStyle>
            <a:lvl1pPr>
              <a:defRPr>
                <a:latin typeface="Bookman Old Style" panose="02050604050505020204" pitchFamily="18" charset="0"/>
              </a:defRPr>
            </a:lvl1pPr>
          </a:lstStyle>
          <a:p>
            <a:pPr lvl="0"/>
            <a:r>
              <a:rPr lang="en-US"/>
              <a:t>Click to edit Master text styles</a:t>
            </a:r>
          </a:p>
        </p:txBody>
      </p:sp>
      <p:sp>
        <p:nvSpPr>
          <p:cNvPr id="5" name="Text Placeholder 4">
            <a:extLst>
              <a:ext uri="{FF2B5EF4-FFF2-40B4-BE49-F238E27FC236}">
                <a16:creationId xmlns:a16="http://schemas.microsoft.com/office/drawing/2014/main" id="{5DEB8F57-8DD4-44E9-AC18-A7A8C7131C9F}"/>
              </a:ext>
            </a:extLst>
          </p:cNvPr>
          <p:cNvSpPr>
            <a:spLocks noGrp="1"/>
          </p:cNvSpPr>
          <p:nvPr>
            <p:ph type="body" sz="quarter" idx="11"/>
          </p:nvPr>
        </p:nvSpPr>
        <p:spPr>
          <a:xfrm>
            <a:off x="7086600" y="2970663"/>
            <a:ext cx="4191000" cy="914400"/>
          </a:xfrm>
        </p:spPr>
        <p:txBody>
          <a:bodyPr>
            <a:normAutofit/>
          </a:bodyPr>
          <a:lstStyle>
            <a:lvl1pPr>
              <a:defRPr sz="2800">
                <a:solidFill>
                  <a:schemeClr val="bg1"/>
                </a:solidFill>
                <a:latin typeface="Bookman Old Style" panose="02050604050505020204" pitchFamily="18" charset="0"/>
              </a:defRPr>
            </a:lvl1pPr>
          </a:lstStyle>
          <a:p>
            <a:pPr lvl="0"/>
            <a:r>
              <a:rPr lang="en-US"/>
              <a:t>Click to edit Master text styles</a:t>
            </a:r>
          </a:p>
        </p:txBody>
      </p:sp>
    </p:spTree>
    <p:extLst>
      <p:ext uri="{BB962C8B-B14F-4D97-AF65-F5344CB8AC3E}">
        <p14:creationId xmlns:p14="http://schemas.microsoft.com/office/powerpoint/2010/main" val="2675387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t="-4000" r="-2000" b="-3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8D7EAF-242D-4B80-9DDE-E75E2110C5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71D8C2-8A15-46F1-A685-6BDE75347A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3E8A7B-EC95-43F8-8F85-BA5FC1C306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5AECDF-4D51-4BE2-A52E-75061839962F}" type="datetimeFigureOut">
              <a:rPr lang="en-US" smtClean="0"/>
              <a:t>10/11/2025</a:t>
            </a:fld>
            <a:endParaRPr lang="en-US"/>
          </a:p>
        </p:txBody>
      </p:sp>
      <p:sp>
        <p:nvSpPr>
          <p:cNvPr id="5" name="Footer Placeholder 4">
            <a:extLst>
              <a:ext uri="{FF2B5EF4-FFF2-40B4-BE49-F238E27FC236}">
                <a16:creationId xmlns:a16="http://schemas.microsoft.com/office/drawing/2014/main" id="{7A938BF8-A7D3-44B9-9393-07DE8B8369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D48635-2CA3-476A-A1E5-2809B06A1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D6110E-6F6A-430F-BA2C-264668399F0E}" type="slidenum">
              <a:rPr lang="en-US" smtClean="0"/>
              <a:t>‹#›</a:t>
            </a:fld>
            <a:endParaRPr lang="en-US"/>
          </a:p>
        </p:txBody>
      </p:sp>
      <p:pic>
        <p:nvPicPr>
          <p:cNvPr id="8" name="Picture 7" descr="A picture containing racket, holding, hitting, woman&#10;&#10;Description automatically generated">
            <a:extLst>
              <a:ext uri="{FF2B5EF4-FFF2-40B4-BE49-F238E27FC236}">
                <a16:creationId xmlns:a16="http://schemas.microsoft.com/office/drawing/2014/main" id="{1F5731C2-29BF-4169-8176-7D7E8F362DA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297" y="0"/>
            <a:ext cx="12275297" cy="6811777"/>
          </a:xfrm>
          <a:prstGeom prst="rect">
            <a:avLst/>
          </a:prstGeom>
        </p:spPr>
      </p:pic>
    </p:spTree>
    <p:extLst>
      <p:ext uri="{BB962C8B-B14F-4D97-AF65-F5344CB8AC3E}">
        <p14:creationId xmlns:p14="http://schemas.microsoft.com/office/powerpoint/2010/main" val="2443031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ubuntu.com/server" TargetMode="External"/><Relationship Id="rId2" Type="http://schemas.openxmlformats.org/officeDocument/2006/relationships/hyperlink" Target="https://www.virtualbox.org/" TargetMode="External"/><Relationship Id="rId1" Type="http://schemas.openxmlformats.org/officeDocument/2006/relationships/slideLayout" Target="../slideLayouts/slideLayout2.xml"/><Relationship Id="rId5" Type="http://schemas.openxmlformats.org/officeDocument/2006/relationships/hyperlink" Target="https://www.wampserver.com/en/" TargetMode="External"/><Relationship Id="rId4" Type="http://schemas.openxmlformats.org/officeDocument/2006/relationships/hyperlink" Target="https://www.ubuntu.com/desktop"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www.nodejs.org/" TargetMode="External"/><Relationship Id="rId2" Type="http://schemas.openxmlformats.org/officeDocument/2006/relationships/hyperlink" Target="https://webdesign.tutsplus.com/series/the-command-line-for-web-design--cms-777" TargetMode="External"/><Relationship Id="rId1" Type="http://schemas.openxmlformats.org/officeDocument/2006/relationships/slideLayout" Target="../slideLayouts/slideLayout2.xml"/><Relationship Id="rId5" Type="http://schemas.openxmlformats.org/officeDocument/2006/relationships/hyperlink" Target="http://lesscss.org/" TargetMode="External"/><Relationship Id="rId4" Type="http://schemas.openxmlformats.org/officeDocument/2006/relationships/hyperlink" Target="https://sass-lang.com/"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materializecss.com/" TargetMode="External"/><Relationship Id="rId3" Type="http://schemas.openxmlformats.org/officeDocument/2006/relationships/tags" Target="../tags/tag5.xml"/><Relationship Id="rId7" Type="http://schemas.openxmlformats.org/officeDocument/2006/relationships/hyperlink" Target="https://getbootstrap.com/" TargetMode="Externa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hyperlink" Target="http://getskeleton.com/" TargetMode="External"/><Relationship Id="rId5" Type="http://schemas.openxmlformats.org/officeDocument/2006/relationships/notesSlide" Target="../notesSlides/notesSlide12.xml"/><Relationship Id="rId10" Type="http://schemas.openxmlformats.org/officeDocument/2006/relationships/hyperlink" Target="https://milligram.io/" TargetMode="External"/><Relationship Id="rId4" Type="http://schemas.openxmlformats.org/officeDocument/2006/relationships/slideLayout" Target="../slideLayouts/slideLayout4.xml"/><Relationship Id="rId9" Type="http://schemas.openxmlformats.org/officeDocument/2006/relationships/hyperlink" Target="https://getmdl.io/"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gulpjs.com/" TargetMode="External"/><Relationship Id="rId3" Type="http://schemas.openxmlformats.org/officeDocument/2006/relationships/tags" Target="../tags/tag8.xml"/><Relationship Id="rId7" Type="http://schemas.openxmlformats.org/officeDocument/2006/relationships/hyperlink" Target="https://gruntjs.com/" TargetMode="Externa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hyperlink" Target="https://stylelint.io/" TargetMode="External"/><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gulpjs.com/" TargetMode="External"/><Relationship Id="rId3" Type="http://schemas.openxmlformats.org/officeDocument/2006/relationships/tags" Target="../tags/tag11.xml"/><Relationship Id="rId7" Type="http://schemas.openxmlformats.org/officeDocument/2006/relationships/hyperlink" Target="https://gruntjs.com/" TargetMode="Externa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hyperlink" Target="https://stylelint.io/" TargetMode="External"/><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hyperlink" Target="https://guides.github.com/features/pages/" TargetMode="External"/><Relationship Id="rId3" Type="http://schemas.openxmlformats.org/officeDocument/2006/relationships/tags" Target="../tags/tag29.xml"/><Relationship Id="rId7" Type="http://schemas.openxmlformats.org/officeDocument/2006/relationships/hyperlink" Target="http://www.aosabook.org/en/distsys.html" TargetMode="Externa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hyperlink" Target="https://frontendmasters.com/books/front-end-handbook/2019/" TargetMode="External"/><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E85A57C-D93F-440A-A179-9167EF529797}"/>
              </a:ext>
            </a:extLst>
          </p:cNvPr>
          <p:cNvSpPr>
            <a:spLocks noGrp="1"/>
          </p:cNvSpPr>
          <p:nvPr>
            <p:ph type="body" sz="quarter" idx="10"/>
          </p:nvPr>
        </p:nvSpPr>
        <p:spPr>
          <a:xfrm>
            <a:off x="1676400" y="2362200"/>
            <a:ext cx="8991600" cy="1295400"/>
          </a:xfrm>
        </p:spPr>
        <p:txBody>
          <a:bodyPr>
            <a:normAutofit/>
          </a:bodyPr>
          <a:lstStyle/>
          <a:p>
            <a:pPr marL="0" indent="0">
              <a:buNone/>
            </a:pPr>
            <a:r>
              <a:rPr lang="en-AU" sz="6000" dirty="0"/>
              <a:t>Web Development </a:t>
            </a:r>
          </a:p>
        </p:txBody>
      </p:sp>
      <p:sp>
        <p:nvSpPr>
          <p:cNvPr id="3" name="Text Placeholder 2">
            <a:extLst>
              <a:ext uri="{FF2B5EF4-FFF2-40B4-BE49-F238E27FC236}">
                <a16:creationId xmlns:a16="http://schemas.microsoft.com/office/drawing/2014/main" id="{94875C1C-3858-44F5-9117-CB658AFD44E3}"/>
              </a:ext>
            </a:extLst>
          </p:cNvPr>
          <p:cNvSpPr>
            <a:spLocks noGrp="1"/>
          </p:cNvSpPr>
          <p:nvPr>
            <p:ph type="body" sz="quarter" idx="11"/>
          </p:nvPr>
        </p:nvSpPr>
        <p:spPr>
          <a:xfrm>
            <a:off x="2590800" y="5562600"/>
            <a:ext cx="4191000" cy="914400"/>
          </a:xfrm>
        </p:spPr>
        <p:txBody>
          <a:bodyPr vert="horz" lIns="91440" tIns="45720" rIns="91440" bIns="45720" rtlCol="0">
            <a:normAutofit/>
          </a:bodyPr>
          <a:lstStyle/>
          <a:p>
            <a:pPr marL="0" indent="0">
              <a:buNone/>
            </a:pPr>
            <a:r>
              <a:rPr lang="en-AU" sz="6000" dirty="0">
                <a:solidFill>
                  <a:schemeClr val="tx1"/>
                </a:solidFill>
              </a:rPr>
              <a:t>Week #10</a:t>
            </a:r>
          </a:p>
        </p:txBody>
      </p:sp>
    </p:spTree>
    <p:extLst>
      <p:ext uri="{BB962C8B-B14F-4D97-AF65-F5344CB8AC3E}">
        <p14:creationId xmlns:p14="http://schemas.microsoft.com/office/powerpoint/2010/main" val="715634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8" name="Oval 11"/>
          <p:cNvSpPr/>
          <p:nvPr/>
        </p:nvSpPr>
        <p:spPr bwMode="auto">
          <a:xfrm>
            <a:off x="4080238" y="364573"/>
            <a:ext cx="2580175" cy="806429"/>
          </a:xfrm>
          <a:prstGeom prst="ellipse">
            <a:avLst/>
          </a:prstGeom>
          <a:noFill/>
          <a:ln w="25400" cap="flat" cmpd="sng" algn="ctr">
            <a:noFill/>
            <a:prstDash val="solid"/>
            <a:round/>
            <a:headEnd type="none" w="med" len="med"/>
            <a:tailEnd type="none" w="med" len="med"/>
          </a:ln>
          <a:effectLst/>
        </p:spPr>
        <p:txBody>
          <a:bodyPr vert="horz" wrap="square" lIns="96762" tIns="48381" rIns="96762" bIns="48381" numCol="1" rtlCol="0" anchor="t" anchorCtr="0" compatLnSpc="1">
            <a:prstTxWarp prst="textNoShape">
              <a:avLst/>
            </a:prstTxWarp>
          </a:bodyPr>
          <a:lstStyle/>
          <a:p>
            <a:pPr algn="ctr" defTabSz="1309187" fontAlgn="base">
              <a:spcBef>
                <a:spcPct val="0"/>
              </a:spcBef>
              <a:spcAft>
                <a:spcPct val="0"/>
              </a:spcAft>
              <a:defRPr/>
            </a:pPr>
            <a:endParaRPr lang="en-US" sz="8000" kern="0">
              <a:solidFill>
                <a:srgbClr val="000000"/>
              </a:solidFill>
              <a:latin typeface="微软雅黑"/>
              <a:ea typeface="微软雅黑"/>
              <a:sym typeface="Gill Sans" charset="0"/>
            </a:endParaRPr>
          </a:p>
        </p:txBody>
      </p:sp>
      <p:sp>
        <p:nvSpPr>
          <p:cNvPr id="8" name="Title 7">
            <a:extLst>
              <a:ext uri="{FF2B5EF4-FFF2-40B4-BE49-F238E27FC236}">
                <a16:creationId xmlns:a16="http://schemas.microsoft.com/office/drawing/2014/main" id="{86C29517-308D-4271-AF75-3DEAC020FD46}"/>
              </a:ext>
            </a:extLst>
          </p:cNvPr>
          <p:cNvSpPr>
            <a:spLocks noGrp="1"/>
          </p:cNvSpPr>
          <p:nvPr>
            <p:ph type="title"/>
          </p:nvPr>
        </p:nvSpPr>
        <p:spPr>
          <a:xfrm>
            <a:off x="838200" y="253999"/>
            <a:ext cx="10515600" cy="854075"/>
          </a:xfrm>
        </p:spPr>
        <p:txBody>
          <a:bodyPr/>
          <a:lstStyle/>
          <a:p>
            <a:r>
              <a:rPr lang="en-US" altLang="zh-CN" dirty="0">
                <a:solidFill>
                  <a:schemeClr val="bg1"/>
                </a:solidFill>
              </a:rPr>
              <a:t>Week 10 (Lecture 9)</a:t>
            </a:r>
            <a:endParaRPr lang="en-AU" dirty="0">
              <a:solidFill>
                <a:schemeClr val="bg1"/>
              </a:solidFill>
            </a:endParaRPr>
          </a:p>
        </p:txBody>
      </p:sp>
      <p:sp>
        <p:nvSpPr>
          <p:cNvPr id="5" name="Content Placeholder 4">
            <a:extLst>
              <a:ext uri="{FF2B5EF4-FFF2-40B4-BE49-F238E27FC236}">
                <a16:creationId xmlns:a16="http://schemas.microsoft.com/office/drawing/2014/main" id="{E6EFD255-BF09-446B-817C-07619E57C15D}"/>
              </a:ext>
            </a:extLst>
          </p:cNvPr>
          <p:cNvSpPr>
            <a:spLocks noGrp="1"/>
          </p:cNvSpPr>
          <p:nvPr>
            <p:ph sz="half" idx="1"/>
          </p:nvPr>
        </p:nvSpPr>
        <p:spPr>
          <a:xfrm>
            <a:off x="533400" y="1524000"/>
            <a:ext cx="4267200" cy="4652963"/>
          </a:xfrm>
        </p:spPr>
        <p:txBody>
          <a:bodyPr>
            <a:normAutofit lnSpcReduction="10000"/>
          </a:bodyPr>
          <a:lstStyle/>
          <a:p>
            <a:pPr marL="0" indent="0">
              <a:buNone/>
            </a:pPr>
            <a:r>
              <a:rPr lang="en-AU" sz="4400" dirty="0">
                <a:solidFill>
                  <a:srgbClr val="FF0000"/>
                </a:solidFill>
              </a:rPr>
              <a:t>1) Page Design</a:t>
            </a:r>
            <a:endParaRPr lang="en-AU" sz="3600" dirty="0">
              <a:solidFill>
                <a:srgbClr val="FF0000"/>
              </a:solidFill>
            </a:endParaRPr>
          </a:p>
          <a:p>
            <a:pPr lvl="1"/>
            <a:r>
              <a:rPr lang="en-AU" sz="3200" dirty="0"/>
              <a:t>Sketch</a:t>
            </a:r>
          </a:p>
          <a:p>
            <a:pPr lvl="1"/>
            <a:r>
              <a:rPr lang="en-AU" sz="3200" dirty="0"/>
              <a:t>Wireframe</a:t>
            </a:r>
          </a:p>
          <a:p>
            <a:pPr lvl="1"/>
            <a:r>
              <a:rPr lang="en-AU" sz="3200" dirty="0" err="1"/>
              <a:t>Mockups</a:t>
            </a:r>
            <a:endParaRPr lang="en-AU" sz="3200" dirty="0"/>
          </a:p>
          <a:p>
            <a:pPr lvl="1"/>
            <a:endParaRPr lang="en-AU" sz="3200" dirty="0"/>
          </a:p>
          <a:p>
            <a:endParaRPr lang="en-AU" sz="3200" dirty="0"/>
          </a:p>
          <a:p>
            <a:endParaRPr lang="en-AU" dirty="0"/>
          </a:p>
          <a:p>
            <a:endParaRPr lang="en-AU" dirty="0"/>
          </a:p>
        </p:txBody>
      </p:sp>
      <p:sp>
        <p:nvSpPr>
          <p:cNvPr id="2" name="Content Placeholder 1">
            <a:extLst>
              <a:ext uri="{FF2B5EF4-FFF2-40B4-BE49-F238E27FC236}">
                <a16:creationId xmlns:a16="http://schemas.microsoft.com/office/drawing/2014/main" id="{2541164A-8901-CC16-A11F-8968E54ABFBD}"/>
              </a:ext>
            </a:extLst>
          </p:cNvPr>
          <p:cNvSpPr>
            <a:spLocks noGrp="1"/>
          </p:cNvSpPr>
          <p:nvPr>
            <p:ph sz="half" idx="2"/>
          </p:nvPr>
        </p:nvSpPr>
        <p:spPr>
          <a:xfrm>
            <a:off x="5105400" y="1524000"/>
            <a:ext cx="6248400" cy="5080001"/>
          </a:xfrm>
        </p:spPr>
        <p:txBody>
          <a:bodyPr>
            <a:normAutofit lnSpcReduction="10000"/>
          </a:bodyPr>
          <a:lstStyle/>
          <a:p>
            <a:pPr marL="0" indent="0">
              <a:buNone/>
            </a:pPr>
            <a:r>
              <a:rPr lang="en-AU" sz="4000" dirty="0">
                <a:solidFill>
                  <a:srgbClr val="FF0000"/>
                </a:solidFill>
              </a:rPr>
              <a:t>2) Use of AI powered tools</a:t>
            </a:r>
          </a:p>
          <a:p>
            <a:r>
              <a:rPr lang="en-AU" sz="3200" dirty="0"/>
              <a:t>GitHub</a:t>
            </a:r>
          </a:p>
          <a:p>
            <a:r>
              <a:rPr lang="en-AU" sz="3200" dirty="0"/>
              <a:t>Bitbucket</a:t>
            </a:r>
          </a:p>
          <a:p>
            <a:r>
              <a:rPr lang="en-AU" sz="3200" dirty="0"/>
              <a:t>VS code</a:t>
            </a:r>
          </a:p>
          <a:p>
            <a:r>
              <a:rPr lang="en-AU" sz="3200" dirty="0"/>
              <a:t>GUI vs CLI–why not have both?</a:t>
            </a:r>
          </a:p>
          <a:p>
            <a:r>
              <a:rPr lang="en-AU" sz="3200" dirty="0"/>
              <a:t>Development web server</a:t>
            </a:r>
          </a:p>
          <a:p>
            <a:r>
              <a:rPr lang="en-AU" sz="3200" dirty="0"/>
              <a:t>Frameworks</a:t>
            </a:r>
          </a:p>
          <a:p>
            <a:r>
              <a:rPr lang="en-AU" sz="3200" dirty="0"/>
              <a:t>Quality assurance &amp; automation</a:t>
            </a:r>
          </a:p>
          <a:p>
            <a:r>
              <a:rPr lang="en-AU" sz="3200" dirty="0"/>
              <a:t>Additional reading</a:t>
            </a:r>
          </a:p>
          <a:p>
            <a:endParaRPr lang="en-AU" dirty="0"/>
          </a:p>
        </p:txBody>
      </p:sp>
    </p:spTree>
    <p:extLst>
      <p:ext uri="{BB962C8B-B14F-4D97-AF65-F5344CB8AC3E}">
        <p14:creationId xmlns:p14="http://schemas.microsoft.com/office/powerpoint/2010/main" val="194403597"/>
      </p:ext>
    </p:extLst>
  </p:cSld>
  <p:clrMapOvr>
    <a:masterClrMapping/>
  </p:clrMapOvr>
  <mc:AlternateContent xmlns:mc="http://schemas.openxmlformats.org/markup-compatibility/2006" xmlns:p14="http://schemas.microsoft.com/office/powerpoint/2010/main">
    <mc:Choice Requires="p14">
      <p:transition p14:dur="0" advTm="434"/>
    </mc:Choice>
    <mc:Fallback xmlns="">
      <p:transition advTm="434"/>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45820" y="215899"/>
            <a:ext cx="10515600" cy="930275"/>
          </a:xfrm>
        </p:spPr>
        <p:txBody>
          <a:bodyPr vert="horz" lIns="91440" tIns="45720" rIns="91440" bIns="45720" rtlCol="0" anchor="ctr">
            <a:normAutofit/>
          </a:bodyPr>
          <a:lstStyle/>
          <a:p>
            <a:r>
              <a:rPr lang="en-AU" sz="5000" dirty="0">
                <a:solidFill>
                  <a:schemeClr val="bg1"/>
                </a:solidFill>
              </a:rPr>
              <a:t>Page Design</a:t>
            </a:r>
          </a:p>
        </p:txBody>
      </p:sp>
      <p:sp>
        <p:nvSpPr>
          <p:cNvPr id="3" name="Content Placeholder 2"/>
          <p:cNvSpPr>
            <a:spLocks noGrp="1"/>
          </p:cNvSpPr>
          <p:nvPr>
            <p:ph idx="1"/>
          </p:nvPr>
        </p:nvSpPr>
        <p:spPr>
          <a:xfrm>
            <a:off x="838200" y="1524000"/>
            <a:ext cx="10515600" cy="4652963"/>
          </a:xfrm>
        </p:spPr>
        <p:txBody>
          <a:bodyPr>
            <a:normAutofit/>
          </a:bodyPr>
          <a:lstStyle/>
          <a:p>
            <a:r>
              <a:rPr lang="en-US" dirty="0"/>
              <a:t>Designing for multiple screen resolutions is a necessity</a:t>
            </a:r>
          </a:p>
          <a:p>
            <a:r>
              <a:rPr lang="en-US" dirty="0"/>
              <a:t>Most web pages fit one of the following designs:</a:t>
            </a:r>
          </a:p>
          <a:p>
            <a:pPr lvl="1"/>
            <a:r>
              <a:rPr lang="en-US" b="1" dirty="0">
                <a:solidFill>
                  <a:srgbClr val="FF0000"/>
                </a:solidFill>
              </a:rPr>
              <a:t>Fixed design </a:t>
            </a:r>
            <a:r>
              <a:rPr lang="en-US" dirty="0"/>
              <a:t>- as the screen resolution changes, content remains aligned to left side of the page</a:t>
            </a:r>
          </a:p>
          <a:p>
            <a:pPr lvl="1"/>
            <a:endParaRPr lang="en-US" dirty="0"/>
          </a:p>
          <a:p>
            <a:pPr lvl="1"/>
            <a:r>
              <a:rPr lang="en-US" b="1" dirty="0">
                <a:solidFill>
                  <a:srgbClr val="FF0000"/>
                </a:solidFill>
              </a:rPr>
              <a:t>Flexible design </a:t>
            </a:r>
            <a:r>
              <a:rPr lang="en-US" dirty="0"/>
              <a:t>- as the screen resolution changes, content expands/contracts to accommodate varying screen widths</a:t>
            </a:r>
          </a:p>
          <a:p>
            <a:pPr lvl="1"/>
            <a:endParaRPr lang="en-US" dirty="0"/>
          </a:p>
          <a:p>
            <a:pPr lvl="1"/>
            <a:r>
              <a:rPr lang="en-US" b="1" dirty="0">
                <a:solidFill>
                  <a:srgbClr val="FF0000"/>
                </a:solidFill>
              </a:rPr>
              <a:t>Centered design </a:t>
            </a:r>
            <a:r>
              <a:rPr lang="en-US" dirty="0"/>
              <a:t>- as the screen resolution changes, the web page stays centered in the browser window, remaining space is divided equally between left and right side of the browser window</a:t>
            </a:r>
          </a:p>
          <a:p>
            <a:pPr lvl="1"/>
            <a:endParaRPr lang="en-US" dirty="0"/>
          </a:p>
          <a:p>
            <a:pPr lvl="1"/>
            <a:r>
              <a:rPr lang="en-US" b="1" dirty="0">
                <a:solidFill>
                  <a:srgbClr val="FF0000"/>
                </a:solidFill>
              </a:rPr>
              <a:t>Responsive design </a:t>
            </a:r>
            <a:r>
              <a:rPr lang="en-US" dirty="0"/>
              <a:t>– a type of flexible design to allow for “new media” (see later lecture on CSS3, and New Media)</a:t>
            </a:r>
          </a:p>
          <a:p>
            <a:pPr lvl="2"/>
            <a:endParaRPr lang="en-US" dirty="0"/>
          </a:p>
          <a:p>
            <a:endParaRPr lang="en-AU" dirty="0"/>
          </a:p>
        </p:txBody>
      </p:sp>
    </p:spTree>
    <p:extLst>
      <p:ext uri="{BB962C8B-B14F-4D97-AF65-F5344CB8AC3E}">
        <p14:creationId xmlns:p14="http://schemas.microsoft.com/office/powerpoint/2010/main" val="1339729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6147" name="Rectangle 3"/>
          <p:cNvSpPr>
            <a:spLocks noGrp="1" noChangeArrowheads="1"/>
          </p:cNvSpPr>
          <p:nvPr>
            <p:ph idx="1"/>
          </p:nvPr>
        </p:nvSpPr>
        <p:spPr/>
        <p:txBody>
          <a:bodyPr>
            <a:normAutofit/>
          </a:bodyPr>
          <a:lstStyle/>
          <a:p>
            <a:r>
              <a:rPr lang="en-AU" sz="2800" i="1" dirty="0"/>
              <a:t>Sketches</a:t>
            </a:r>
            <a:r>
              <a:rPr lang="en-AU" sz="2800" dirty="0"/>
              <a:t> and </a:t>
            </a:r>
            <a:r>
              <a:rPr lang="en-AU" sz="2800" i="1" dirty="0"/>
              <a:t>wireframes</a:t>
            </a:r>
            <a:r>
              <a:rPr lang="en-AU" sz="2800" dirty="0"/>
              <a:t> are used to determine where content is to be placed</a:t>
            </a:r>
          </a:p>
          <a:p>
            <a:pPr lvl="1"/>
            <a:r>
              <a:rPr lang="en-AU" sz="2400" dirty="0"/>
              <a:t>the </a:t>
            </a:r>
            <a:r>
              <a:rPr lang="en-AU" sz="2400" i="1" dirty="0"/>
              <a:t>nature</a:t>
            </a:r>
            <a:r>
              <a:rPr lang="en-AU" sz="2400" dirty="0"/>
              <a:t> of the content;</a:t>
            </a:r>
          </a:p>
          <a:p>
            <a:pPr lvl="1"/>
            <a:r>
              <a:rPr lang="en-AU" sz="2400" i="1" dirty="0"/>
              <a:t>Where</a:t>
            </a:r>
            <a:r>
              <a:rPr lang="en-AU" sz="2400" dirty="0"/>
              <a:t> the content is to be shown</a:t>
            </a:r>
          </a:p>
          <a:p>
            <a:pPr lvl="1"/>
            <a:r>
              <a:rPr lang="en-AU" sz="2400" i="1" dirty="0"/>
              <a:t>How</a:t>
            </a:r>
            <a:r>
              <a:rPr lang="en-AU" sz="2400" dirty="0"/>
              <a:t> the content will be navigated</a:t>
            </a:r>
          </a:p>
          <a:p>
            <a:r>
              <a:rPr lang="en-AU" sz="2800" dirty="0"/>
              <a:t>Detailed content </a:t>
            </a:r>
            <a:r>
              <a:rPr lang="en-AU" sz="2800" i="1" dirty="0"/>
              <a:t>development</a:t>
            </a:r>
            <a:r>
              <a:rPr lang="en-AU" sz="2800" dirty="0"/>
              <a:t> will  be possible </a:t>
            </a:r>
            <a:r>
              <a:rPr lang="en-AU" sz="2800" i="1" dirty="0"/>
              <a:t>after</a:t>
            </a:r>
            <a:r>
              <a:rPr lang="en-AU" sz="2800" dirty="0"/>
              <a:t> the page layouts have been established</a:t>
            </a:r>
          </a:p>
        </p:txBody>
      </p:sp>
      <p:sp>
        <p:nvSpPr>
          <p:cNvPr id="646146" name="Rectangle 2"/>
          <p:cNvSpPr>
            <a:spLocks noGrp="1" noChangeArrowheads="1"/>
          </p:cNvSpPr>
          <p:nvPr>
            <p:ph type="title"/>
          </p:nvPr>
        </p:nvSpPr>
        <p:spPr>
          <a:xfrm>
            <a:off x="838200" y="215899"/>
            <a:ext cx="10515600" cy="930275"/>
          </a:xfrm>
        </p:spPr>
        <p:txBody>
          <a:bodyPr vert="horz" lIns="91440" tIns="45720" rIns="91440" bIns="45720" rtlCol="0" anchor="ctr">
            <a:normAutofit/>
          </a:bodyPr>
          <a:lstStyle/>
          <a:p>
            <a:r>
              <a:rPr lang="en-AU" sz="4400" dirty="0">
                <a:solidFill>
                  <a:schemeClr val="bg1"/>
                </a:solidFill>
              </a:rPr>
              <a:t>Establishing a page layout</a:t>
            </a:r>
          </a:p>
        </p:txBody>
      </p:sp>
    </p:spTree>
    <p:extLst>
      <p:ext uri="{BB962C8B-B14F-4D97-AF65-F5344CB8AC3E}">
        <p14:creationId xmlns:p14="http://schemas.microsoft.com/office/powerpoint/2010/main" val="2448991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10515600" cy="930275"/>
          </a:xfrm>
        </p:spPr>
        <p:txBody>
          <a:bodyPr vert="horz" lIns="91440" tIns="45720" rIns="91440" bIns="45720" rtlCol="0" anchor="ctr">
            <a:normAutofit/>
          </a:bodyPr>
          <a:lstStyle/>
          <a:p>
            <a:r>
              <a:rPr lang="en-AU" sz="6000" dirty="0">
                <a:solidFill>
                  <a:schemeClr val="bg1"/>
                </a:solidFill>
              </a:rPr>
              <a:t>Sketches</a:t>
            </a:r>
          </a:p>
        </p:txBody>
      </p:sp>
      <p:pic>
        <p:nvPicPr>
          <p:cNvPr id="5" name="Content Placeholder 4" descr="http://stopdesign.com/img/articles/design-process/sketches.gif">
            <a:extLst>
              <a:ext uri="{FF2B5EF4-FFF2-40B4-BE49-F238E27FC236}">
                <a16:creationId xmlns:a16="http://schemas.microsoft.com/office/drawing/2014/main" id="{ABEDE15A-AF70-2544-7C20-B5F7FFD34A7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90599" y="1158875"/>
            <a:ext cx="7355089" cy="5222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050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53440" y="215899"/>
            <a:ext cx="10515600" cy="930275"/>
          </a:xfrm>
        </p:spPr>
        <p:txBody>
          <a:bodyPr vert="horz" lIns="91440" tIns="45720" rIns="91440" bIns="45720" rtlCol="0" anchor="ctr">
            <a:normAutofit/>
          </a:bodyPr>
          <a:lstStyle/>
          <a:p>
            <a:r>
              <a:rPr lang="en-AU" sz="6000" dirty="0">
                <a:solidFill>
                  <a:schemeClr val="bg1"/>
                </a:solidFill>
              </a:rPr>
              <a:t>Wire frames</a:t>
            </a:r>
          </a:p>
        </p:txBody>
      </p:sp>
      <p:sp>
        <p:nvSpPr>
          <p:cNvPr id="3" name="Content Placeholder 2"/>
          <p:cNvSpPr>
            <a:spLocks noGrp="1"/>
          </p:cNvSpPr>
          <p:nvPr>
            <p:ph idx="1"/>
          </p:nvPr>
        </p:nvSpPr>
        <p:spPr>
          <a:xfrm>
            <a:off x="838200" y="1295400"/>
            <a:ext cx="10515600" cy="4881563"/>
          </a:xfrm>
        </p:spPr>
        <p:txBody>
          <a:bodyPr/>
          <a:lstStyle/>
          <a:p>
            <a:r>
              <a:rPr lang="en-AU" dirty="0"/>
              <a:t>Wireframes are a step up from sketches</a:t>
            </a:r>
          </a:p>
          <a:p>
            <a:r>
              <a:rPr lang="en-AU" dirty="0"/>
              <a:t>Good wireframes must show all interested parties:</a:t>
            </a:r>
          </a:p>
          <a:p>
            <a:pPr lvl="1"/>
            <a:r>
              <a:rPr lang="en-AU" dirty="0"/>
              <a:t>The information design</a:t>
            </a:r>
          </a:p>
          <a:p>
            <a:pPr lvl="1"/>
            <a:r>
              <a:rPr lang="en-AU" dirty="0"/>
              <a:t>The navigation design</a:t>
            </a:r>
          </a:p>
          <a:p>
            <a:pPr lvl="1"/>
            <a:r>
              <a:rPr lang="en-AU" dirty="0"/>
              <a:t>The interface design</a:t>
            </a:r>
          </a:p>
          <a:p>
            <a:r>
              <a:rPr lang="en-AU" dirty="0"/>
              <a:t>Information design:</a:t>
            </a:r>
          </a:p>
          <a:p>
            <a:pPr lvl="1"/>
            <a:r>
              <a:rPr lang="en-AU" dirty="0"/>
              <a:t>Placement of information – information arrangement</a:t>
            </a:r>
          </a:p>
          <a:p>
            <a:r>
              <a:rPr lang="en-AU" dirty="0"/>
              <a:t>Navigation design:</a:t>
            </a:r>
          </a:p>
          <a:p>
            <a:pPr lvl="1"/>
            <a:r>
              <a:rPr lang="en-AU" dirty="0"/>
              <a:t>The means by which to find information</a:t>
            </a:r>
          </a:p>
          <a:p>
            <a:r>
              <a:rPr lang="en-AU" dirty="0"/>
              <a:t>Interface design:</a:t>
            </a:r>
          </a:p>
          <a:p>
            <a:pPr lvl="1"/>
            <a:r>
              <a:rPr lang="en-AU" dirty="0"/>
              <a:t>How users will/can interact with the product</a:t>
            </a:r>
          </a:p>
          <a:p>
            <a:pPr lvl="1"/>
            <a:endParaRPr lang="en-AU" dirty="0"/>
          </a:p>
          <a:p>
            <a:endParaRPr lang="en-AU" dirty="0"/>
          </a:p>
          <a:p>
            <a:pPr lvl="1"/>
            <a:endParaRPr lang="en-AU" dirty="0"/>
          </a:p>
          <a:p>
            <a:pPr lvl="1"/>
            <a:endParaRPr lang="en-AU" dirty="0"/>
          </a:p>
        </p:txBody>
      </p:sp>
    </p:spTree>
    <p:extLst>
      <p:ext uri="{BB962C8B-B14F-4D97-AF65-F5344CB8AC3E}">
        <p14:creationId xmlns:p14="http://schemas.microsoft.com/office/powerpoint/2010/main" val="294017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07720" y="215899"/>
            <a:ext cx="10515600" cy="930275"/>
          </a:xfrm>
        </p:spPr>
        <p:txBody>
          <a:bodyPr vert="horz" lIns="91440" tIns="45720" rIns="91440" bIns="45720" rtlCol="0" anchor="ctr">
            <a:normAutofit/>
          </a:bodyPr>
          <a:lstStyle/>
          <a:p>
            <a:r>
              <a:rPr lang="en-AU" sz="5000" dirty="0">
                <a:solidFill>
                  <a:schemeClr val="bg1"/>
                </a:solidFill>
              </a:rPr>
              <a:t>Content of wireframes</a:t>
            </a:r>
          </a:p>
        </p:txBody>
      </p:sp>
      <p:sp>
        <p:nvSpPr>
          <p:cNvPr id="3" name="Content Placeholder 2"/>
          <p:cNvSpPr>
            <a:spLocks noGrp="1"/>
          </p:cNvSpPr>
          <p:nvPr>
            <p:ph idx="1"/>
          </p:nvPr>
        </p:nvSpPr>
        <p:spPr>
          <a:xfrm>
            <a:off x="838200" y="1295400"/>
            <a:ext cx="10515600" cy="4881563"/>
          </a:xfrm>
        </p:spPr>
        <p:txBody>
          <a:bodyPr/>
          <a:lstStyle/>
          <a:p>
            <a:r>
              <a:rPr lang="en-AU" dirty="0"/>
              <a:t>Basic wireframes just show the positioning of all content</a:t>
            </a:r>
          </a:p>
          <a:p>
            <a:r>
              <a:rPr lang="en-AU" dirty="0"/>
              <a:t>Good wireframes should consist of all/most of the following:</a:t>
            </a:r>
          </a:p>
          <a:p>
            <a:pPr lvl="1"/>
            <a:r>
              <a:rPr lang="en-AU" dirty="0"/>
              <a:t>Navigation: look, font type, font size, colour</a:t>
            </a:r>
          </a:p>
          <a:p>
            <a:pPr lvl="1"/>
            <a:r>
              <a:rPr lang="en-AU" dirty="0"/>
              <a:t>Content: type (video/sound/text/animation), placeholder</a:t>
            </a:r>
          </a:p>
          <a:p>
            <a:pPr lvl="1"/>
            <a:r>
              <a:rPr lang="en-AU" dirty="0"/>
              <a:t>Text: identify font, size, colour</a:t>
            </a:r>
          </a:p>
          <a:p>
            <a:pPr lvl="1"/>
            <a:r>
              <a:rPr lang="en-AU" dirty="0"/>
              <a:t>Heading: identify font, size, colour</a:t>
            </a:r>
          </a:p>
          <a:p>
            <a:pPr lvl="1"/>
            <a:r>
              <a:rPr lang="en-AU" dirty="0"/>
              <a:t>Branding: size, format (logo)</a:t>
            </a:r>
          </a:p>
          <a:p>
            <a:pPr lvl="1"/>
            <a:r>
              <a:rPr lang="en-AU" dirty="0"/>
              <a:t>Footer: identify font, size, colour</a:t>
            </a:r>
          </a:p>
          <a:p>
            <a:pPr lvl="1"/>
            <a:r>
              <a:rPr lang="en-AU" dirty="0"/>
              <a:t>Background: colour/image</a:t>
            </a:r>
          </a:p>
          <a:p>
            <a:r>
              <a:rPr lang="en-AU" dirty="0"/>
              <a:t>Colour: must be defined as a hexadecimal value (#999999)</a:t>
            </a:r>
          </a:p>
          <a:p>
            <a:r>
              <a:rPr lang="en-AU" dirty="0"/>
              <a:t>Font: must be mentioned by name (Arial, Garamond, </a:t>
            </a:r>
            <a:r>
              <a:rPr lang="en-AU" dirty="0" err="1"/>
              <a:t>etc</a:t>
            </a:r>
            <a:r>
              <a:rPr lang="en-AU" dirty="0"/>
              <a:t>)</a:t>
            </a:r>
          </a:p>
        </p:txBody>
      </p:sp>
    </p:spTree>
    <p:extLst>
      <p:ext uri="{BB962C8B-B14F-4D97-AF65-F5344CB8AC3E}">
        <p14:creationId xmlns:p14="http://schemas.microsoft.com/office/powerpoint/2010/main" val="1520417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0617" name="Rectangle 9"/>
          <p:cNvSpPr>
            <a:spLocks noGrp="1" noChangeArrowheads="1"/>
          </p:cNvSpPr>
          <p:nvPr>
            <p:ph type="title"/>
          </p:nvPr>
        </p:nvSpPr>
        <p:spPr>
          <a:xfrm>
            <a:off x="838200" y="84957"/>
            <a:ext cx="10515600" cy="930275"/>
          </a:xfrm>
        </p:spPr>
        <p:txBody>
          <a:bodyPr vert="horz" lIns="91440" tIns="45720" rIns="91440" bIns="45720" rtlCol="0" anchor="ctr">
            <a:normAutofit/>
          </a:bodyPr>
          <a:lstStyle/>
          <a:p>
            <a:r>
              <a:rPr lang="en-AU" sz="6000" dirty="0">
                <a:solidFill>
                  <a:schemeClr val="bg1"/>
                </a:solidFill>
              </a:rPr>
              <a:t>Wireframes</a:t>
            </a:r>
          </a:p>
        </p:txBody>
      </p:sp>
      <p:pic>
        <p:nvPicPr>
          <p:cNvPr id="5" name="Picture 2">
            <a:extLst>
              <a:ext uri="{FF2B5EF4-FFF2-40B4-BE49-F238E27FC236}">
                <a16:creationId xmlns:a16="http://schemas.microsoft.com/office/drawing/2014/main" id="{24E832E8-D51E-22BF-1433-D8D8DD8035D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015232"/>
            <a:ext cx="10515600" cy="4928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7809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135586"/>
            <a:ext cx="10515600" cy="854075"/>
          </a:xfrm>
        </p:spPr>
        <p:txBody>
          <a:bodyPr vert="horz" lIns="91440" tIns="45720" rIns="91440" bIns="45720" rtlCol="0" anchor="ctr">
            <a:noAutofit/>
          </a:bodyPr>
          <a:lstStyle/>
          <a:p>
            <a:r>
              <a:rPr lang="en-AU" sz="6000" dirty="0">
                <a:solidFill>
                  <a:schemeClr val="bg1"/>
                </a:solidFill>
              </a:rPr>
              <a:t>Wireframes</a:t>
            </a:r>
          </a:p>
        </p:txBody>
      </p:sp>
      <p:sp>
        <p:nvSpPr>
          <p:cNvPr id="2" name="Content Placeholder 1"/>
          <p:cNvSpPr>
            <a:spLocks noGrp="1"/>
          </p:cNvSpPr>
          <p:nvPr>
            <p:ph sz="half" idx="1"/>
          </p:nvPr>
        </p:nvSpPr>
        <p:spPr>
          <a:xfrm>
            <a:off x="838200" y="1524000"/>
            <a:ext cx="4267200" cy="4652963"/>
          </a:xfrm>
        </p:spPr>
        <p:txBody>
          <a:bodyPr>
            <a:normAutofit fontScale="92500" lnSpcReduction="20000"/>
          </a:bodyPr>
          <a:lstStyle/>
          <a:p>
            <a:r>
              <a:rPr lang="en-AU" dirty="0"/>
              <a:t>Identify:</a:t>
            </a:r>
          </a:p>
          <a:p>
            <a:pPr lvl="1"/>
            <a:r>
              <a:rPr lang="en-AU" dirty="0"/>
              <a:t>Look</a:t>
            </a:r>
          </a:p>
          <a:p>
            <a:pPr lvl="1"/>
            <a:r>
              <a:rPr lang="en-AU" dirty="0"/>
              <a:t>Content Type</a:t>
            </a:r>
          </a:p>
          <a:p>
            <a:pPr lvl="1"/>
            <a:r>
              <a:rPr lang="en-AU" dirty="0"/>
              <a:t>Fonts</a:t>
            </a:r>
          </a:p>
          <a:p>
            <a:pPr lvl="1"/>
            <a:r>
              <a:rPr lang="en-AU" dirty="0"/>
              <a:t>Colours</a:t>
            </a:r>
          </a:p>
          <a:p>
            <a:pPr lvl="1"/>
            <a:r>
              <a:rPr lang="en-AU" dirty="0"/>
              <a:t>File Types</a:t>
            </a:r>
          </a:p>
          <a:p>
            <a:r>
              <a:rPr lang="en-AU" dirty="0"/>
              <a:t>Of:</a:t>
            </a:r>
          </a:p>
          <a:p>
            <a:pPr lvl="1"/>
            <a:r>
              <a:rPr lang="en-AU" dirty="0"/>
              <a:t>Navigation</a:t>
            </a:r>
          </a:p>
          <a:p>
            <a:pPr lvl="1"/>
            <a:r>
              <a:rPr lang="en-AU" dirty="0"/>
              <a:t>Content</a:t>
            </a:r>
          </a:p>
          <a:p>
            <a:pPr lvl="1"/>
            <a:r>
              <a:rPr lang="en-AU" dirty="0"/>
              <a:t>Text</a:t>
            </a:r>
          </a:p>
          <a:p>
            <a:pPr lvl="1"/>
            <a:r>
              <a:rPr lang="en-AU" dirty="0"/>
              <a:t>Headings</a:t>
            </a:r>
          </a:p>
          <a:p>
            <a:pPr lvl="1"/>
            <a:r>
              <a:rPr lang="en-AU" dirty="0"/>
              <a:t>Branding</a:t>
            </a:r>
          </a:p>
          <a:p>
            <a:pPr lvl="1"/>
            <a:r>
              <a:rPr lang="en-AU" dirty="0"/>
              <a:t>Footer</a:t>
            </a:r>
          </a:p>
          <a:p>
            <a:pPr lvl="1"/>
            <a:r>
              <a:rPr lang="en-AU" dirty="0"/>
              <a:t>Background</a:t>
            </a:r>
          </a:p>
        </p:txBody>
      </p:sp>
      <p:sp>
        <p:nvSpPr>
          <p:cNvPr id="7" name="Content Placeholder 6">
            <a:extLst>
              <a:ext uri="{FF2B5EF4-FFF2-40B4-BE49-F238E27FC236}">
                <a16:creationId xmlns:a16="http://schemas.microsoft.com/office/drawing/2014/main" id="{21CA4D4C-C577-AF34-9228-6BE515C8932C}"/>
              </a:ext>
            </a:extLst>
          </p:cNvPr>
          <p:cNvSpPr>
            <a:spLocks noGrp="1"/>
          </p:cNvSpPr>
          <p:nvPr>
            <p:ph sz="half" idx="2"/>
          </p:nvPr>
        </p:nvSpPr>
        <p:spPr/>
        <p:txBody>
          <a:bodyPr>
            <a:normAutofit fontScale="92500" lnSpcReduction="20000"/>
          </a:bodyPr>
          <a:lstStyle/>
          <a:p>
            <a:endParaRPr lang="en-AU"/>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233196"/>
            <a:ext cx="6329760" cy="5259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13104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9593" name="Rectangle 9"/>
          <p:cNvSpPr>
            <a:spLocks noGrp="1" noChangeArrowheads="1"/>
          </p:cNvSpPr>
          <p:nvPr>
            <p:ph idx="1"/>
          </p:nvPr>
        </p:nvSpPr>
        <p:spPr/>
        <p:txBody>
          <a:bodyPr/>
          <a:lstStyle/>
          <a:p>
            <a:r>
              <a:rPr lang="en-AU" dirty="0"/>
              <a:t>Once the page layout has been determined one or more templates may be created</a:t>
            </a:r>
          </a:p>
          <a:p>
            <a:pPr lvl="1"/>
            <a:r>
              <a:rPr lang="en-AU" dirty="0"/>
              <a:t>Bring order to chaos</a:t>
            </a:r>
          </a:p>
          <a:p>
            <a:pPr lvl="1"/>
            <a:r>
              <a:rPr lang="en-AU" dirty="0"/>
              <a:t>Establish a consistent, logical screen layout</a:t>
            </a:r>
          </a:p>
          <a:p>
            <a:pPr lvl="1"/>
            <a:r>
              <a:rPr lang="en-AU" dirty="0"/>
              <a:t>Allow easy dropping in of  text and graphics for each new page </a:t>
            </a:r>
          </a:p>
          <a:p>
            <a:pPr lvl="1"/>
            <a:r>
              <a:rPr lang="en-AU" dirty="0"/>
              <a:t>No need  to stop and  rethink basic design approach for every new page</a:t>
            </a:r>
          </a:p>
        </p:txBody>
      </p:sp>
      <p:sp>
        <p:nvSpPr>
          <p:cNvPr id="579592" name="Rectangle 8"/>
          <p:cNvSpPr>
            <a:spLocks noGrp="1" noChangeArrowheads="1"/>
          </p:cNvSpPr>
          <p:nvPr>
            <p:ph type="title"/>
          </p:nvPr>
        </p:nvSpPr>
        <p:spPr>
          <a:xfrm>
            <a:off x="838200" y="60325"/>
            <a:ext cx="10515600" cy="930275"/>
          </a:xfrm>
        </p:spPr>
        <p:txBody>
          <a:bodyPr vert="horz" lIns="91440" tIns="45720" rIns="91440" bIns="45720" rtlCol="0" anchor="ctr">
            <a:normAutofit/>
          </a:bodyPr>
          <a:lstStyle/>
          <a:p>
            <a:r>
              <a:rPr lang="en-AU" sz="6000" dirty="0">
                <a:solidFill>
                  <a:schemeClr val="bg1"/>
                </a:solidFill>
              </a:rPr>
              <a:t>Page template(s)</a:t>
            </a:r>
          </a:p>
        </p:txBody>
      </p:sp>
    </p:spTree>
    <p:extLst>
      <p:ext uri="{BB962C8B-B14F-4D97-AF65-F5344CB8AC3E}">
        <p14:creationId xmlns:p14="http://schemas.microsoft.com/office/powerpoint/2010/main" val="2643225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899"/>
            <a:ext cx="10515600" cy="930275"/>
          </a:xfrm>
        </p:spPr>
        <p:txBody>
          <a:bodyPr vert="horz" lIns="91440" tIns="45720" rIns="91440" bIns="45720" rtlCol="0" anchor="ctr">
            <a:normAutofit/>
          </a:bodyPr>
          <a:lstStyle/>
          <a:p>
            <a:r>
              <a:rPr lang="en-AU" sz="6000" dirty="0">
                <a:solidFill>
                  <a:schemeClr val="bg1"/>
                </a:solidFill>
              </a:rPr>
              <a:t>Mock-ups</a:t>
            </a:r>
          </a:p>
        </p:txBody>
      </p:sp>
      <p:sp>
        <p:nvSpPr>
          <p:cNvPr id="3" name="Content Placeholder 2"/>
          <p:cNvSpPr>
            <a:spLocks noGrp="1"/>
          </p:cNvSpPr>
          <p:nvPr>
            <p:ph idx="1"/>
          </p:nvPr>
        </p:nvSpPr>
        <p:spPr>
          <a:xfrm>
            <a:off x="838200" y="1295400"/>
            <a:ext cx="10515600" cy="4881563"/>
          </a:xfrm>
        </p:spPr>
        <p:txBody>
          <a:bodyPr/>
          <a:lstStyle/>
          <a:p>
            <a:r>
              <a:rPr lang="en-AU" dirty="0"/>
              <a:t>Mock-ups are an extension of wire-frames</a:t>
            </a:r>
          </a:p>
          <a:p>
            <a:r>
              <a:rPr lang="en-AU" dirty="0"/>
              <a:t>Wire frames were created for initial consultation with clients</a:t>
            </a:r>
          </a:p>
          <a:p>
            <a:r>
              <a:rPr lang="en-AU" dirty="0"/>
              <a:t>Likes and dislikes have become known</a:t>
            </a:r>
          </a:p>
          <a:p>
            <a:r>
              <a:rPr lang="en-AU" dirty="0"/>
              <a:t>More concrete look and feel pages may now be created</a:t>
            </a:r>
          </a:p>
          <a:p>
            <a:r>
              <a:rPr lang="en-AU" dirty="0"/>
              <a:t>Remember: wire frames are basically place-holders</a:t>
            </a:r>
          </a:p>
          <a:p>
            <a:r>
              <a:rPr lang="en-AU" dirty="0"/>
              <a:t>Mock-ups are more concrete</a:t>
            </a:r>
          </a:p>
          <a:p>
            <a:r>
              <a:rPr lang="en-AU" dirty="0"/>
              <a:t>Designers must expect a lot of critique after submission of mock-ups</a:t>
            </a:r>
          </a:p>
          <a:p>
            <a:pPr lvl="1"/>
            <a:r>
              <a:rPr lang="en-AU" dirty="0"/>
              <a:t>This is the stage where real likes and dislikes become known</a:t>
            </a:r>
          </a:p>
          <a:p>
            <a:r>
              <a:rPr lang="en-AU" dirty="0"/>
              <a:t>Designers must get a firm acceptance from clients before proceeding with more detailed designs.</a:t>
            </a:r>
          </a:p>
        </p:txBody>
      </p:sp>
    </p:spTree>
    <p:extLst>
      <p:ext uri="{BB962C8B-B14F-4D97-AF65-F5344CB8AC3E}">
        <p14:creationId xmlns:p14="http://schemas.microsoft.com/office/powerpoint/2010/main" val="383378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6B9C1F-BD2C-C68C-38B0-48607AF002AE}"/>
              </a:ext>
            </a:extLst>
          </p:cNvPr>
          <p:cNvSpPr>
            <a:spLocks noGrp="1"/>
          </p:cNvSpPr>
          <p:nvPr>
            <p:ph type="title"/>
          </p:nvPr>
        </p:nvSpPr>
        <p:spPr>
          <a:xfrm>
            <a:off x="762000" y="253999"/>
            <a:ext cx="10515600" cy="854075"/>
          </a:xfrm>
        </p:spPr>
        <p:txBody>
          <a:bodyPr vert="horz" lIns="91440" tIns="45720" rIns="91440" bIns="45720" rtlCol="0" anchor="ctr">
            <a:noAutofit/>
          </a:bodyPr>
          <a:lstStyle/>
          <a:p>
            <a:r>
              <a:rPr lang="en-AU" sz="6000" dirty="0">
                <a:solidFill>
                  <a:schemeClr val="bg1"/>
                </a:solidFill>
              </a:rPr>
              <a:t>GitHub</a:t>
            </a:r>
          </a:p>
        </p:txBody>
      </p:sp>
      <p:sp>
        <p:nvSpPr>
          <p:cNvPr id="3" name="Subtitle 2"/>
          <p:cNvSpPr>
            <a:spLocks noGrp="1"/>
          </p:cNvSpPr>
          <p:nvPr>
            <p:ph sz="half" idx="1"/>
          </p:nvPr>
        </p:nvSpPr>
        <p:spPr>
          <a:xfrm>
            <a:off x="457200" y="1530220"/>
            <a:ext cx="5562600" cy="4646743"/>
          </a:xfrm>
        </p:spPr>
        <p:txBody>
          <a:bodyPr>
            <a:normAutofit/>
          </a:bodyPr>
          <a:lstStyle/>
          <a:p>
            <a:r>
              <a:rPr lang="en-AU" dirty="0"/>
              <a:t>GitHub Pages are public webpages hosted and easily published through GitHub. </a:t>
            </a:r>
          </a:p>
          <a:p>
            <a:endParaRPr lang="en-AU" dirty="0"/>
          </a:p>
          <a:p>
            <a:r>
              <a:rPr lang="en-AU" dirty="0"/>
              <a:t>The quickest way to get up and running is by using the Jekyll Theme Chooser to load a pre-made theme. </a:t>
            </a:r>
          </a:p>
          <a:p>
            <a:endParaRPr lang="en-AU" dirty="0"/>
          </a:p>
          <a:p>
            <a:r>
              <a:rPr lang="en-AU" dirty="0"/>
              <a:t>You can then modify your GitHub Pages’ content and style remotely via the web or locally on your computer.</a:t>
            </a:r>
          </a:p>
        </p:txBody>
      </p:sp>
      <p:pic>
        <p:nvPicPr>
          <p:cNvPr id="1026" name="Picture 2" descr="pages-home-page"/>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05600" y="2276571"/>
            <a:ext cx="4648200" cy="3147821"/>
          </a:xfrm>
          <a:prstGeom prst="rect">
            <a:avLst/>
          </a:prstGeom>
          <a:solidFill>
            <a:srgbClr val="FFFFFF"/>
          </a:solidFill>
        </p:spPr>
      </p:pic>
    </p:spTree>
    <p:extLst>
      <p:ext uri="{BB962C8B-B14F-4D97-AF65-F5344CB8AC3E}">
        <p14:creationId xmlns:p14="http://schemas.microsoft.com/office/powerpoint/2010/main" val="3521356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5D377E8-8143-73FB-4E18-F1194FB03840}"/>
              </a:ext>
            </a:extLst>
          </p:cNvPr>
          <p:cNvSpPr>
            <a:spLocks noGrp="1"/>
          </p:cNvSpPr>
          <p:nvPr>
            <p:ph type="title"/>
          </p:nvPr>
        </p:nvSpPr>
        <p:spPr>
          <a:xfrm>
            <a:off x="762000" y="133254"/>
            <a:ext cx="10515600" cy="854075"/>
          </a:xfrm>
        </p:spPr>
        <p:txBody>
          <a:bodyPr vert="horz" lIns="91440" tIns="45720" rIns="91440" bIns="45720" rtlCol="0" anchor="ctr">
            <a:noAutofit/>
          </a:bodyPr>
          <a:lstStyle/>
          <a:p>
            <a:r>
              <a:rPr lang="en-AU" sz="5000" dirty="0">
                <a:solidFill>
                  <a:schemeClr val="bg1"/>
                </a:solidFill>
              </a:rPr>
              <a:t>GitHub: Create Your Website</a:t>
            </a:r>
          </a:p>
        </p:txBody>
      </p:sp>
      <p:sp>
        <p:nvSpPr>
          <p:cNvPr id="3" name="Subtitle 2"/>
          <p:cNvSpPr>
            <a:spLocks noGrp="1"/>
          </p:cNvSpPr>
          <p:nvPr>
            <p:ph sz="half" idx="1"/>
          </p:nvPr>
        </p:nvSpPr>
        <p:spPr/>
        <p:txBody>
          <a:bodyPr>
            <a:normAutofit fontScale="92500"/>
          </a:bodyPr>
          <a:lstStyle/>
          <a:p>
            <a:r>
              <a:rPr lang="en-AU" dirty="0"/>
              <a:t>Once you’ve signed in, you’ll create a new repository to get started.</a:t>
            </a:r>
          </a:p>
          <a:p>
            <a:endParaRPr lang="en-AU" dirty="0"/>
          </a:p>
          <a:p>
            <a:r>
              <a:rPr lang="en-AU" dirty="0"/>
              <a:t>On the new repository screen, you need to give this repository a special name to generate your website.</a:t>
            </a:r>
          </a:p>
          <a:p>
            <a:endParaRPr lang="en-AU" dirty="0"/>
          </a:p>
          <a:p>
            <a:r>
              <a:rPr lang="en-AU" dirty="0"/>
              <a:t>Your website’s files will live in a repository named username.github.io (where “username” is your actual GitHub user name). To begin setting up your site, you have to open the Settings tab</a:t>
            </a:r>
          </a:p>
        </p:txBody>
      </p:sp>
      <p:sp>
        <p:nvSpPr>
          <p:cNvPr id="15" name="Content Placeholder 14">
            <a:extLst>
              <a:ext uri="{FF2B5EF4-FFF2-40B4-BE49-F238E27FC236}">
                <a16:creationId xmlns:a16="http://schemas.microsoft.com/office/drawing/2014/main" id="{2C0CC528-CCD1-0D0D-266F-C0AE72DBE58F}"/>
              </a:ext>
            </a:extLst>
          </p:cNvPr>
          <p:cNvSpPr>
            <a:spLocks noGrp="1"/>
          </p:cNvSpPr>
          <p:nvPr>
            <p:ph sz="half" idx="2"/>
          </p:nvPr>
        </p:nvSpPr>
        <p:spPr/>
        <p:txBody>
          <a:bodyPr>
            <a:normAutofit fontScale="92500"/>
          </a:bodyPr>
          <a:lstStyle/>
          <a:p>
            <a:endParaRPr lang="en-AU"/>
          </a:p>
        </p:txBody>
      </p:sp>
      <p:pic>
        <p:nvPicPr>
          <p:cNvPr id="2050" name="Picture 2" descr="new-repo-butt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81592" y="1524000"/>
            <a:ext cx="1872208" cy="133558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ew-repo-scre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9363" y="3063615"/>
            <a:ext cx="4068217" cy="1454660"/>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descr="settings-tab"/>
          <p:cNvPicPr>
            <a:picLocks noChangeAspect="1" noChangeArrowheads="1"/>
          </p:cNvPicPr>
          <p:nvPr/>
        </p:nvPicPr>
        <p:blipFill rotWithShape="1">
          <a:blip r:embed="rId4">
            <a:extLst>
              <a:ext uri="{28A0092B-C50C-407E-A947-70E740481C1C}">
                <a14:useLocalDpi xmlns:a14="http://schemas.microsoft.com/office/drawing/2010/main" val="0"/>
              </a:ext>
            </a:extLst>
          </a:blip>
          <a:srcRect r="6661"/>
          <a:stretch/>
        </p:blipFill>
        <p:spPr bwMode="auto">
          <a:xfrm>
            <a:off x="7819188" y="4656072"/>
            <a:ext cx="3528392" cy="1401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8283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92A03F3-1B96-7EC4-55D3-2CCCD9BEAB9F}"/>
              </a:ext>
            </a:extLst>
          </p:cNvPr>
          <p:cNvSpPr>
            <a:spLocks noGrp="1"/>
          </p:cNvSpPr>
          <p:nvPr>
            <p:ph type="title"/>
          </p:nvPr>
        </p:nvSpPr>
        <p:spPr>
          <a:xfrm>
            <a:off x="838200" y="253999"/>
            <a:ext cx="10515600" cy="854075"/>
          </a:xfrm>
        </p:spPr>
        <p:txBody>
          <a:bodyPr vert="horz" lIns="91440" tIns="45720" rIns="91440" bIns="45720" rtlCol="0" anchor="ctr">
            <a:normAutofit/>
          </a:bodyPr>
          <a:lstStyle/>
          <a:p>
            <a:r>
              <a:rPr lang="en-AU" sz="5000" dirty="0">
                <a:solidFill>
                  <a:schemeClr val="bg1"/>
                </a:solidFill>
              </a:rPr>
              <a:t>GitHub: Create Your Website</a:t>
            </a:r>
          </a:p>
        </p:txBody>
      </p:sp>
      <p:sp>
        <p:nvSpPr>
          <p:cNvPr id="15" name="Content Placeholder 14">
            <a:extLst>
              <a:ext uri="{FF2B5EF4-FFF2-40B4-BE49-F238E27FC236}">
                <a16:creationId xmlns:a16="http://schemas.microsoft.com/office/drawing/2014/main" id="{E6B6580A-F71C-8E9E-3243-A99AC7C097D7}"/>
              </a:ext>
            </a:extLst>
          </p:cNvPr>
          <p:cNvSpPr>
            <a:spLocks noGrp="1"/>
          </p:cNvSpPr>
          <p:nvPr>
            <p:ph sz="half" idx="1"/>
          </p:nvPr>
        </p:nvSpPr>
        <p:spPr>
          <a:xfrm>
            <a:off x="838200" y="1524000"/>
            <a:ext cx="6536298" cy="4652963"/>
          </a:xfrm>
        </p:spPr>
        <p:txBody>
          <a:bodyPr>
            <a:normAutofit/>
          </a:bodyPr>
          <a:lstStyle/>
          <a:p>
            <a:pPr marL="0" lvl="0" indent="0">
              <a:buNone/>
            </a:pPr>
            <a:r>
              <a:rPr lang="en-AU" dirty="0"/>
              <a:t>If you scroll down on the settings page, you’ll see the GitHub Pages section near the bottom. Click the Choose a theme button to start the process of creating your site.</a:t>
            </a:r>
          </a:p>
          <a:p>
            <a:pPr marL="0" lvl="0" indent="0">
              <a:buNone/>
            </a:pPr>
            <a:endParaRPr lang="en-AU" dirty="0"/>
          </a:p>
          <a:p>
            <a:pPr marL="0" lvl="0" indent="0">
              <a:buNone/>
            </a:pPr>
            <a:r>
              <a:rPr lang="en-AU" dirty="0"/>
              <a:t>Once you’ve clicked the button, you’ll be directed to the Theme Chooser. You’ll see several theme options in a carousel across the top of the page. Click on the images to preview the themes. Once you’ve selected one, click Select theme on the right to move on. It’s easy to change your theme later, so if you’re not sure, just choose one for now.</a:t>
            </a:r>
          </a:p>
          <a:p>
            <a:endParaRPr lang="en-AU" dirty="0"/>
          </a:p>
        </p:txBody>
      </p:sp>
      <p:sp>
        <p:nvSpPr>
          <p:cNvPr id="16" name="Content Placeholder 15">
            <a:extLst>
              <a:ext uri="{FF2B5EF4-FFF2-40B4-BE49-F238E27FC236}">
                <a16:creationId xmlns:a16="http://schemas.microsoft.com/office/drawing/2014/main" id="{5F3962BE-8C12-38CE-081A-4494AF22D876}"/>
              </a:ext>
            </a:extLst>
          </p:cNvPr>
          <p:cNvSpPr>
            <a:spLocks noGrp="1"/>
          </p:cNvSpPr>
          <p:nvPr>
            <p:ph sz="half" idx="2"/>
          </p:nvPr>
        </p:nvSpPr>
        <p:spPr>
          <a:xfrm>
            <a:off x="7393158" y="1524000"/>
            <a:ext cx="3960641" cy="4652963"/>
          </a:xfrm>
        </p:spPr>
        <p:txBody>
          <a:bodyPr>
            <a:normAutofit/>
          </a:bodyPr>
          <a:lstStyle/>
          <a:p>
            <a:endParaRPr lang="en-AU" dirty="0"/>
          </a:p>
        </p:txBody>
      </p:sp>
      <p:pic>
        <p:nvPicPr>
          <p:cNvPr id="9" name="Picture 8" descr="launch-theme-choose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93159" y="1524000"/>
            <a:ext cx="3941980" cy="2025764"/>
          </a:xfrm>
          <a:prstGeom prst="rect">
            <a:avLst/>
          </a:prstGeom>
          <a:noFill/>
          <a:ln>
            <a:noFill/>
          </a:ln>
        </p:spPr>
      </p:pic>
      <p:pic>
        <p:nvPicPr>
          <p:cNvPr id="11" name="Picture 10" descr="theme-chooser"/>
          <p:cNvPicPr/>
          <p:nvPr/>
        </p:nvPicPr>
        <p:blipFill rotWithShape="1">
          <a:blip r:embed="rId3" cstate="print">
            <a:extLst>
              <a:ext uri="{28A0092B-C50C-407E-A947-70E740481C1C}">
                <a14:useLocalDpi xmlns:a14="http://schemas.microsoft.com/office/drawing/2010/main" val="0"/>
              </a:ext>
            </a:extLst>
          </a:blip>
          <a:srcRect t="6555" r="1625"/>
          <a:stretch/>
        </p:blipFill>
        <p:spPr bwMode="auto">
          <a:xfrm>
            <a:off x="7784705" y="4236304"/>
            <a:ext cx="3573760" cy="194065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06391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FC847A4-6310-FE3D-2E1B-072B4AF7D68B}"/>
              </a:ext>
            </a:extLst>
          </p:cNvPr>
          <p:cNvSpPr>
            <a:spLocks noGrp="1"/>
          </p:cNvSpPr>
          <p:nvPr>
            <p:ph type="title"/>
          </p:nvPr>
        </p:nvSpPr>
        <p:spPr>
          <a:xfrm>
            <a:off x="838200" y="253999"/>
            <a:ext cx="10515600" cy="854075"/>
          </a:xfrm>
        </p:spPr>
        <p:txBody>
          <a:bodyPr vert="horz" lIns="91440" tIns="45720" rIns="91440" bIns="45720" rtlCol="0" anchor="ctr">
            <a:normAutofit/>
          </a:bodyPr>
          <a:lstStyle/>
          <a:p>
            <a:r>
              <a:rPr lang="en-AU" sz="5000" dirty="0">
                <a:solidFill>
                  <a:schemeClr val="bg1"/>
                </a:solidFill>
              </a:rPr>
              <a:t>GitHub: Create Your Website</a:t>
            </a:r>
          </a:p>
        </p:txBody>
      </p:sp>
      <p:sp>
        <p:nvSpPr>
          <p:cNvPr id="3" name="Subtitle 2"/>
          <p:cNvSpPr>
            <a:spLocks noGrp="1"/>
          </p:cNvSpPr>
          <p:nvPr>
            <p:ph sz="half" idx="1"/>
          </p:nvPr>
        </p:nvSpPr>
        <p:spPr>
          <a:xfrm>
            <a:off x="838200" y="1524000"/>
            <a:ext cx="6400800" cy="4652963"/>
          </a:xfrm>
        </p:spPr>
        <p:txBody>
          <a:bodyPr>
            <a:normAutofit lnSpcReduction="10000"/>
          </a:bodyPr>
          <a:lstStyle/>
          <a:p>
            <a:pPr lvl="0"/>
            <a:r>
              <a:rPr lang="en-AU" dirty="0"/>
              <a:t>Here’s where you’ll write your own content (You can keep the default content for now, if you’d like).</a:t>
            </a:r>
          </a:p>
          <a:p>
            <a:pPr lvl="0"/>
            <a:endParaRPr lang="en-AU" dirty="0"/>
          </a:p>
          <a:p>
            <a:pPr lvl="0"/>
            <a:r>
              <a:rPr lang="en-AU" dirty="0"/>
              <a:t>Once you’re finished editing, scroll down to the bottom of the page and click Commit changes.</a:t>
            </a:r>
          </a:p>
          <a:p>
            <a:pPr lvl="0"/>
            <a:endParaRPr lang="en-AU" dirty="0"/>
          </a:p>
          <a:p>
            <a:pPr lvl="0"/>
            <a:r>
              <a:rPr lang="en-AU" dirty="0"/>
              <a:t>GitHub does all the work to direct visitors to username.github.io to view your new website. This can take up to 10 minutes. After some time has passed, you can open a new tab in your browser to go to your site!</a:t>
            </a:r>
          </a:p>
        </p:txBody>
      </p:sp>
      <p:sp>
        <p:nvSpPr>
          <p:cNvPr id="10" name="Rectangle 9"/>
          <p:cNvSpPr/>
          <p:nvPr/>
        </p:nvSpPr>
        <p:spPr>
          <a:xfrm>
            <a:off x="609600" y="171578"/>
            <a:ext cx="11305256" cy="1754326"/>
          </a:xfrm>
          <a:prstGeom prst="rect">
            <a:avLst/>
          </a:prstGeom>
        </p:spPr>
        <p:txBody>
          <a:bodyPr wrap="square">
            <a:spAutoFit/>
          </a:bodyPr>
          <a:lstStyle/>
          <a:p>
            <a:endParaRPr lang="en-AU" sz="5400" b="1" dirty="0">
              <a:solidFill>
                <a:srgbClr val="FFFF00"/>
              </a:solidFill>
              <a:effectLst>
                <a:outerShdw blurRad="38100" dist="38100" dir="2700000" algn="tl">
                  <a:srgbClr val="000000">
                    <a:alpha val="43137"/>
                  </a:srgbClr>
                </a:outerShdw>
              </a:effectLst>
              <a:latin typeface="Dodger" panose="00000400000000000000" pitchFamily="2" charset="0"/>
              <a:ea typeface="+mj-ea"/>
            </a:endParaRPr>
          </a:p>
          <a:p>
            <a:endParaRPr lang="en-AU" sz="5400" b="1" dirty="0">
              <a:solidFill>
                <a:srgbClr val="FFFF00"/>
              </a:solidFill>
              <a:effectLst>
                <a:outerShdw blurRad="38100" dist="38100" dir="2700000" algn="tl">
                  <a:srgbClr val="000000">
                    <a:alpha val="43137"/>
                  </a:srgbClr>
                </a:outerShdw>
              </a:effectLst>
              <a:latin typeface="Dodger" panose="00000400000000000000" pitchFamily="2" charset="0"/>
              <a:ea typeface="+mj-ea"/>
            </a:endParaRPr>
          </a:p>
        </p:txBody>
      </p:sp>
      <p:pic>
        <p:nvPicPr>
          <p:cNvPr id="11" name="Content Placeholder 10" descr="code-editor">
            <a:extLst>
              <a:ext uri="{FF2B5EF4-FFF2-40B4-BE49-F238E27FC236}">
                <a16:creationId xmlns:a16="http://schemas.microsoft.com/office/drawing/2014/main" id="{912F01A9-431B-7B89-A343-EAF91E5140CE}"/>
              </a:ext>
            </a:extLst>
          </p:cNvPr>
          <p:cNvPicPr>
            <a:picLocks noGrp="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7620000" y="2632607"/>
            <a:ext cx="4019397" cy="2435747"/>
          </a:xfrm>
          <a:prstGeom prst="rect">
            <a:avLst/>
          </a:prstGeom>
          <a:noFill/>
          <a:ln>
            <a:noFill/>
          </a:ln>
        </p:spPr>
      </p:pic>
    </p:spTree>
    <p:extLst>
      <p:ext uri="{BB962C8B-B14F-4D97-AF65-F5344CB8AC3E}">
        <p14:creationId xmlns:p14="http://schemas.microsoft.com/office/powerpoint/2010/main" val="3675180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F646C1A-EBE0-C467-4F42-4EE71384A0EF}"/>
              </a:ext>
            </a:extLst>
          </p:cNvPr>
          <p:cNvSpPr>
            <a:spLocks noGrp="1"/>
          </p:cNvSpPr>
          <p:nvPr>
            <p:ph type="title"/>
          </p:nvPr>
        </p:nvSpPr>
        <p:spPr/>
        <p:txBody>
          <a:bodyPr vert="horz" lIns="91440" tIns="45720" rIns="91440" bIns="45720" rtlCol="0" anchor="ctr">
            <a:normAutofit fontScale="90000"/>
          </a:bodyPr>
          <a:lstStyle/>
          <a:p>
            <a:r>
              <a:rPr lang="en-AU" sz="5600" dirty="0">
                <a:solidFill>
                  <a:schemeClr val="bg1"/>
                </a:solidFill>
              </a:rPr>
              <a:t>GitHub : features</a:t>
            </a:r>
            <a:br>
              <a:rPr lang="en-AU" dirty="0">
                <a:solidFill>
                  <a:schemeClr val="bg1"/>
                </a:solidFill>
              </a:rPr>
            </a:br>
            <a:endParaRPr lang="en-AU" dirty="0">
              <a:solidFill>
                <a:schemeClr val="bg1"/>
              </a:solidFill>
            </a:endParaRPr>
          </a:p>
        </p:txBody>
      </p:sp>
      <p:sp>
        <p:nvSpPr>
          <p:cNvPr id="3" name="Subtitle 2"/>
          <p:cNvSpPr>
            <a:spLocks noGrp="1"/>
          </p:cNvSpPr>
          <p:nvPr>
            <p:ph idx="1"/>
          </p:nvPr>
        </p:nvSpPr>
        <p:spPr/>
        <p:txBody>
          <a:bodyPr>
            <a:normAutofit/>
          </a:bodyPr>
          <a:lstStyle/>
          <a:p>
            <a:pPr lvl="0"/>
            <a:r>
              <a:rPr lang="en-AU" sz="2800" dirty="0"/>
              <a:t>issues tracker</a:t>
            </a:r>
          </a:p>
          <a:p>
            <a:pPr lvl="0"/>
            <a:r>
              <a:rPr lang="en-AU" sz="2800" dirty="0"/>
              <a:t>wiki</a:t>
            </a:r>
          </a:p>
          <a:p>
            <a:pPr lvl="0"/>
            <a:r>
              <a:rPr lang="en-AU" sz="2800" dirty="0"/>
              <a:t>forks</a:t>
            </a:r>
          </a:p>
          <a:p>
            <a:pPr lvl="0"/>
            <a:r>
              <a:rPr lang="en-AU" sz="2800" dirty="0"/>
              <a:t>pull requests</a:t>
            </a:r>
          </a:p>
          <a:p>
            <a:pPr lvl="0"/>
            <a:r>
              <a:rPr lang="en-AU" sz="2800" dirty="0"/>
              <a:t>actions / builds / deployment</a:t>
            </a:r>
          </a:p>
          <a:p>
            <a:pPr lvl="0"/>
            <a:r>
              <a:rPr lang="en-AU" sz="2800" dirty="0"/>
              <a:t>insights</a:t>
            </a:r>
          </a:p>
        </p:txBody>
      </p:sp>
    </p:spTree>
    <p:extLst>
      <p:ext uri="{BB962C8B-B14F-4D97-AF65-F5344CB8AC3E}">
        <p14:creationId xmlns:p14="http://schemas.microsoft.com/office/powerpoint/2010/main" val="537819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899"/>
            <a:ext cx="10515600" cy="930275"/>
          </a:xfrm>
        </p:spPr>
        <p:txBody>
          <a:bodyPr vert="horz" lIns="91440" tIns="45720" rIns="91440" bIns="45720" rtlCol="0" anchor="ctr">
            <a:normAutofit/>
          </a:bodyPr>
          <a:lstStyle/>
          <a:p>
            <a:r>
              <a:rPr lang="en-AU" sz="6000" dirty="0">
                <a:solidFill>
                  <a:schemeClr val="bg1"/>
                </a:solidFill>
              </a:rPr>
              <a:t>Bit bucket</a:t>
            </a:r>
          </a:p>
        </p:txBody>
      </p:sp>
      <p:sp>
        <p:nvSpPr>
          <p:cNvPr id="5" name="Content Placeholder 4">
            <a:extLst>
              <a:ext uri="{FF2B5EF4-FFF2-40B4-BE49-F238E27FC236}">
                <a16:creationId xmlns:a16="http://schemas.microsoft.com/office/drawing/2014/main" id="{4AA7C216-8DA6-7982-7DFC-5C36C01EC20C}"/>
              </a:ext>
            </a:extLst>
          </p:cNvPr>
          <p:cNvSpPr>
            <a:spLocks noGrp="1"/>
          </p:cNvSpPr>
          <p:nvPr>
            <p:ph idx="1"/>
          </p:nvPr>
        </p:nvSpPr>
        <p:spPr/>
        <p:txBody>
          <a:bodyPr/>
          <a:lstStyle/>
          <a:p>
            <a:r>
              <a:rPr lang="en-AU" dirty="0"/>
              <a:t>GitHub owned by Microsoft</a:t>
            </a:r>
          </a:p>
          <a:p>
            <a:r>
              <a:rPr lang="en-AU" dirty="0"/>
              <a:t>https://bitbucket.org/ owned by Atlassian</a:t>
            </a:r>
          </a:p>
          <a:p>
            <a:pPr marL="0" indent="0">
              <a:buNone/>
            </a:pPr>
            <a:r>
              <a:rPr lang="en-AU" dirty="0"/>
              <a:t>–issue tracker (Jira integration)</a:t>
            </a:r>
          </a:p>
          <a:p>
            <a:pPr marL="0" indent="0">
              <a:buNone/>
            </a:pPr>
            <a:r>
              <a:rPr lang="en-AU" dirty="0"/>
              <a:t>–wiki</a:t>
            </a:r>
          </a:p>
          <a:p>
            <a:pPr marL="0" indent="0">
              <a:buNone/>
            </a:pPr>
            <a:r>
              <a:rPr lang="en-AU" dirty="0"/>
              <a:t>–forks</a:t>
            </a:r>
          </a:p>
          <a:p>
            <a:pPr marL="0" indent="0">
              <a:buNone/>
            </a:pPr>
            <a:r>
              <a:rPr lang="en-AU" dirty="0"/>
              <a:t>–pull requests</a:t>
            </a:r>
          </a:p>
          <a:p>
            <a:pPr marL="0" indent="0">
              <a:buNone/>
            </a:pPr>
            <a:r>
              <a:rPr lang="en-AU" dirty="0"/>
              <a:t>–pipelines / deployments</a:t>
            </a:r>
          </a:p>
          <a:p>
            <a:endParaRPr lang="en-AU" dirty="0"/>
          </a:p>
        </p:txBody>
      </p:sp>
    </p:spTree>
    <p:extLst>
      <p:ext uri="{BB962C8B-B14F-4D97-AF65-F5344CB8AC3E}">
        <p14:creationId xmlns:p14="http://schemas.microsoft.com/office/powerpoint/2010/main" val="39798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94078E-BC10-0E38-0137-127D20DA1F69}"/>
              </a:ext>
            </a:extLst>
          </p:cNvPr>
          <p:cNvSpPr>
            <a:spLocks noGrp="1"/>
          </p:cNvSpPr>
          <p:nvPr>
            <p:ph type="title"/>
          </p:nvPr>
        </p:nvSpPr>
        <p:spPr>
          <a:xfrm>
            <a:off x="815340" y="215899"/>
            <a:ext cx="10515600" cy="930275"/>
          </a:xfrm>
        </p:spPr>
        <p:txBody>
          <a:bodyPr vert="horz" lIns="91440" tIns="45720" rIns="91440" bIns="45720" rtlCol="0" anchor="ctr">
            <a:normAutofit/>
          </a:bodyPr>
          <a:lstStyle/>
          <a:p>
            <a:r>
              <a:rPr lang="en-AU" sz="6000" dirty="0">
                <a:solidFill>
                  <a:schemeClr val="bg1"/>
                </a:solidFill>
              </a:rPr>
              <a:t>Visual Studio Code</a:t>
            </a:r>
          </a:p>
        </p:txBody>
      </p:sp>
      <p:sp>
        <p:nvSpPr>
          <p:cNvPr id="11267" name="Rectangle 3"/>
          <p:cNvSpPr>
            <a:spLocks noGrp="1" noChangeArrowheads="1"/>
          </p:cNvSpPr>
          <p:nvPr>
            <p:ph idx="1"/>
            <p:custDataLst>
              <p:tags r:id="rId2"/>
            </p:custDataLst>
          </p:nvPr>
        </p:nvSpPr>
        <p:spPr/>
        <p:txBody>
          <a:bodyPr/>
          <a:lstStyle/>
          <a:p>
            <a:r>
              <a:rPr lang="en-AU" dirty="0"/>
              <a:t>Open Source Microsoft product</a:t>
            </a:r>
          </a:p>
          <a:p>
            <a:r>
              <a:rPr lang="en-AU" dirty="0"/>
              <a:t>Extensions</a:t>
            </a:r>
          </a:p>
          <a:p>
            <a:pPr lvl="1">
              <a:lnSpc>
                <a:spcPct val="150000"/>
              </a:lnSpc>
            </a:pPr>
            <a:r>
              <a:rPr lang="en-AU" dirty="0"/>
              <a:t>spell check</a:t>
            </a:r>
          </a:p>
          <a:p>
            <a:pPr lvl="1">
              <a:lnSpc>
                <a:spcPct val="150000"/>
              </a:lnSpc>
            </a:pPr>
            <a:r>
              <a:rPr lang="en-AU" dirty="0"/>
              <a:t>CSS formatter</a:t>
            </a:r>
          </a:p>
          <a:p>
            <a:pPr lvl="1">
              <a:lnSpc>
                <a:spcPct val="150000"/>
              </a:lnSpc>
            </a:pPr>
            <a:r>
              <a:rPr lang="en-AU" dirty="0"/>
              <a:t>lint / validate</a:t>
            </a:r>
          </a:p>
          <a:p>
            <a:pPr lvl="1">
              <a:lnSpc>
                <a:spcPct val="150000"/>
              </a:lnSpc>
            </a:pPr>
            <a:r>
              <a:rPr lang="en-AU" dirty="0" err="1"/>
              <a:t>emmet</a:t>
            </a:r>
            <a:r>
              <a:rPr lang="en-AU" dirty="0"/>
              <a:t> /Zen coding (a set of plug-ins for editors)</a:t>
            </a:r>
          </a:p>
          <a:p>
            <a:pPr lvl="1">
              <a:lnSpc>
                <a:spcPct val="150000"/>
              </a:lnSpc>
            </a:pPr>
            <a:r>
              <a:rPr lang="en-AU" dirty="0"/>
              <a:t>HTML preview</a:t>
            </a:r>
          </a:p>
          <a:p>
            <a:pPr lvl="0"/>
            <a:endParaRPr lang="en-AU" dirty="0"/>
          </a:p>
        </p:txBody>
      </p:sp>
    </p:spTree>
    <p:custDataLst>
      <p:tags r:id="rId1"/>
    </p:custDataLst>
    <p:extLst>
      <p:ext uri="{BB962C8B-B14F-4D97-AF65-F5344CB8AC3E}">
        <p14:creationId xmlns:p14="http://schemas.microsoft.com/office/powerpoint/2010/main" val="636588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vert="horz" lIns="91440" tIns="45720" rIns="91440" bIns="45720" rtlCol="0" anchor="ctr">
            <a:normAutofit fontScale="90000"/>
          </a:bodyPr>
          <a:lstStyle/>
          <a:p>
            <a:r>
              <a:rPr lang="en-AU" dirty="0">
                <a:solidFill>
                  <a:schemeClr val="bg1"/>
                </a:solidFill>
              </a:rPr>
              <a:t>What are the differences between GUI and CLI?</a:t>
            </a:r>
            <a:br>
              <a:rPr lang="en-AU" dirty="0">
                <a:solidFill>
                  <a:schemeClr val="bg1"/>
                </a:solidFill>
              </a:rPr>
            </a:br>
            <a:endParaRPr lang="en-AU" dirty="0">
              <a:solidFill>
                <a:schemeClr val="bg1"/>
              </a:solidFill>
            </a:endParaRPr>
          </a:p>
        </p:txBody>
      </p:sp>
      <p:sp>
        <p:nvSpPr>
          <p:cNvPr id="2" name="Content Placeholder 1"/>
          <p:cNvSpPr>
            <a:spLocks noGrp="1"/>
          </p:cNvSpPr>
          <p:nvPr>
            <p:ph idx="1"/>
          </p:nvPr>
        </p:nvSpPr>
        <p:spPr/>
        <p:txBody>
          <a:bodyPr/>
          <a:lstStyle/>
          <a:p>
            <a:r>
              <a:rPr lang="en-AU" dirty="0"/>
              <a:t>GUI means a Graphical user interface while CLI means the command line interface.</a:t>
            </a:r>
          </a:p>
          <a:p>
            <a:endParaRPr lang="en-AU" dirty="0"/>
          </a:p>
          <a:p>
            <a:r>
              <a:rPr lang="en-AU" dirty="0"/>
              <a:t>GUI offers graphics that consist of icons and images that enable users to do a task directly connected to  commands those perform a certain CLI system task</a:t>
            </a:r>
          </a:p>
          <a:p>
            <a:endParaRPr lang="en-AU" dirty="0"/>
          </a:p>
          <a:p>
            <a:r>
              <a:rPr lang="en-AU" dirty="0"/>
              <a:t>CLI requires expertise in commands for performing a certain task, while a beginner can operate GUI</a:t>
            </a:r>
          </a:p>
        </p:txBody>
      </p:sp>
    </p:spTree>
    <p:extLst>
      <p:ext uri="{BB962C8B-B14F-4D97-AF65-F5344CB8AC3E}">
        <p14:creationId xmlns:p14="http://schemas.microsoft.com/office/powerpoint/2010/main" val="3777817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8885E-FDC3-0CD6-D657-09324BEADE7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105947-F5D6-288F-547C-9945C739BBD7}"/>
              </a:ext>
            </a:extLst>
          </p:cNvPr>
          <p:cNvSpPr>
            <a:spLocks noGrp="1"/>
          </p:cNvSpPr>
          <p:nvPr>
            <p:ph type="title"/>
          </p:nvPr>
        </p:nvSpPr>
        <p:spPr>
          <a:xfrm>
            <a:off x="838200" y="215899"/>
            <a:ext cx="10515600" cy="930275"/>
          </a:xfrm>
        </p:spPr>
        <p:txBody>
          <a:bodyPr vert="horz" lIns="91440" tIns="45720" rIns="91440" bIns="45720" rtlCol="0" anchor="ctr">
            <a:noAutofit/>
          </a:bodyPr>
          <a:lstStyle/>
          <a:p>
            <a:r>
              <a:rPr lang="en-AU" sz="4000" dirty="0">
                <a:solidFill>
                  <a:schemeClr val="bg1"/>
                </a:solidFill>
              </a:rPr>
              <a:t>Running your own development server</a:t>
            </a:r>
          </a:p>
        </p:txBody>
      </p:sp>
      <p:sp>
        <p:nvSpPr>
          <p:cNvPr id="2" name="Content Placeholder 1">
            <a:extLst>
              <a:ext uri="{FF2B5EF4-FFF2-40B4-BE49-F238E27FC236}">
                <a16:creationId xmlns:a16="http://schemas.microsoft.com/office/drawing/2014/main" id="{614B3AC1-4A34-09B6-82D9-1D5702BE4BED}"/>
              </a:ext>
            </a:extLst>
          </p:cNvPr>
          <p:cNvSpPr>
            <a:spLocks noGrp="1"/>
          </p:cNvSpPr>
          <p:nvPr>
            <p:ph idx="1"/>
          </p:nvPr>
        </p:nvSpPr>
        <p:spPr/>
        <p:txBody>
          <a:bodyPr/>
          <a:lstStyle/>
          <a:p>
            <a:r>
              <a:rPr lang="en-AU" dirty="0"/>
              <a:t>Virtual Box</a:t>
            </a:r>
          </a:p>
          <a:p>
            <a:r>
              <a:rPr lang="en-AU" dirty="0"/>
              <a:t> </a:t>
            </a:r>
            <a:r>
              <a:rPr lang="en-AU" dirty="0">
                <a:hlinkClick r:id="rId2"/>
              </a:rPr>
              <a:t>https://www.virtualbox.org/</a:t>
            </a:r>
            <a:endParaRPr lang="en-AU" dirty="0"/>
          </a:p>
          <a:p>
            <a:endParaRPr lang="en-AU" dirty="0"/>
          </a:p>
          <a:p>
            <a:r>
              <a:rPr lang="en-AU" dirty="0"/>
              <a:t>Linux - Ubuntu Server and Desktop</a:t>
            </a:r>
          </a:p>
          <a:p>
            <a:r>
              <a:rPr lang="en-AU" dirty="0"/>
              <a:t> </a:t>
            </a:r>
            <a:r>
              <a:rPr lang="en-AU" dirty="0">
                <a:hlinkClick r:id="rId3"/>
              </a:rPr>
              <a:t>https://www.ubuntu.com/server</a:t>
            </a:r>
            <a:endParaRPr lang="en-AU" dirty="0"/>
          </a:p>
          <a:p>
            <a:r>
              <a:rPr lang="en-AU" dirty="0">
                <a:hlinkClick r:id="rId4"/>
              </a:rPr>
              <a:t> https://www.ubuntu.com/desktop</a:t>
            </a:r>
            <a:endParaRPr lang="en-AU" dirty="0"/>
          </a:p>
          <a:p>
            <a:endParaRPr lang="en-AU" dirty="0"/>
          </a:p>
          <a:p>
            <a:r>
              <a:rPr lang="en-AU" dirty="0"/>
              <a:t>WAMP  Windows+ Apache + MariaDB/MySQL + PHP </a:t>
            </a:r>
          </a:p>
          <a:p>
            <a:r>
              <a:rPr lang="fr-FR" dirty="0">
                <a:hlinkClick r:id="rId5"/>
              </a:rPr>
              <a:t>WampServer, la plate-forme de développement Web sous Windows - Apache, MySQL, PHP</a:t>
            </a:r>
            <a:endParaRPr lang="en-AU" dirty="0"/>
          </a:p>
        </p:txBody>
      </p:sp>
    </p:spTree>
    <p:extLst>
      <p:ext uri="{BB962C8B-B14F-4D97-AF65-F5344CB8AC3E}">
        <p14:creationId xmlns:p14="http://schemas.microsoft.com/office/powerpoint/2010/main" val="3967682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876300" y="215899"/>
            <a:ext cx="10515600" cy="930275"/>
          </a:xfrm>
        </p:spPr>
        <p:txBody>
          <a:bodyPr vert="horz" lIns="91440" tIns="45720" rIns="91440" bIns="45720" rtlCol="0" anchor="ctr">
            <a:normAutofit/>
          </a:bodyPr>
          <a:lstStyle/>
          <a:p>
            <a:r>
              <a:rPr lang="en-AU" sz="6000" dirty="0">
                <a:solidFill>
                  <a:schemeClr val="bg1"/>
                </a:solidFill>
              </a:rPr>
              <a:t>Command line</a:t>
            </a:r>
          </a:p>
        </p:txBody>
      </p:sp>
      <p:sp>
        <p:nvSpPr>
          <p:cNvPr id="2" name="Content Placeholder 1"/>
          <p:cNvSpPr>
            <a:spLocks noGrp="1"/>
          </p:cNvSpPr>
          <p:nvPr>
            <p:ph idx="1"/>
          </p:nvPr>
        </p:nvSpPr>
        <p:spPr/>
        <p:txBody>
          <a:bodyPr>
            <a:normAutofit lnSpcReduction="10000"/>
          </a:bodyPr>
          <a:lstStyle/>
          <a:p>
            <a:r>
              <a:rPr lang="en-AU" dirty="0"/>
              <a:t>CLI for Web Design</a:t>
            </a:r>
          </a:p>
          <a:p>
            <a:r>
              <a:rPr lang="en-AU" dirty="0"/>
              <a:t>– </a:t>
            </a:r>
            <a:r>
              <a:rPr lang="en-AU" dirty="0">
                <a:hlinkClick r:id="rId2"/>
              </a:rPr>
              <a:t>https://webdesign.tutsplus.com/series/the-command-line-for-web-design--cms-777</a:t>
            </a:r>
            <a:endParaRPr lang="en-AU" dirty="0"/>
          </a:p>
          <a:p>
            <a:endParaRPr lang="en-AU" dirty="0"/>
          </a:p>
          <a:p>
            <a:r>
              <a:rPr lang="en-AU" dirty="0"/>
              <a:t>Node.js</a:t>
            </a:r>
          </a:p>
          <a:p>
            <a:r>
              <a:rPr lang="en-AU" dirty="0"/>
              <a:t>– </a:t>
            </a:r>
            <a:r>
              <a:rPr lang="en-AU" dirty="0">
                <a:hlinkClick r:id="rId3"/>
              </a:rPr>
              <a:t>http://www.nodejs.org/</a:t>
            </a:r>
            <a:endParaRPr lang="en-AU" dirty="0"/>
          </a:p>
          <a:p>
            <a:endParaRPr lang="en-AU" dirty="0"/>
          </a:p>
          <a:p>
            <a:r>
              <a:rPr lang="en-AU" dirty="0"/>
              <a:t>CSS </a:t>
            </a:r>
            <a:r>
              <a:rPr lang="en-AU" dirty="0" err="1"/>
              <a:t>preprocesors</a:t>
            </a:r>
            <a:endParaRPr lang="en-AU" dirty="0"/>
          </a:p>
          <a:p>
            <a:pPr lvl="1"/>
            <a:r>
              <a:rPr lang="en-AU" dirty="0"/>
              <a:t>Sass </a:t>
            </a:r>
          </a:p>
          <a:p>
            <a:pPr lvl="2"/>
            <a:r>
              <a:rPr lang="en-AU" dirty="0"/>
              <a:t>– </a:t>
            </a:r>
            <a:r>
              <a:rPr lang="en-AU" dirty="0">
                <a:hlinkClick r:id="rId4"/>
              </a:rPr>
              <a:t>https://sass-lang.com/</a:t>
            </a:r>
            <a:endParaRPr lang="en-AU" dirty="0"/>
          </a:p>
          <a:p>
            <a:pPr lvl="1"/>
            <a:r>
              <a:rPr lang="en-AU" dirty="0"/>
              <a:t>LESS </a:t>
            </a:r>
          </a:p>
          <a:p>
            <a:pPr lvl="2"/>
            <a:r>
              <a:rPr lang="en-AU" dirty="0"/>
              <a:t>– </a:t>
            </a:r>
            <a:r>
              <a:rPr lang="en-AU" dirty="0">
                <a:hlinkClick r:id="rId5"/>
              </a:rPr>
              <a:t>http://lesscss.org/</a:t>
            </a:r>
            <a:endParaRPr lang="en-AU" dirty="0"/>
          </a:p>
          <a:p>
            <a:pPr lvl="2"/>
            <a:endParaRPr lang="en-AU" dirty="0"/>
          </a:p>
        </p:txBody>
      </p:sp>
    </p:spTree>
    <p:extLst>
      <p:ext uri="{BB962C8B-B14F-4D97-AF65-F5344CB8AC3E}">
        <p14:creationId xmlns:p14="http://schemas.microsoft.com/office/powerpoint/2010/main" val="3359468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custDataLst>
              <p:tags r:id="rId2"/>
            </p:custDataLst>
          </p:nvPr>
        </p:nvSpPr>
        <p:spPr>
          <a:xfrm>
            <a:off x="914400" y="253999"/>
            <a:ext cx="10515600" cy="854075"/>
          </a:xfrm>
        </p:spPr>
        <p:txBody>
          <a:bodyPr vert="horz" lIns="91440" tIns="45720" rIns="91440" bIns="45720" rtlCol="0" anchor="ctr">
            <a:noAutofit/>
          </a:bodyPr>
          <a:lstStyle/>
          <a:p>
            <a:r>
              <a:rPr lang="en-AU" sz="6000" dirty="0">
                <a:solidFill>
                  <a:schemeClr val="bg1"/>
                </a:solidFill>
              </a:rPr>
              <a:t>Frameworks</a:t>
            </a:r>
          </a:p>
        </p:txBody>
      </p:sp>
      <p:sp>
        <p:nvSpPr>
          <p:cNvPr id="78851" name="Rectangle 3"/>
          <p:cNvSpPr>
            <a:spLocks noGrp="1" noChangeArrowheads="1"/>
          </p:cNvSpPr>
          <p:nvPr>
            <p:ph sz="half" idx="1"/>
            <p:custDataLst>
              <p:tags r:id="rId3"/>
            </p:custDataLst>
          </p:nvPr>
        </p:nvSpPr>
        <p:spPr/>
        <p:txBody>
          <a:bodyPr>
            <a:normAutofit/>
          </a:bodyPr>
          <a:lstStyle/>
          <a:p>
            <a:r>
              <a:rPr lang="en-AU" dirty="0"/>
              <a:t>Skeleton</a:t>
            </a:r>
          </a:p>
          <a:p>
            <a:r>
              <a:rPr lang="en-AU" dirty="0">
                <a:hlinkClick r:id="rId6"/>
              </a:rPr>
              <a:t>http://getskeleton.com/</a:t>
            </a:r>
            <a:endParaRPr lang="en-AU" dirty="0"/>
          </a:p>
          <a:p>
            <a:pPr lvl="1"/>
            <a:r>
              <a:rPr lang="en-AU" dirty="0"/>
              <a:t>–very simple</a:t>
            </a:r>
          </a:p>
          <a:p>
            <a:r>
              <a:rPr lang="en-AU" dirty="0"/>
              <a:t>Bootstrap</a:t>
            </a:r>
          </a:p>
          <a:p>
            <a:r>
              <a:rPr lang="en-AU" dirty="0">
                <a:hlinkClick r:id="rId7"/>
              </a:rPr>
              <a:t>https://getbootstrap.com/</a:t>
            </a:r>
            <a:endParaRPr lang="en-AU" dirty="0"/>
          </a:p>
          <a:p>
            <a:pPr lvl="1"/>
            <a:r>
              <a:rPr lang="en-AU" dirty="0"/>
              <a:t>–probably most popular</a:t>
            </a:r>
          </a:p>
          <a:p>
            <a:r>
              <a:rPr lang="en-AU" dirty="0"/>
              <a:t>Materialize</a:t>
            </a:r>
          </a:p>
          <a:p>
            <a:r>
              <a:rPr lang="en-AU" dirty="0">
                <a:hlinkClick r:id="rId8"/>
              </a:rPr>
              <a:t>https://materializecss.com/</a:t>
            </a:r>
            <a:endParaRPr lang="en-AU" dirty="0"/>
          </a:p>
          <a:p>
            <a:pPr lvl="1"/>
            <a:r>
              <a:rPr lang="en-AU" dirty="0"/>
              <a:t>–Google Material Design look and feel</a:t>
            </a:r>
          </a:p>
        </p:txBody>
      </p:sp>
      <p:sp>
        <p:nvSpPr>
          <p:cNvPr id="4" name="Content Placeholder 3">
            <a:extLst>
              <a:ext uri="{FF2B5EF4-FFF2-40B4-BE49-F238E27FC236}">
                <a16:creationId xmlns:a16="http://schemas.microsoft.com/office/drawing/2014/main" id="{0D72FBB9-5A12-AD92-DAA7-E8A991F8EFA6}"/>
              </a:ext>
            </a:extLst>
          </p:cNvPr>
          <p:cNvSpPr>
            <a:spLocks noGrp="1"/>
          </p:cNvSpPr>
          <p:nvPr>
            <p:ph sz="half" idx="2"/>
          </p:nvPr>
        </p:nvSpPr>
        <p:spPr/>
        <p:txBody>
          <a:bodyPr/>
          <a:lstStyle/>
          <a:p>
            <a:r>
              <a:rPr lang="en-AU" dirty="0"/>
              <a:t>Material Design Lite</a:t>
            </a:r>
          </a:p>
          <a:p>
            <a:r>
              <a:rPr lang="en-AU" dirty="0">
                <a:hlinkClick r:id="rId9"/>
              </a:rPr>
              <a:t>https://getmdl.io/</a:t>
            </a:r>
            <a:endParaRPr lang="en-AU" dirty="0"/>
          </a:p>
          <a:p>
            <a:pPr lvl="1"/>
            <a:r>
              <a:rPr lang="en-AU" dirty="0"/>
              <a:t>- lighter / smaller version</a:t>
            </a:r>
          </a:p>
          <a:p>
            <a:r>
              <a:rPr lang="en-AU" dirty="0"/>
              <a:t>Milligram</a:t>
            </a:r>
          </a:p>
          <a:p>
            <a:r>
              <a:rPr lang="en-AU" dirty="0">
                <a:hlinkClick r:id="rId10"/>
              </a:rPr>
              <a:t>https://milligram.io/</a:t>
            </a:r>
            <a:endParaRPr lang="en-AU" dirty="0"/>
          </a:p>
          <a:p>
            <a:pPr lvl="1"/>
            <a:r>
              <a:rPr lang="en-AU" dirty="0"/>
              <a:t>–small</a:t>
            </a:r>
          </a:p>
          <a:p>
            <a:endParaRPr lang="en-AU" dirty="0"/>
          </a:p>
        </p:txBody>
      </p:sp>
    </p:spTree>
    <p:custDataLst>
      <p:tags r:id="rId1"/>
    </p:custDataLst>
    <p:extLst>
      <p:ext uri="{BB962C8B-B14F-4D97-AF65-F5344CB8AC3E}">
        <p14:creationId xmlns:p14="http://schemas.microsoft.com/office/powerpoint/2010/main" val="1796800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0" name="Rectangle 4"/>
          <p:cNvSpPr>
            <a:spLocks noGrp="1" noChangeArrowheads="1"/>
          </p:cNvSpPr>
          <p:nvPr>
            <p:ph type="title"/>
            <p:custDataLst>
              <p:tags r:id="rId2"/>
            </p:custDataLst>
          </p:nvPr>
        </p:nvSpPr>
        <p:spPr>
          <a:xfrm>
            <a:off x="685800" y="215899"/>
            <a:ext cx="10515600" cy="930275"/>
          </a:xfrm>
        </p:spPr>
        <p:txBody>
          <a:bodyPr vert="horz" lIns="91440" tIns="45720" rIns="91440" bIns="45720" rtlCol="0" anchor="ctr">
            <a:normAutofit/>
          </a:bodyPr>
          <a:lstStyle/>
          <a:p>
            <a:r>
              <a:rPr lang="en-AU" sz="4000" dirty="0">
                <a:solidFill>
                  <a:schemeClr val="bg1"/>
                </a:solidFill>
              </a:rPr>
              <a:t>Quality Assurance &amp; automation</a:t>
            </a:r>
          </a:p>
        </p:txBody>
      </p:sp>
      <p:sp>
        <p:nvSpPr>
          <p:cNvPr id="14344" name="Rectangle 8"/>
          <p:cNvSpPr>
            <a:spLocks noGrp="1" noChangeArrowheads="1"/>
          </p:cNvSpPr>
          <p:nvPr>
            <p:ph idx="1"/>
            <p:custDataLst>
              <p:tags r:id="rId3"/>
            </p:custDataLst>
          </p:nvPr>
        </p:nvSpPr>
        <p:spPr>
          <a:xfrm>
            <a:off x="838200" y="1295400"/>
            <a:ext cx="10515600" cy="4881563"/>
          </a:xfrm>
        </p:spPr>
        <p:txBody>
          <a:bodyPr>
            <a:normAutofit lnSpcReduction="10000"/>
          </a:bodyPr>
          <a:lstStyle/>
          <a:p>
            <a:r>
              <a:rPr lang="en-AU" dirty="0"/>
              <a:t>Checking for problems</a:t>
            </a:r>
          </a:p>
          <a:p>
            <a:r>
              <a:rPr lang="en-AU" dirty="0"/>
              <a:t>–</a:t>
            </a:r>
            <a:r>
              <a:rPr lang="en-AU" dirty="0" err="1"/>
              <a:t>Stylelint</a:t>
            </a:r>
            <a:r>
              <a:rPr lang="en-AU" dirty="0"/>
              <a:t>: modern CSS linter that helps you enforce consistent conventions and avoid errors in your stylesheets  </a:t>
            </a:r>
          </a:p>
          <a:p>
            <a:r>
              <a:rPr lang="en-AU" dirty="0">
                <a:hlinkClick r:id="rId6"/>
              </a:rPr>
              <a:t>https://stylelint.io/</a:t>
            </a:r>
            <a:endParaRPr lang="en-AU" dirty="0"/>
          </a:p>
          <a:p>
            <a:r>
              <a:rPr lang="en-AU" dirty="0"/>
              <a:t>Build tools / automation</a:t>
            </a:r>
          </a:p>
          <a:p>
            <a:r>
              <a:rPr lang="en-AU" dirty="0"/>
              <a:t>–Grunt (</a:t>
            </a:r>
            <a:r>
              <a:rPr lang="en-AU" dirty="0" err="1"/>
              <a:t>config</a:t>
            </a:r>
            <a:r>
              <a:rPr lang="en-AU" dirty="0"/>
              <a:t>): a tool used to automatically perform frequent tasks such as </a:t>
            </a:r>
            <a:r>
              <a:rPr lang="en-AU" dirty="0" err="1"/>
              <a:t>minification</a:t>
            </a:r>
            <a:r>
              <a:rPr lang="en-AU" dirty="0"/>
              <a:t>, compilation, unit testing, and </a:t>
            </a:r>
            <a:r>
              <a:rPr lang="en-AU" dirty="0" err="1"/>
              <a:t>linting</a:t>
            </a:r>
            <a:r>
              <a:rPr lang="en-AU" dirty="0"/>
              <a:t>. </a:t>
            </a:r>
          </a:p>
          <a:p>
            <a:r>
              <a:rPr lang="en-AU" dirty="0"/>
              <a:t>– </a:t>
            </a:r>
            <a:r>
              <a:rPr lang="en-AU" dirty="0">
                <a:hlinkClick r:id="rId7"/>
              </a:rPr>
              <a:t>https://gruntjs.com/</a:t>
            </a:r>
            <a:endParaRPr lang="en-AU" dirty="0"/>
          </a:p>
          <a:p>
            <a:r>
              <a:rPr lang="en-AU" dirty="0"/>
              <a:t>–Gulp (code): lets developers automate many development tasks. At a high level, gulp reads files as streams and pipes the streams to different tasks. These tasks are code-based and use plugins. </a:t>
            </a:r>
          </a:p>
          <a:p>
            <a:r>
              <a:rPr lang="en-AU" dirty="0"/>
              <a:t>– </a:t>
            </a:r>
            <a:r>
              <a:rPr lang="en-AU" dirty="0">
                <a:hlinkClick r:id="rId8"/>
              </a:rPr>
              <a:t>https://gulpjs.com/</a:t>
            </a:r>
            <a:endParaRPr lang="en-AU" dirty="0"/>
          </a:p>
        </p:txBody>
      </p:sp>
    </p:spTree>
    <p:custDataLst>
      <p:tags r:id="rId1"/>
    </p:custDataLst>
    <p:extLst>
      <p:ext uri="{BB962C8B-B14F-4D97-AF65-F5344CB8AC3E}">
        <p14:creationId xmlns:p14="http://schemas.microsoft.com/office/powerpoint/2010/main" val="3511593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0D20F-057E-4C99-DD72-B744D8B0045B}"/>
            </a:ext>
          </a:extLst>
        </p:cNvPr>
        <p:cNvGrpSpPr/>
        <p:nvPr/>
      </p:nvGrpSpPr>
      <p:grpSpPr>
        <a:xfrm>
          <a:off x="0" y="0"/>
          <a:ext cx="0" cy="0"/>
          <a:chOff x="0" y="0"/>
          <a:chExt cx="0" cy="0"/>
        </a:xfrm>
      </p:grpSpPr>
      <p:sp>
        <p:nvSpPr>
          <p:cNvPr id="14340" name="Rectangle 4">
            <a:extLst>
              <a:ext uri="{FF2B5EF4-FFF2-40B4-BE49-F238E27FC236}">
                <a16:creationId xmlns:a16="http://schemas.microsoft.com/office/drawing/2014/main" id="{581D4A1E-1A71-4B78-42FE-5F3AE1786F21}"/>
              </a:ext>
            </a:extLst>
          </p:cNvPr>
          <p:cNvSpPr>
            <a:spLocks noGrp="1" noChangeArrowheads="1"/>
          </p:cNvSpPr>
          <p:nvPr>
            <p:ph type="title"/>
            <p:custDataLst>
              <p:tags r:id="rId2"/>
            </p:custDataLst>
          </p:nvPr>
        </p:nvSpPr>
        <p:spPr>
          <a:xfrm>
            <a:off x="685800" y="215899"/>
            <a:ext cx="10515600" cy="930275"/>
          </a:xfrm>
        </p:spPr>
        <p:txBody>
          <a:bodyPr vert="horz" lIns="91440" tIns="45720" rIns="91440" bIns="45720" rtlCol="0" anchor="ctr">
            <a:normAutofit/>
          </a:bodyPr>
          <a:lstStyle/>
          <a:p>
            <a:r>
              <a:rPr lang="en-AU" sz="4000" dirty="0">
                <a:solidFill>
                  <a:schemeClr val="bg1"/>
                </a:solidFill>
              </a:rPr>
              <a:t>AI Generated websites and Tools</a:t>
            </a:r>
          </a:p>
        </p:txBody>
      </p:sp>
      <p:sp>
        <p:nvSpPr>
          <p:cNvPr id="14344" name="Rectangle 8">
            <a:extLst>
              <a:ext uri="{FF2B5EF4-FFF2-40B4-BE49-F238E27FC236}">
                <a16:creationId xmlns:a16="http://schemas.microsoft.com/office/drawing/2014/main" id="{33717035-5EED-9404-9552-6B8B97A23617}"/>
              </a:ext>
            </a:extLst>
          </p:cNvPr>
          <p:cNvSpPr>
            <a:spLocks noGrp="1" noChangeArrowheads="1"/>
          </p:cNvSpPr>
          <p:nvPr>
            <p:ph idx="1"/>
            <p:custDataLst>
              <p:tags r:id="rId3"/>
            </p:custDataLst>
          </p:nvPr>
        </p:nvSpPr>
        <p:spPr>
          <a:xfrm>
            <a:off x="838200" y="1295400"/>
            <a:ext cx="10515600" cy="4881563"/>
          </a:xfrm>
        </p:spPr>
        <p:txBody>
          <a:bodyPr>
            <a:normAutofit lnSpcReduction="10000"/>
          </a:bodyPr>
          <a:lstStyle/>
          <a:p>
            <a:r>
              <a:rPr lang="en-AU" dirty="0"/>
              <a:t>Checking for problems</a:t>
            </a:r>
          </a:p>
          <a:p>
            <a:r>
              <a:rPr lang="en-AU" dirty="0"/>
              <a:t>–</a:t>
            </a:r>
            <a:r>
              <a:rPr lang="en-AU" dirty="0" err="1"/>
              <a:t>Stylelint</a:t>
            </a:r>
            <a:r>
              <a:rPr lang="en-AU" dirty="0"/>
              <a:t>: modern CSS linter that helps you enforce consistent conventions and avoid errors in your stylesheets  </a:t>
            </a:r>
          </a:p>
          <a:p>
            <a:r>
              <a:rPr lang="en-AU" dirty="0">
                <a:hlinkClick r:id="rId6"/>
              </a:rPr>
              <a:t>https://stylelint.io/</a:t>
            </a:r>
            <a:endParaRPr lang="en-AU" dirty="0"/>
          </a:p>
          <a:p>
            <a:r>
              <a:rPr lang="en-AU" dirty="0"/>
              <a:t>Build tools / automation</a:t>
            </a:r>
          </a:p>
          <a:p>
            <a:r>
              <a:rPr lang="en-AU" dirty="0"/>
              <a:t>–Grunt (</a:t>
            </a:r>
            <a:r>
              <a:rPr lang="en-AU" dirty="0" err="1"/>
              <a:t>config</a:t>
            </a:r>
            <a:r>
              <a:rPr lang="en-AU" dirty="0"/>
              <a:t>): a tool used to automatically perform frequent tasks such as </a:t>
            </a:r>
            <a:r>
              <a:rPr lang="en-AU" dirty="0" err="1"/>
              <a:t>minification</a:t>
            </a:r>
            <a:r>
              <a:rPr lang="en-AU" dirty="0"/>
              <a:t>, compilation, unit testing, and </a:t>
            </a:r>
            <a:r>
              <a:rPr lang="en-AU" dirty="0" err="1"/>
              <a:t>linting</a:t>
            </a:r>
            <a:r>
              <a:rPr lang="en-AU" dirty="0"/>
              <a:t>. </a:t>
            </a:r>
          </a:p>
          <a:p>
            <a:r>
              <a:rPr lang="en-AU" dirty="0"/>
              <a:t>– </a:t>
            </a:r>
            <a:r>
              <a:rPr lang="en-AU" dirty="0">
                <a:hlinkClick r:id="rId7"/>
              </a:rPr>
              <a:t>https://gruntjs.com/</a:t>
            </a:r>
            <a:endParaRPr lang="en-AU" dirty="0"/>
          </a:p>
          <a:p>
            <a:r>
              <a:rPr lang="en-AU" dirty="0"/>
              <a:t>–Gulp (code): lets developers automate many development tasks. At a high level, gulp reads files as streams and pipes the streams to different tasks. These tasks are code-based and use plugins. </a:t>
            </a:r>
          </a:p>
          <a:p>
            <a:r>
              <a:rPr lang="en-AU" dirty="0"/>
              <a:t>– </a:t>
            </a:r>
            <a:r>
              <a:rPr lang="en-AU" dirty="0">
                <a:hlinkClick r:id="rId8"/>
              </a:rPr>
              <a:t>https://gulpjs.com/</a:t>
            </a:r>
            <a:endParaRPr lang="en-AU" dirty="0"/>
          </a:p>
        </p:txBody>
      </p:sp>
    </p:spTree>
    <p:custDataLst>
      <p:tags r:id="rId1"/>
    </p:custDataLst>
    <p:extLst>
      <p:ext uri="{BB962C8B-B14F-4D97-AF65-F5344CB8AC3E}">
        <p14:creationId xmlns:p14="http://schemas.microsoft.com/office/powerpoint/2010/main" val="1307374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EF20E-CC2A-14F5-85CE-D05B2809B8C0}"/>
            </a:ext>
          </a:extLst>
        </p:cNvPr>
        <p:cNvGrpSpPr/>
        <p:nvPr/>
      </p:nvGrpSpPr>
      <p:grpSpPr>
        <a:xfrm>
          <a:off x="0" y="0"/>
          <a:ext cx="0" cy="0"/>
          <a:chOff x="0" y="0"/>
          <a:chExt cx="0" cy="0"/>
        </a:xfrm>
      </p:grpSpPr>
      <p:sp>
        <p:nvSpPr>
          <p:cNvPr id="14340" name="Rectangle 4">
            <a:extLst>
              <a:ext uri="{FF2B5EF4-FFF2-40B4-BE49-F238E27FC236}">
                <a16:creationId xmlns:a16="http://schemas.microsoft.com/office/drawing/2014/main" id="{C700240B-BFD4-1A2A-FBE4-A41C62D5ABBA}"/>
              </a:ext>
            </a:extLst>
          </p:cNvPr>
          <p:cNvSpPr>
            <a:spLocks noGrp="1" noChangeArrowheads="1"/>
          </p:cNvSpPr>
          <p:nvPr>
            <p:ph type="title"/>
            <p:custDataLst>
              <p:tags r:id="rId2"/>
            </p:custDataLst>
          </p:nvPr>
        </p:nvSpPr>
        <p:spPr>
          <a:xfrm>
            <a:off x="685800" y="215899"/>
            <a:ext cx="10515600" cy="930275"/>
          </a:xfrm>
        </p:spPr>
        <p:txBody>
          <a:bodyPr vert="horz" lIns="91440" tIns="45720" rIns="91440" bIns="45720" rtlCol="0" anchor="ctr">
            <a:normAutofit/>
          </a:bodyPr>
          <a:lstStyle/>
          <a:p>
            <a:r>
              <a:rPr lang="en-AU" sz="5400" dirty="0">
                <a:solidFill>
                  <a:schemeClr val="bg1"/>
                </a:solidFill>
              </a:rPr>
              <a:t>AI Generated websites</a:t>
            </a:r>
          </a:p>
        </p:txBody>
      </p:sp>
      <p:sp>
        <p:nvSpPr>
          <p:cNvPr id="14344" name="Rectangle 8">
            <a:extLst>
              <a:ext uri="{FF2B5EF4-FFF2-40B4-BE49-F238E27FC236}">
                <a16:creationId xmlns:a16="http://schemas.microsoft.com/office/drawing/2014/main" id="{33306726-DED6-1C01-C1A5-FBCE9D26BC76}"/>
              </a:ext>
            </a:extLst>
          </p:cNvPr>
          <p:cNvSpPr>
            <a:spLocks noGrp="1" noChangeArrowheads="1"/>
          </p:cNvSpPr>
          <p:nvPr>
            <p:ph idx="1"/>
            <p:custDataLst>
              <p:tags r:id="rId3"/>
            </p:custDataLst>
          </p:nvPr>
        </p:nvSpPr>
        <p:spPr>
          <a:xfrm>
            <a:off x="838200" y="1295400"/>
            <a:ext cx="10515600" cy="4881563"/>
          </a:xfrm>
        </p:spPr>
        <p:txBody>
          <a:bodyPr>
            <a:normAutofit/>
          </a:bodyPr>
          <a:lstStyle/>
          <a:p>
            <a:pPr marL="0" indent="0">
              <a:buNone/>
            </a:pPr>
            <a:r>
              <a:rPr lang="en-AU" sz="3600" dirty="0"/>
              <a:t>Four examples:</a:t>
            </a:r>
          </a:p>
          <a:p>
            <a:pPr marL="457200" indent="-457200">
              <a:buFont typeface="+mj-lt"/>
              <a:buAutoNum type="arabicPeriod"/>
            </a:pPr>
            <a:r>
              <a:rPr lang="en-AU" sz="3200" dirty="0"/>
              <a:t>Wix for most people</a:t>
            </a:r>
          </a:p>
          <a:p>
            <a:pPr marL="457200" indent="-457200">
              <a:buFont typeface="+mj-lt"/>
              <a:buAutoNum type="arabicPeriod"/>
            </a:pPr>
            <a:r>
              <a:rPr lang="en-AU" sz="3200" dirty="0" err="1"/>
              <a:t>Jimdo</a:t>
            </a:r>
            <a:r>
              <a:rPr lang="en-AU" sz="3200" dirty="0"/>
              <a:t> for a free website builder</a:t>
            </a:r>
          </a:p>
          <a:p>
            <a:pPr marL="457200" indent="-457200">
              <a:buFont typeface="+mj-lt"/>
              <a:buAutoNum type="arabicPeriod"/>
            </a:pPr>
            <a:r>
              <a:rPr lang="en-AU" sz="3200" dirty="0"/>
              <a:t>Framer for designers</a:t>
            </a:r>
          </a:p>
          <a:p>
            <a:pPr marL="457200" indent="-457200">
              <a:buFont typeface="+mj-lt"/>
              <a:buAutoNum type="arabicPeriod"/>
            </a:pPr>
            <a:r>
              <a:rPr lang="en-AU" sz="3200" dirty="0"/>
              <a:t>Chariot for vide coding of a website</a:t>
            </a:r>
          </a:p>
        </p:txBody>
      </p:sp>
    </p:spTree>
    <p:custDataLst>
      <p:tags r:id="rId1"/>
    </p:custDataLst>
    <p:extLst>
      <p:ext uri="{BB962C8B-B14F-4D97-AF65-F5344CB8AC3E}">
        <p14:creationId xmlns:p14="http://schemas.microsoft.com/office/powerpoint/2010/main" val="3014947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6E3A4-1CD2-2A8D-2D8A-F248956C17AC}"/>
            </a:ext>
          </a:extLst>
        </p:cNvPr>
        <p:cNvGrpSpPr/>
        <p:nvPr/>
      </p:nvGrpSpPr>
      <p:grpSpPr>
        <a:xfrm>
          <a:off x="0" y="0"/>
          <a:ext cx="0" cy="0"/>
          <a:chOff x="0" y="0"/>
          <a:chExt cx="0" cy="0"/>
        </a:xfrm>
      </p:grpSpPr>
      <p:sp>
        <p:nvSpPr>
          <p:cNvPr id="14340" name="Rectangle 4">
            <a:extLst>
              <a:ext uri="{FF2B5EF4-FFF2-40B4-BE49-F238E27FC236}">
                <a16:creationId xmlns:a16="http://schemas.microsoft.com/office/drawing/2014/main" id="{0591744F-61A2-1288-9701-0649914A11E6}"/>
              </a:ext>
            </a:extLst>
          </p:cNvPr>
          <p:cNvSpPr>
            <a:spLocks noGrp="1" noChangeArrowheads="1"/>
          </p:cNvSpPr>
          <p:nvPr>
            <p:ph type="title"/>
            <p:custDataLst>
              <p:tags r:id="rId2"/>
            </p:custDataLst>
          </p:nvPr>
        </p:nvSpPr>
        <p:spPr>
          <a:xfrm>
            <a:off x="685800" y="215899"/>
            <a:ext cx="10515600" cy="930275"/>
          </a:xfrm>
        </p:spPr>
        <p:txBody>
          <a:bodyPr vert="horz" lIns="91440" tIns="45720" rIns="91440" bIns="45720" rtlCol="0" anchor="ctr">
            <a:normAutofit/>
          </a:bodyPr>
          <a:lstStyle/>
          <a:p>
            <a:r>
              <a:rPr lang="en-AU" sz="5400" dirty="0">
                <a:solidFill>
                  <a:schemeClr val="bg1"/>
                </a:solidFill>
              </a:rPr>
              <a:t>AI Generated websites (1)</a:t>
            </a:r>
          </a:p>
        </p:txBody>
      </p:sp>
      <p:sp>
        <p:nvSpPr>
          <p:cNvPr id="14344" name="Rectangle 8">
            <a:extLst>
              <a:ext uri="{FF2B5EF4-FFF2-40B4-BE49-F238E27FC236}">
                <a16:creationId xmlns:a16="http://schemas.microsoft.com/office/drawing/2014/main" id="{2E755F10-7BF1-C115-59D0-D58704E25181}"/>
              </a:ext>
            </a:extLst>
          </p:cNvPr>
          <p:cNvSpPr>
            <a:spLocks noGrp="1" noChangeArrowheads="1"/>
          </p:cNvSpPr>
          <p:nvPr>
            <p:ph idx="1"/>
            <p:custDataLst>
              <p:tags r:id="rId3"/>
            </p:custDataLst>
          </p:nvPr>
        </p:nvSpPr>
        <p:spPr>
          <a:xfrm>
            <a:off x="838200" y="1295400"/>
            <a:ext cx="10515600" cy="4881563"/>
          </a:xfrm>
        </p:spPr>
        <p:txBody>
          <a:bodyPr>
            <a:normAutofit/>
          </a:bodyPr>
          <a:lstStyle/>
          <a:p>
            <a:pPr marL="457200" indent="-457200">
              <a:buFont typeface="+mj-lt"/>
              <a:buAutoNum type="arabicPeriod"/>
            </a:pPr>
            <a:r>
              <a:rPr lang="en-AU" sz="3200" dirty="0"/>
              <a:t>Wix for most people</a:t>
            </a:r>
          </a:p>
          <a:p>
            <a:pPr marL="0" indent="0">
              <a:buNone/>
            </a:pPr>
            <a:endParaRPr lang="en-AU" sz="3200" dirty="0"/>
          </a:p>
        </p:txBody>
      </p:sp>
      <p:graphicFrame>
        <p:nvGraphicFramePr>
          <p:cNvPr id="2" name="Table 1">
            <a:extLst>
              <a:ext uri="{FF2B5EF4-FFF2-40B4-BE49-F238E27FC236}">
                <a16:creationId xmlns:a16="http://schemas.microsoft.com/office/drawing/2014/main" id="{C1F167CF-0973-00CF-F167-4122FF518ADF}"/>
              </a:ext>
            </a:extLst>
          </p:cNvPr>
          <p:cNvGraphicFramePr>
            <a:graphicFrameLocks noGrp="1"/>
          </p:cNvGraphicFramePr>
          <p:nvPr>
            <p:extLst>
              <p:ext uri="{D42A27DB-BD31-4B8C-83A1-F6EECF244321}">
                <p14:modId xmlns:p14="http://schemas.microsoft.com/office/powerpoint/2010/main" val="2854249700"/>
              </p:ext>
            </p:extLst>
          </p:nvPr>
        </p:nvGraphicFramePr>
        <p:xfrm>
          <a:off x="1371600" y="2133600"/>
          <a:ext cx="8839200" cy="2712720"/>
        </p:xfrm>
        <a:graphic>
          <a:graphicData uri="http://schemas.openxmlformats.org/drawingml/2006/table">
            <a:tbl>
              <a:tblPr firstRow="1" bandRow="1">
                <a:tableStyleId>{5C22544A-7EE6-4342-B048-85BDC9FD1C3A}</a:tableStyleId>
              </a:tblPr>
              <a:tblGrid>
                <a:gridCol w="4252297">
                  <a:extLst>
                    <a:ext uri="{9D8B030D-6E8A-4147-A177-3AD203B41FA5}">
                      <a16:colId xmlns:a16="http://schemas.microsoft.com/office/drawing/2014/main" val="3393717589"/>
                    </a:ext>
                  </a:extLst>
                </a:gridCol>
                <a:gridCol w="4586903">
                  <a:extLst>
                    <a:ext uri="{9D8B030D-6E8A-4147-A177-3AD203B41FA5}">
                      <a16:colId xmlns:a16="http://schemas.microsoft.com/office/drawing/2014/main" val="3543141014"/>
                    </a:ext>
                  </a:extLst>
                </a:gridCol>
              </a:tblGrid>
              <a:tr h="370840">
                <a:tc>
                  <a:txBody>
                    <a:bodyPr/>
                    <a:lstStyle/>
                    <a:p>
                      <a:r>
                        <a:rPr lang="en-US" sz="3200" dirty="0"/>
                        <a:t>Advantages</a:t>
                      </a:r>
                      <a:endParaRPr lang="en-NZ" sz="3200" dirty="0"/>
                    </a:p>
                  </a:txBody>
                  <a:tcPr/>
                </a:tc>
                <a:tc>
                  <a:txBody>
                    <a:bodyPr/>
                    <a:lstStyle/>
                    <a:p>
                      <a:r>
                        <a:rPr lang="en-US" sz="3200" dirty="0"/>
                        <a:t>Disadvantages</a:t>
                      </a:r>
                      <a:endParaRPr lang="en-NZ" sz="3200" dirty="0"/>
                    </a:p>
                  </a:txBody>
                  <a:tcPr/>
                </a:tc>
                <a:extLst>
                  <a:ext uri="{0D108BD9-81ED-4DB2-BD59-A6C34878D82A}">
                    <a16:rowId xmlns:a16="http://schemas.microsoft.com/office/drawing/2014/main" val="976533965"/>
                  </a:ext>
                </a:extLst>
              </a:tr>
              <a:tr h="370840">
                <a:tc>
                  <a:txBody>
                    <a:bodyPr/>
                    <a:lstStyle/>
                    <a:p>
                      <a:r>
                        <a:rPr lang="en-US" sz="3200" dirty="0"/>
                        <a:t>Effective and easy to use</a:t>
                      </a:r>
                      <a:endParaRPr lang="en-NZ" sz="3200" dirty="0"/>
                    </a:p>
                  </a:txBody>
                  <a:tcPr/>
                </a:tc>
                <a:tc>
                  <a:txBody>
                    <a:bodyPr/>
                    <a:lstStyle/>
                    <a:p>
                      <a:r>
                        <a:rPr lang="en-US" sz="3200" dirty="0"/>
                        <a:t>Not the most futuristic-feeling available AI</a:t>
                      </a:r>
                      <a:endParaRPr lang="en-NZ" sz="3200" dirty="0"/>
                    </a:p>
                  </a:txBody>
                  <a:tcPr/>
                </a:tc>
                <a:extLst>
                  <a:ext uri="{0D108BD9-81ED-4DB2-BD59-A6C34878D82A}">
                    <a16:rowId xmlns:a16="http://schemas.microsoft.com/office/drawing/2014/main" val="3936721821"/>
                  </a:ext>
                </a:extLst>
              </a:tr>
              <a:tr h="370840">
                <a:tc>
                  <a:txBody>
                    <a:bodyPr/>
                    <a:lstStyle/>
                    <a:p>
                      <a:r>
                        <a:rPr lang="en-US" sz="3200" dirty="0"/>
                        <a:t>Backed by Wix’s mature web-site designer</a:t>
                      </a:r>
                      <a:endParaRPr lang="en-NZ" sz="3200" dirty="0"/>
                    </a:p>
                  </a:txBody>
                  <a:tcPr/>
                </a:tc>
                <a:tc>
                  <a:txBody>
                    <a:bodyPr/>
                    <a:lstStyle/>
                    <a:p>
                      <a:endParaRPr lang="en-NZ" sz="3200" dirty="0"/>
                    </a:p>
                  </a:txBody>
                  <a:tcPr/>
                </a:tc>
                <a:extLst>
                  <a:ext uri="{0D108BD9-81ED-4DB2-BD59-A6C34878D82A}">
                    <a16:rowId xmlns:a16="http://schemas.microsoft.com/office/drawing/2014/main" val="3304532747"/>
                  </a:ext>
                </a:extLst>
              </a:tr>
            </a:tbl>
          </a:graphicData>
        </a:graphic>
      </p:graphicFrame>
    </p:spTree>
    <p:custDataLst>
      <p:tags r:id="rId1"/>
    </p:custDataLst>
    <p:extLst>
      <p:ext uri="{BB962C8B-B14F-4D97-AF65-F5344CB8AC3E}">
        <p14:creationId xmlns:p14="http://schemas.microsoft.com/office/powerpoint/2010/main" val="919306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69365-E421-7CB7-F718-D86331089F04}"/>
            </a:ext>
          </a:extLst>
        </p:cNvPr>
        <p:cNvGrpSpPr/>
        <p:nvPr/>
      </p:nvGrpSpPr>
      <p:grpSpPr>
        <a:xfrm>
          <a:off x="0" y="0"/>
          <a:ext cx="0" cy="0"/>
          <a:chOff x="0" y="0"/>
          <a:chExt cx="0" cy="0"/>
        </a:xfrm>
      </p:grpSpPr>
      <p:sp>
        <p:nvSpPr>
          <p:cNvPr id="14340" name="Rectangle 4">
            <a:extLst>
              <a:ext uri="{FF2B5EF4-FFF2-40B4-BE49-F238E27FC236}">
                <a16:creationId xmlns:a16="http://schemas.microsoft.com/office/drawing/2014/main" id="{1F8D5B8E-C091-4238-208A-1CB26825AAFC}"/>
              </a:ext>
            </a:extLst>
          </p:cNvPr>
          <p:cNvSpPr>
            <a:spLocks noGrp="1" noChangeArrowheads="1"/>
          </p:cNvSpPr>
          <p:nvPr>
            <p:ph type="title"/>
            <p:custDataLst>
              <p:tags r:id="rId2"/>
            </p:custDataLst>
          </p:nvPr>
        </p:nvSpPr>
        <p:spPr>
          <a:xfrm>
            <a:off x="685800" y="215899"/>
            <a:ext cx="10515600" cy="930275"/>
          </a:xfrm>
        </p:spPr>
        <p:txBody>
          <a:bodyPr vert="horz" lIns="91440" tIns="45720" rIns="91440" bIns="45720" rtlCol="0" anchor="ctr">
            <a:normAutofit/>
          </a:bodyPr>
          <a:lstStyle/>
          <a:p>
            <a:r>
              <a:rPr lang="en-AU" sz="5400" dirty="0">
                <a:solidFill>
                  <a:schemeClr val="bg1"/>
                </a:solidFill>
              </a:rPr>
              <a:t>AI Generated websites (2)</a:t>
            </a:r>
          </a:p>
        </p:txBody>
      </p:sp>
      <p:sp>
        <p:nvSpPr>
          <p:cNvPr id="14344" name="Rectangle 8">
            <a:extLst>
              <a:ext uri="{FF2B5EF4-FFF2-40B4-BE49-F238E27FC236}">
                <a16:creationId xmlns:a16="http://schemas.microsoft.com/office/drawing/2014/main" id="{033B40BE-DF4B-06CF-4955-4EE095942BBD}"/>
              </a:ext>
            </a:extLst>
          </p:cNvPr>
          <p:cNvSpPr>
            <a:spLocks noGrp="1" noChangeArrowheads="1"/>
          </p:cNvSpPr>
          <p:nvPr>
            <p:ph idx="1"/>
            <p:custDataLst>
              <p:tags r:id="rId3"/>
            </p:custDataLst>
          </p:nvPr>
        </p:nvSpPr>
        <p:spPr>
          <a:xfrm>
            <a:off x="838200" y="1295400"/>
            <a:ext cx="10515600" cy="4881563"/>
          </a:xfrm>
        </p:spPr>
        <p:txBody>
          <a:bodyPr>
            <a:normAutofit/>
          </a:bodyPr>
          <a:lstStyle/>
          <a:p>
            <a:pPr marL="0" indent="0">
              <a:buNone/>
            </a:pPr>
            <a:r>
              <a:rPr lang="en-AU" sz="3200" dirty="0"/>
              <a:t>2. </a:t>
            </a:r>
            <a:r>
              <a:rPr lang="en-AU" sz="3200" dirty="0" err="1"/>
              <a:t>Jimdo</a:t>
            </a:r>
            <a:r>
              <a:rPr lang="en-AU" sz="3200" dirty="0"/>
              <a:t> for a free website builder</a:t>
            </a:r>
          </a:p>
          <a:p>
            <a:pPr marL="0" indent="0">
              <a:buNone/>
            </a:pPr>
            <a:endParaRPr lang="en-AU" sz="3200" dirty="0"/>
          </a:p>
        </p:txBody>
      </p:sp>
      <p:graphicFrame>
        <p:nvGraphicFramePr>
          <p:cNvPr id="2" name="Table 1">
            <a:extLst>
              <a:ext uri="{FF2B5EF4-FFF2-40B4-BE49-F238E27FC236}">
                <a16:creationId xmlns:a16="http://schemas.microsoft.com/office/drawing/2014/main" id="{00406B16-A45C-D854-269F-9C2DBE900D9A}"/>
              </a:ext>
            </a:extLst>
          </p:cNvPr>
          <p:cNvGraphicFramePr>
            <a:graphicFrameLocks noGrp="1"/>
          </p:cNvGraphicFramePr>
          <p:nvPr>
            <p:extLst>
              <p:ext uri="{D42A27DB-BD31-4B8C-83A1-F6EECF244321}">
                <p14:modId xmlns:p14="http://schemas.microsoft.com/office/powerpoint/2010/main" val="3131845955"/>
              </p:ext>
            </p:extLst>
          </p:nvPr>
        </p:nvGraphicFramePr>
        <p:xfrm>
          <a:off x="1371600" y="2133600"/>
          <a:ext cx="8839200" cy="2712720"/>
        </p:xfrm>
        <a:graphic>
          <a:graphicData uri="http://schemas.openxmlformats.org/drawingml/2006/table">
            <a:tbl>
              <a:tblPr firstRow="1" bandRow="1">
                <a:tableStyleId>{5C22544A-7EE6-4342-B048-85BDC9FD1C3A}</a:tableStyleId>
              </a:tblPr>
              <a:tblGrid>
                <a:gridCol w="4252297">
                  <a:extLst>
                    <a:ext uri="{9D8B030D-6E8A-4147-A177-3AD203B41FA5}">
                      <a16:colId xmlns:a16="http://schemas.microsoft.com/office/drawing/2014/main" val="3393717589"/>
                    </a:ext>
                  </a:extLst>
                </a:gridCol>
                <a:gridCol w="4586903">
                  <a:extLst>
                    <a:ext uri="{9D8B030D-6E8A-4147-A177-3AD203B41FA5}">
                      <a16:colId xmlns:a16="http://schemas.microsoft.com/office/drawing/2014/main" val="3543141014"/>
                    </a:ext>
                  </a:extLst>
                </a:gridCol>
              </a:tblGrid>
              <a:tr h="370840">
                <a:tc>
                  <a:txBody>
                    <a:bodyPr/>
                    <a:lstStyle/>
                    <a:p>
                      <a:r>
                        <a:rPr lang="en-US" sz="3200" dirty="0"/>
                        <a:t>Advantages</a:t>
                      </a:r>
                      <a:endParaRPr lang="en-NZ" sz="3200" dirty="0"/>
                    </a:p>
                  </a:txBody>
                  <a:tcPr/>
                </a:tc>
                <a:tc>
                  <a:txBody>
                    <a:bodyPr/>
                    <a:lstStyle/>
                    <a:p>
                      <a:r>
                        <a:rPr lang="en-US" sz="3200" dirty="0"/>
                        <a:t>Disadvantages</a:t>
                      </a:r>
                      <a:endParaRPr lang="en-NZ" sz="3200" dirty="0"/>
                    </a:p>
                  </a:txBody>
                  <a:tcPr/>
                </a:tc>
                <a:extLst>
                  <a:ext uri="{0D108BD9-81ED-4DB2-BD59-A6C34878D82A}">
                    <a16:rowId xmlns:a16="http://schemas.microsoft.com/office/drawing/2014/main" val="976533965"/>
                  </a:ext>
                </a:extLst>
              </a:tr>
              <a:tr h="370840">
                <a:tc>
                  <a:txBody>
                    <a:bodyPr/>
                    <a:lstStyle/>
                    <a:p>
                      <a:r>
                        <a:rPr lang="en-US" sz="3200" dirty="0"/>
                        <a:t>Real site builder with all the features you need</a:t>
                      </a:r>
                      <a:endParaRPr lang="en-NZ" sz="3200" dirty="0"/>
                    </a:p>
                  </a:txBody>
                  <a:tcPr/>
                </a:tc>
                <a:tc>
                  <a:txBody>
                    <a:bodyPr/>
                    <a:lstStyle/>
                    <a:p>
                      <a:r>
                        <a:rPr lang="en-US" sz="3200" dirty="0"/>
                        <a:t>AI is limited to initial we site creation</a:t>
                      </a:r>
                      <a:endParaRPr lang="en-NZ" sz="3200" dirty="0"/>
                    </a:p>
                  </a:txBody>
                  <a:tcPr/>
                </a:tc>
                <a:extLst>
                  <a:ext uri="{0D108BD9-81ED-4DB2-BD59-A6C34878D82A}">
                    <a16:rowId xmlns:a16="http://schemas.microsoft.com/office/drawing/2014/main" val="3936721821"/>
                  </a:ext>
                </a:extLst>
              </a:tr>
              <a:tr h="370840">
                <a:tc>
                  <a:txBody>
                    <a:bodyPr/>
                    <a:lstStyle/>
                    <a:p>
                      <a:r>
                        <a:rPr lang="en-US" sz="3200" dirty="0"/>
                        <a:t>Great free plan and affordable paid plans</a:t>
                      </a:r>
                      <a:endParaRPr lang="en-NZ" sz="3200" dirty="0"/>
                    </a:p>
                  </a:txBody>
                  <a:tcPr/>
                </a:tc>
                <a:tc>
                  <a:txBody>
                    <a:bodyPr/>
                    <a:lstStyle/>
                    <a:p>
                      <a:endParaRPr lang="en-NZ" sz="3200" dirty="0"/>
                    </a:p>
                  </a:txBody>
                  <a:tcPr/>
                </a:tc>
                <a:extLst>
                  <a:ext uri="{0D108BD9-81ED-4DB2-BD59-A6C34878D82A}">
                    <a16:rowId xmlns:a16="http://schemas.microsoft.com/office/drawing/2014/main" val="3304532747"/>
                  </a:ext>
                </a:extLst>
              </a:tr>
            </a:tbl>
          </a:graphicData>
        </a:graphic>
      </p:graphicFrame>
    </p:spTree>
    <p:custDataLst>
      <p:tags r:id="rId1"/>
    </p:custDataLst>
    <p:extLst>
      <p:ext uri="{BB962C8B-B14F-4D97-AF65-F5344CB8AC3E}">
        <p14:creationId xmlns:p14="http://schemas.microsoft.com/office/powerpoint/2010/main" val="10374018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91138-E867-E308-14EB-3A79050B6707}"/>
            </a:ext>
          </a:extLst>
        </p:cNvPr>
        <p:cNvGrpSpPr/>
        <p:nvPr/>
      </p:nvGrpSpPr>
      <p:grpSpPr>
        <a:xfrm>
          <a:off x="0" y="0"/>
          <a:ext cx="0" cy="0"/>
          <a:chOff x="0" y="0"/>
          <a:chExt cx="0" cy="0"/>
        </a:xfrm>
      </p:grpSpPr>
      <p:sp>
        <p:nvSpPr>
          <p:cNvPr id="14340" name="Rectangle 4">
            <a:extLst>
              <a:ext uri="{FF2B5EF4-FFF2-40B4-BE49-F238E27FC236}">
                <a16:creationId xmlns:a16="http://schemas.microsoft.com/office/drawing/2014/main" id="{E8A09833-9290-2490-C589-8DC7BC014F36}"/>
              </a:ext>
            </a:extLst>
          </p:cNvPr>
          <p:cNvSpPr>
            <a:spLocks noGrp="1" noChangeArrowheads="1"/>
          </p:cNvSpPr>
          <p:nvPr>
            <p:ph type="title"/>
            <p:custDataLst>
              <p:tags r:id="rId2"/>
            </p:custDataLst>
          </p:nvPr>
        </p:nvSpPr>
        <p:spPr>
          <a:xfrm>
            <a:off x="685800" y="215899"/>
            <a:ext cx="10515600" cy="930275"/>
          </a:xfrm>
        </p:spPr>
        <p:txBody>
          <a:bodyPr vert="horz" lIns="91440" tIns="45720" rIns="91440" bIns="45720" rtlCol="0" anchor="ctr">
            <a:normAutofit/>
          </a:bodyPr>
          <a:lstStyle/>
          <a:p>
            <a:r>
              <a:rPr lang="en-AU" sz="5400" dirty="0">
                <a:solidFill>
                  <a:schemeClr val="bg1"/>
                </a:solidFill>
              </a:rPr>
              <a:t>AI Generated websites (3)</a:t>
            </a:r>
          </a:p>
        </p:txBody>
      </p:sp>
      <p:sp>
        <p:nvSpPr>
          <p:cNvPr id="14344" name="Rectangle 8">
            <a:extLst>
              <a:ext uri="{FF2B5EF4-FFF2-40B4-BE49-F238E27FC236}">
                <a16:creationId xmlns:a16="http://schemas.microsoft.com/office/drawing/2014/main" id="{03FB1077-4E35-055B-5F7F-4B78F482537A}"/>
              </a:ext>
            </a:extLst>
          </p:cNvPr>
          <p:cNvSpPr>
            <a:spLocks noGrp="1" noChangeArrowheads="1"/>
          </p:cNvSpPr>
          <p:nvPr>
            <p:ph idx="1"/>
            <p:custDataLst>
              <p:tags r:id="rId3"/>
            </p:custDataLst>
          </p:nvPr>
        </p:nvSpPr>
        <p:spPr>
          <a:xfrm>
            <a:off x="838200" y="1295400"/>
            <a:ext cx="10515600" cy="4881563"/>
          </a:xfrm>
        </p:spPr>
        <p:txBody>
          <a:bodyPr>
            <a:normAutofit/>
          </a:bodyPr>
          <a:lstStyle/>
          <a:p>
            <a:pPr marL="0" indent="0">
              <a:buNone/>
            </a:pPr>
            <a:r>
              <a:rPr lang="en-AU" sz="3200" dirty="0"/>
              <a:t>3. Framer for designers</a:t>
            </a:r>
          </a:p>
          <a:p>
            <a:pPr marL="0" indent="0">
              <a:buNone/>
            </a:pPr>
            <a:endParaRPr lang="en-AU" sz="3200" dirty="0"/>
          </a:p>
          <a:p>
            <a:pPr marL="0" indent="0">
              <a:buNone/>
            </a:pPr>
            <a:endParaRPr lang="en-AU" sz="3200" dirty="0"/>
          </a:p>
        </p:txBody>
      </p:sp>
      <p:graphicFrame>
        <p:nvGraphicFramePr>
          <p:cNvPr id="2" name="Table 1">
            <a:extLst>
              <a:ext uri="{FF2B5EF4-FFF2-40B4-BE49-F238E27FC236}">
                <a16:creationId xmlns:a16="http://schemas.microsoft.com/office/drawing/2014/main" id="{60278707-A1D6-A019-5CCA-5904713F88F0}"/>
              </a:ext>
            </a:extLst>
          </p:cNvPr>
          <p:cNvGraphicFramePr>
            <a:graphicFrameLocks noGrp="1"/>
          </p:cNvGraphicFramePr>
          <p:nvPr>
            <p:extLst>
              <p:ext uri="{D42A27DB-BD31-4B8C-83A1-F6EECF244321}">
                <p14:modId xmlns:p14="http://schemas.microsoft.com/office/powerpoint/2010/main" val="3679872381"/>
              </p:ext>
            </p:extLst>
          </p:nvPr>
        </p:nvGraphicFramePr>
        <p:xfrm>
          <a:off x="1371600" y="2133600"/>
          <a:ext cx="8839200" cy="3200400"/>
        </p:xfrm>
        <a:graphic>
          <a:graphicData uri="http://schemas.openxmlformats.org/drawingml/2006/table">
            <a:tbl>
              <a:tblPr firstRow="1" bandRow="1">
                <a:tableStyleId>{5C22544A-7EE6-4342-B048-85BDC9FD1C3A}</a:tableStyleId>
              </a:tblPr>
              <a:tblGrid>
                <a:gridCol w="4252297">
                  <a:extLst>
                    <a:ext uri="{9D8B030D-6E8A-4147-A177-3AD203B41FA5}">
                      <a16:colId xmlns:a16="http://schemas.microsoft.com/office/drawing/2014/main" val="3393717589"/>
                    </a:ext>
                  </a:extLst>
                </a:gridCol>
                <a:gridCol w="4586903">
                  <a:extLst>
                    <a:ext uri="{9D8B030D-6E8A-4147-A177-3AD203B41FA5}">
                      <a16:colId xmlns:a16="http://schemas.microsoft.com/office/drawing/2014/main" val="3543141014"/>
                    </a:ext>
                  </a:extLst>
                </a:gridCol>
              </a:tblGrid>
              <a:tr h="370840">
                <a:tc>
                  <a:txBody>
                    <a:bodyPr/>
                    <a:lstStyle/>
                    <a:p>
                      <a:r>
                        <a:rPr lang="en-US" sz="3200" dirty="0"/>
                        <a:t>Advantages</a:t>
                      </a:r>
                      <a:endParaRPr lang="en-NZ" sz="3200" dirty="0"/>
                    </a:p>
                  </a:txBody>
                  <a:tcPr/>
                </a:tc>
                <a:tc>
                  <a:txBody>
                    <a:bodyPr/>
                    <a:lstStyle/>
                    <a:p>
                      <a:r>
                        <a:rPr lang="en-US" sz="3200" dirty="0"/>
                        <a:t>Disadvantages</a:t>
                      </a:r>
                      <a:endParaRPr lang="en-NZ" sz="3200" dirty="0"/>
                    </a:p>
                  </a:txBody>
                  <a:tcPr/>
                </a:tc>
                <a:extLst>
                  <a:ext uri="{0D108BD9-81ED-4DB2-BD59-A6C34878D82A}">
                    <a16:rowId xmlns:a16="http://schemas.microsoft.com/office/drawing/2014/main" val="976533965"/>
                  </a:ext>
                </a:extLst>
              </a:tr>
              <a:tr h="370840">
                <a:tc>
                  <a:txBody>
                    <a:bodyPr/>
                    <a:lstStyle/>
                    <a:p>
                      <a:r>
                        <a:rPr lang="en-US" sz="3200" dirty="0"/>
                        <a:t>AI </a:t>
                      </a:r>
                      <a:r>
                        <a:rPr lang="en-US" sz="3200" dirty="0" err="1"/>
                        <a:t>wireframer</a:t>
                      </a:r>
                      <a:r>
                        <a:rPr lang="en-US" sz="3200" dirty="0"/>
                        <a:t> is a useful tool</a:t>
                      </a:r>
                      <a:endParaRPr lang="en-NZ" sz="3200" dirty="0"/>
                    </a:p>
                  </a:txBody>
                  <a:tcPr/>
                </a:tc>
                <a:tc>
                  <a:txBody>
                    <a:bodyPr/>
                    <a:lstStyle/>
                    <a:p>
                      <a:r>
                        <a:rPr lang="en-US" sz="3200" dirty="0"/>
                        <a:t>More work required for AI which builds a draft version</a:t>
                      </a:r>
                      <a:endParaRPr lang="en-NZ" sz="3200" dirty="0"/>
                    </a:p>
                  </a:txBody>
                  <a:tcPr/>
                </a:tc>
                <a:extLst>
                  <a:ext uri="{0D108BD9-81ED-4DB2-BD59-A6C34878D82A}">
                    <a16:rowId xmlns:a16="http://schemas.microsoft.com/office/drawing/2014/main" val="3936721821"/>
                  </a:ext>
                </a:extLst>
              </a:tr>
              <a:tr h="370840">
                <a:tc>
                  <a:txBody>
                    <a:bodyPr/>
                    <a:lstStyle/>
                    <a:p>
                      <a:r>
                        <a:rPr lang="en-US" sz="3200" dirty="0"/>
                        <a:t>Rest of the application is great</a:t>
                      </a:r>
                      <a:endParaRPr lang="en-NZ" sz="3200" dirty="0"/>
                    </a:p>
                  </a:txBody>
                  <a:tcPr/>
                </a:tc>
                <a:tc>
                  <a:txBody>
                    <a:bodyPr/>
                    <a:lstStyle/>
                    <a:p>
                      <a:endParaRPr lang="en-NZ" sz="3200" dirty="0"/>
                    </a:p>
                  </a:txBody>
                  <a:tcPr/>
                </a:tc>
                <a:extLst>
                  <a:ext uri="{0D108BD9-81ED-4DB2-BD59-A6C34878D82A}">
                    <a16:rowId xmlns:a16="http://schemas.microsoft.com/office/drawing/2014/main" val="3304532747"/>
                  </a:ext>
                </a:extLst>
              </a:tr>
            </a:tbl>
          </a:graphicData>
        </a:graphic>
      </p:graphicFrame>
    </p:spTree>
    <p:custDataLst>
      <p:tags r:id="rId1"/>
    </p:custDataLst>
    <p:extLst>
      <p:ext uri="{BB962C8B-B14F-4D97-AF65-F5344CB8AC3E}">
        <p14:creationId xmlns:p14="http://schemas.microsoft.com/office/powerpoint/2010/main" val="1475553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51601-905C-37EF-25E2-AE32EA3884DD}"/>
            </a:ext>
          </a:extLst>
        </p:cNvPr>
        <p:cNvGrpSpPr/>
        <p:nvPr/>
      </p:nvGrpSpPr>
      <p:grpSpPr>
        <a:xfrm>
          <a:off x="0" y="0"/>
          <a:ext cx="0" cy="0"/>
          <a:chOff x="0" y="0"/>
          <a:chExt cx="0" cy="0"/>
        </a:xfrm>
      </p:grpSpPr>
      <p:sp>
        <p:nvSpPr>
          <p:cNvPr id="14340" name="Rectangle 4">
            <a:extLst>
              <a:ext uri="{FF2B5EF4-FFF2-40B4-BE49-F238E27FC236}">
                <a16:creationId xmlns:a16="http://schemas.microsoft.com/office/drawing/2014/main" id="{7D460F99-2756-C995-169B-2CE4C0B111DC}"/>
              </a:ext>
            </a:extLst>
          </p:cNvPr>
          <p:cNvSpPr>
            <a:spLocks noGrp="1" noChangeArrowheads="1"/>
          </p:cNvSpPr>
          <p:nvPr>
            <p:ph type="title"/>
            <p:custDataLst>
              <p:tags r:id="rId2"/>
            </p:custDataLst>
          </p:nvPr>
        </p:nvSpPr>
        <p:spPr>
          <a:xfrm>
            <a:off x="685800" y="215899"/>
            <a:ext cx="10515600" cy="930275"/>
          </a:xfrm>
        </p:spPr>
        <p:txBody>
          <a:bodyPr vert="horz" lIns="91440" tIns="45720" rIns="91440" bIns="45720" rtlCol="0" anchor="ctr">
            <a:normAutofit/>
          </a:bodyPr>
          <a:lstStyle/>
          <a:p>
            <a:r>
              <a:rPr lang="en-AU" sz="5400" dirty="0">
                <a:solidFill>
                  <a:schemeClr val="bg1"/>
                </a:solidFill>
              </a:rPr>
              <a:t>AI Generated websites (4)</a:t>
            </a:r>
          </a:p>
        </p:txBody>
      </p:sp>
      <p:sp>
        <p:nvSpPr>
          <p:cNvPr id="14344" name="Rectangle 8">
            <a:extLst>
              <a:ext uri="{FF2B5EF4-FFF2-40B4-BE49-F238E27FC236}">
                <a16:creationId xmlns:a16="http://schemas.microsoft.com/office/drawing/2014/main" id="{276BC1E8-DB0A-02AF-B7FF-BC67CDA8CA35}"/>
              </a:ext>
            </a:extLst>
          </p:cNvPr>
          <p:cNvSpPr>
            <a:spLocks noGrp="1" noChangeArrowheads="1"/>
          </p:cNvSpPr>
          <p:nvPr>
            <p:ph idx="1"/>
            <p:custDataLst>
              <p:tags r:id="rId3"/>
            </p:custDataLst>
          </p:nvPr>
        </p:nvSpPr>
        <p:spPr>
          <a:xfrm>
            <a:off x="838200" y="1295400"/>
            <a:ext cx="10515600" cy="4881563"/>
          </a:xfrm>
        </p:spPr>
        <p:txBody>
          <a:bodyPr>
            <a:normAutofit/>
          </a:bodyPr>
          <a:lstStyle/>
          <a:p>
            <a:pPr marL="0" indent="0">
              <a:buNone/>
            </a:pPr>
            <a:r>
              <a:rPr lang="en-AU" sz="3200" dirty="0"/>
              <a:t>4. Chariot for vide coding of a website</a:t>
            </a:r>
          </a:p>
          <a:p>
            <a:pPr marL="0" indent="0">
              <a:buNone/>
            </a:pPr>
            <a:endParaRPr lang="en-AU" sz="3200" dirty="0"/>
          </a:p>
          <a:p>
            <a:pPr marL="0" indent="0">
              <a:buNone/>
            </a:pPr>
            <a:endParaRPr lang="en-AU" sz="3200" dirty="0"/>
          </a:p>
        </p:txBody>
      </p:sp>
      <p:graphicFrame>
        <p:nvGraphicFramePr>
          <p:cNvPr id="2" name="Table 1">
            <a:extLst>
              <a:ext uri="{FF2B5EF4-FFF2-40B4-BE49-F238E27FC236}">
                <a16:creationId xmlns:a16="http://schemas.microsoft.com/office/drawing/2014/main" id="{E609530E-7914-7B89-CDCA-B189F4524F22}"/>
              </a:ext>
            </a:extLst>
          </p:cNvPr>
          <p:cNvGraphicFramePr>
            <a:graphicFrameLocks noGrp="1"/>
          </p:cNvGraphicFramePr>
          <p:nvPr>
            <p:extLst>
              <p:ext uri="{D42A27DB-BD31-4B8C-83A1-F6EECF244321}">
                <p14:modId xmlns:p14="http://schemas.microsoft.com/office/powerpoint/2010/main" val="191859471"/>
              </p:ext>
            </p:extLst>
          </p:nvPr>
        </p:nvGraphicFramePr>
        <p:xfrm>
          <a:off x="1371600" y="2133600"/>
          <a:ext cx="8839200" cy="2225040"/>
        </p:xfrm>
        <a:graphic>
          <a:graphicData uri="http://schemas.openxmlformats.org/drawingml/2006/table">
            <a:tbl>
              <a:tblPr firstRow="1" bandRow="1">
                <a:tableStyleId>{5C22544A-7EE6-4342-B048-85BDC9FD1C3A}</a:tableStyleId>
              </a:tblPr>
              <a:tblGrid>
                <a:gridCol w="4252297">
                  <a:extLst>
                    <a:ext uri="{9D8B030D-6E8A-4147-A177-3AD203B41FA5}">
                      <a16:colId xmlns:a16="http://schemas.microsoft.com/office/drawing/2014/main" val="3393717589"/>
                    </a:ext>
                  </a:extLst>
                </a:gridCol>
                <a:gridCol w="4586903">
                  <a:extLst>
                    <a:ext uri="{9D8B030D-6E8A-4147-A177-3AD203B41FA5}">
                      <a16:colId xmlns:a16="http://schemas.microsoft.com/office/drawing/2014/main" val="3543141014"/>
                    </a:ext>
                  </a:extLst>
                </a:gridCol>
              </a:tblGrid>
              <a:tr h="370840">
                <a:tc>
                  <a:txBody>
                    <a:bodyPr/>
                    <a:lstStyle/>
                    <a:p>
                      <a:r>
                        <a:rPr lang="en-US" sz="3200" dirty="0"/>
                        <a:t>Advantages</a:t>
                      </a:r>
                      <a:endParaRPr lang="en-NZ" sz="3200" dirty="0"/>
                    </a:p>
                  </a:txBody>
                  <a:tcPr/>
                </a:tc>
                <a:tc>
                  <a:txBody>
                    <a:bodyPr/>
                    <a:lstStyle/>
                    <a:p>
                      <a:r>
                        <a:rPr lang="en-US" sz="3200" dirty="0"/>
                        <a:t>Disadvantages</a:t>
                      </a:r>
                      <a:endParaRPr lang="en-NZ" sz="3200" dirty="0"/>
                    </a:p>
                  </a:txBody>
                  <a:tcPr/>
                </a:tc>
                <a:extLst>
                  <a:ext uri="{0D108BD9-81ED-4DB2-BD59-A6C34878D82A}">
                    <a16:rowId xmlns:a16="http://schemas.microsoft.com/office/drawing/2014/main" val="976533965"/>
                  </a:ext>
                </a:extLst>
              </a:tr>
              <a:tr h="370840">
                <a:tc>
                  <a:txBody>
                    <a:bodyPr/>
                    <a:lstStyle/>
                    <a:p>
                      <a:r>
                        <a:rPr lang="en-US" sz="3200" dirty="0"/>
                        <a:t>Create a website using a chatbot</a:t>
                      </a:r>
                      <a:endParaRPr lang="en-NZ" sz="3200" dirty="0"/>
                    </a:p>
                  </a:txBody>
                  <a:tcPr/>
                </a:tc>
                <a:tc>
                  <a:txBody>
                    <a:bodyPr/>
                    <a:lstStyle/>
                    <a:p>
                      <a:r>
                        <a:rPr lang="en-US" sz="3200" dirty="0"/>
                        <a:t>You have to use the chatbot for everything</a:t>
                      </a:r>
                      <a:endParaRPr lang="en-NZ" sz="3200" dirty="0"/>
                    </a:p>
                  </a:txBody>
                  <a:tcPr/>
                </a:tc>
                <a:extLst>
                  <a:ext uri="{0D108BD9-81ED-4DB2-BD59-A6C34878D82A}">
                    <a16:rowId xmlns:a16="http://schemas.microsoft.com/office/drawing/2014/main" val="3936721821"/>
                  </a:ext>
                </a:extLst>
              </a:tr>
              <a:tr h="370840">
                <a:tc>
                  <a:txBody>
                    <a:bodyPr/>
                    <a:lstStyle/>
                    <a:p>
                      <a:endParaRPr lang="en-NZ" sz="3200" dirty="0"/>
                    </a:p>
                  </a:txBody>
                  <a:tcPr/>
                </a:tc>
                <a:tc>
                  <a:txBody>
                    <a:bodyPr/>
                    <a:lstStyle/>
                    <a:p>
                      <a:endParaRPr lang="en-NZ" sz="3200" dirty="0"/>
                    </a:p>
                  </a:txBody>
                  <a:tcPr/>
                </a:tc>
                <a:extLst>
                  <a:ext uri="{0D108BD9-81ED-4DB2-BD59-A6C34878D82A}">
                    <a16:rowId xmlns:a16="http://schemas.microsoft.com/office/drawing/2014/main" val="3304532747"/>
                  </a:ext>
                </a:extLst>
              </a:tr>
            </a:tbl>
          </a:graphicData>
        </a:graphic>
      </p:graphicFrame>
    </p:spTree>
    <p:custDataLst>
      <p:tags r:id="rId1"/>
    </p:custDataLst>
    <p:extLst>
      <p:ext uri="{BB962C8B-B14F-4D97-AF65-F5344CB8AC3E}">
        <p14:creationId xmlns:p14="http://schemas.microsoft.com/office/powerpoint/2010/main" val="1369076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0" name="Rectangle 4"/>
          <p:cNvSpPr>
            <a:spLocks noGrp="1" noChangeArrowheads="1"/>
          </p:cNvSpPr>
          <p:nvPr>
            <p:ph type="title"/>
            <p:custDataLst>
              <p:tags r:id="rId2"/>
            </p:custDataLst>
          </p:nvPr>
        </p:nvSpPr>
        <p:spPr>
          <a:xfrm>
            <a:off x="838200" y="215899"/>
            <a:ext cx="10515600" cy="930275"/>
          </a:xfrm>
        </p:spPr>
        <p:txBody>
          <a:bodyPr vert="horz" lIns="91440" tIns="45720" rIns="91440" bIns="45720" rtlCol="0" anchor="ctr">
            <a:normAutofit/>
          </a:bodyPr>
          <a:lstStyle/>
          <a:p>
            <a:r>
              <a:rPr lang="en-AU" sz="4200" dirty="0">
                <a:solidFill>
                  <a:schemeClr val="bg1"/>
                </a:solidFill>
              </a:rPr>
              <a:t>Additional reading</a:t>
            </a:r>
          </a:p>
        </p:txBody>
      </p:sp>
      <p:sp>
        <p:nvSpPr>
          <p:cNvPr id="14344" name="Rectangle 8"/>
          <p:cNvSpPr>
            <a:spLocks noGrp="1" noChangeArrowheads="1"/>
          </p:cNvSpPr>
          <p:nvPr>
            <p:ph idx="1"/>
            <p:custDataLst>
              <p:tags r:id="rId3"/>
            </p:custDataLst>
          </p:nvPr>
        </p:nvSpPr>
        <p:spPr/>
        <p:txBody>
          <a:bodyPr/>
          <a:lstStyle/>
          <a:p>
            <a:r>
              <a:rPr lang="en-AU" dirty="0"/>
              <a:t>Front End Developer Handbook, 2019</a:t>
            </a:r>
          </a:p>
          <a:p>
            <a:r>
              <a:rPr lang="en-AU" dirty="0">
                <a:hlinkClick r:id="rId6"/>
              </a:rPr>
              <a:t>https://frontendmasters.com/books/front-end-handbook/2019/</a:t>
            </a:r>
            <a:endParaRPr lang="en-AU" dirty="0"/>
          </a:p>
          <a:p>
            <a:pPr lvl="1"/>
            <a:r>
              <a:rPr lang="en-AU" dirty="0"/>
              <a:t>–read this if you are considering a career path that involves web user interface development</a:t>
            </a:r>
          </a:p>
          <a:p>
            <a:pPr lvl="1"/>
            <a:endParaRPr lang="en-AU" dirty="0"/>
          </a:p>
          <a:p>
            <a:r>
              <a:rPr lang="en-AU" dirty="0"/>
              <a:t>●Scalable Web Architecture and Distributed Systems, Kate </a:t>
            </a:r>
            <a:r>
              <a:rPr lang="en-AU" dirty="0" err="1"/>
              <a:t>Matsudaira</a:t>
            </a:r>
            <a:endParaRPr lang="en-AU" dirty="0"/>
          </a:p>
          <a:p>
            <a:r>
              <a:rPr lang="en-AU" dirty="0">
                <a:hlinkClick r:id="rId7"/>
              </a:rPr>
              <a:t>http://www.aosabook.org/en/distsys.html</a:t>
            </a:r>
            <a:endParaRPr lang="en-AU" dirty="0"/>
          </a:p>
          <a:p>
            <a:pPr lvl="1"/>
            <a:r>
              <a:rPr lang="en-AU" dirty="0"/>
              <a:t>–creating websites that can handle a lot of traffic</a:t>
            </a:r>
          </a:p>
          <a:p>
            <a:r>
              <a:rPr lang="en-AU" dirty="0">
                <a:hlinkClick r:id="rId8"/>
              </a:rPr>
              <a:t>https://guides.github.com/features/pages/</a:t>
            </a:r>
            <a:endParaRPr lang="en-AU" dirty="0"/>
          </a:p>
          <a:p>
            <a:endParaRPr lang="en-AU" dirty="0"/>
          </a:p>
        </p:txBody>
      </p:sp>
    </p:spTree>
    <p:custDataLst>
      <p:tags r:id="rId1"/>
    </p:custDataLst>
    <p:extLst>
      <p:ext uri="{BB962C8B-B14F-4D97-AF65-F5344CB8AC3E}">
        <p14:creationId xmlns:p14="http://schemas.microsoft.com/office/powerpoint/2010/main" val="52770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8" name="Oval 11"/>
          <p:cNvSpPr/>
          <p:nvPr/>
        </p:nvSpPr>
        <p:spPr bwMode="auto">
          <a:xfrm>
            <a:off x="4080238" y="364573"/>
            <a:ext cx="2580175" cy="806429"/>
          </a:xfrm>
          <a:prstGeom prst="ellipse">
            <a:avLst/>
          </a:prstGeom>
          <a:noFill/>
          <a:ln w="25400" cap="flat" cmpd="sng" algn="ctr">
            <a:noFill/>
            <a:prstDash val="solid"/>
            <a:round/>
            <a:headEnd type="none" w="med" len="med"/>
            <a:tailEnd type="none" w="med" len="med"/>
          </a:ln>
          <a:effectLst/>
        </p:spPr>
        <p:txBody>
          <a:bodyPr vert="horz" wrap="square" lIns="96762" tIns="48381" rIns="96762" bIns="48381" numCol="1" rtlCol="0" anchor="t" anchorCtr="0" compatLnSpc="1">
            <a:prstTxWarp prst="textNoShape">
              <a:avLst/>
            </a:prstTxWarp>
          </a:bodyPr>
          <a:lstStyle/>
          <a:p>
            <a:pPr algn="ctr" defTabSz="1309187" fontAlgn="base">
              <a:spcBef>
                <a:spcPct val="0"/>
              </a:spcBef>
              <a:spcAft>
                <a:spcPct val="0"/>
              </a:spcAft>
              <a:defRPr/>
            </a:pPr>
            <a:endParaRPr lang="en-US" sz="8000" kern="0">
              <a:solidFill>
                <a:srgbClr val="000000"/>
              </a:solidFill>
              <a:latin typeface="微软雅黑"/>
              <a:ea typeface="微软雅黑"/>
              <a:sym typeface="Gill Sans" charset="0"/>
            </a:endParaRPr>
          </a:p>
        </p:txBody>
      </p:sp>
      <p:sp>
        <p:nvSpPr>
          <p:cNvPr id="8" name="Title 7">
            <a:extLst>
              <a:ext uri="{FF2B5EF4-FFF2-40B4-BE49-F238E27FC236}">
                <a16:creationId xmlns:a16="http://schemas.microsoft.com/office/drawing/2014/main" id="{86C29517-308D-4271-AF75-3DEAC020FD46}"/>
              </a:ext>
            </a:extLst>
          </p:cNvPr>
          <p:cNvSpPr>
            <a:spLocks noGrp="1"/>
          </p:cNvSpPr>
          <p:nvPr>
            <p:ph type="title"/>
          </p:nvPr>
        </p:nvSpPr>
        <p:spPr>
          <a:xfrm>
            <a:off x="838200" y="156642"/>
            <a:ext cx="10515600" cy="854075"/>
          </a:xfrm>
        </p:spPr>
        <p:txBody>
          <a:bodyPr vert="horz" lIns="91440" tIns="45720" rIns="91440" bIns="45720" rtlCol="0" anchor="ctr">
            <a:noAutofit/>
          </a:bodyPr>
          <a:lstStyle/>
          <a:p>
            <a:r>
              <a:rPr lang="en-US" altLang="zh-CN" sz="6000" dirty="0">
                <a:solidFill>
                  <a:schemeClr val="bg1"/>
                </a:solidFill>
              </a:rPr>
              <a:t>Summary</a:t>
            </a:r>
            <a:endParaRPr lang="en-AU" sz="6000" dirty="0">
              <a:solidFill>
                <a:schemeClr val="bg1"/>
              </a:solidFill>
            </a:endParaRPr>
          </a:p>
        </p:txBody>
      </p:sp>
      <p:sp>
        <p:nvSpPr>
          <p:cNvPr id="5" name="Content Placeholder 4">
            <a:extLst>
              <a:ext uri="{FF2B5EF4-FFF2-40B4-BE49-F238E27FC236}">
                <a16:creationId xmlns:a16="http://schemas.microsoft.com/office/drawing/2014/main" id="{E6EFD255-BF09-446B-817C-07619E57C15D}"/>
              </a:ext>
            </a:extLst>
          </p:cNvPr>
          <p:cNvSpPr>
            <a:spLocks noGrp="1"/>
          </p:cNvSpPr>
          <p:nvPr>
            <p:ph sz="half" idx="1"/>
          </p:nvPr>
        </p:nvSpPr>
        <p:spPr/>
        <p:txBody>
          <a:bodyPr/>
          <a:lstStyle/>
          <a:p>
            <a:r>
              <a:rPr lang="en-AU" dirty="0"/>
              <a:t>Page Design</a:t>
            </a:r>
          </a:p>
          <a:p>
            <a:pPr lvl="1"/>
            <a:r>
              <a:rPr lang="en-AU" dirty="0"/>
              <a:t>Sketch</a:t>
            </a:r>
          </a:p>
          <a:p>
            <a:pPr lvl="1"/>
            <a:r>
              <a:rPr lang="en-AU" dirty="0"/>
              <a:t>Wireframe</a:t>
            </a:r>
          </a:p>
          <a:p>
            <a:pPr lvl="1"/>
            <a:r>
              <a:rPr lang="en-AU" dirty="0" err="1"/>
              <a:t>Mockups</a:t>
            </a:r>
            <a:endParaRPr lang="en-AU" dirty="0"/>
          </a:p>
          <a:p>
            <a:pPr lvl="1"/>
            <a:endParaRPr lang="en-AU" dirty="0"/>
          </a:p>
          <a:p>
            <a:endParaRPr lang="en-AU" dirty="0"/>
          </a:p>
          <a:p>
            <a:endParaRPr lang="en-AU" dirty="0"/>
          </a:p>
          <a:p>
            <a:endParaRPr lang="en-AU" dirty="0"/>
          </a:p>
        </p:txBody>
      </p:sp>
      <p:sp>
        <p:nvSpPr>
          <p:cNvPr id="2" name="Content Placeholder 1">
            <a:extLst>
              <a:ext uri="{FF2B5EF4-FFF2-40B4-BE49-F238E27FC236}">
                <a16:creationId xmlns:a16="http://schemas.microsoft.com/office/drawing/2014/main" id="{2541164A-8901-CC16-A11F-8968E54ABFBD}"/>
              </a:ext>
            </a:extLst>
          </p:cNvPr>
          <p:cNvSpPr>
            <a:spLocks noGrp="1"/>
          </p:cNvSpPr>
          <p:nvPr>
            <p:ph sz="half" idx="2"/>
          </p:nvPr>
        </p:nvSpPr>
        <p:spPr/>
        <p:txBody>
          <a:bodyPr/>
          <a:lstStyle/>
          <a:p>
            <a:r>
              <a:rPr lang="en-AU" dirty="0"/>
              <a:t>GitHub</a:t>
            </a:r>
          </a:p>
          <a:p>
            <a:r>
              <a:rPr lang="en-AU" dirty="0"/>
              <a:t>Bitbucket</a:t>
            </a:r>
          </a:p>
          <a:p>
            <a:r>
              <a:rPr lang="en-AU" dirty="0"/>
              <a:t>VS code</a:t>
            </a:r>
          </a:p>
          <a:p>
            <a:r>
              <a:rPr lang="en-AU" dirty="0"/>
              <a:t>GUI vs CLI–why not have both?</a:t>
            </a:r>
          </a:p>
          <a:p>
            <a:r>
              <a:rPr lang="en-AU" dirty="0"/>
              <a:t>Development web server</a:t>
            </a:r>
          </a:p>
          <a:p>
            <a:r>
              <a:rPr lang="en-AU" dirty="0"/>
              <a:t>Frameworks</a:t>
            </a:r>
          </a:p>
          <a:p>
            <a:r>
              <a:rPr lang="en-AU" dirty="0"/>
              <a:t>Quality assurance &amp; automation</a:t>
            </a:r>
          </a:p>
          <a:p>
            <a:r>
              <a:rPr lang="en-AU" dirty="0"/>
              <a:t>AI for website development</a:t>
            </a:r>
          </a:p>
          <a:p>
            <a:r>
              <a:rPr lang="en-AU" dirty="0"/>
              <a:t>Additional reading</a:t>
            </a:r>
          </a:p>
          <a:p>
            <a:endParaRPr lang="en-AU" dirty="0"/>
          </a:p>
        </p:txBody>
      </p:sp>
    </p:spTree>
    <p:extLst>
      <p:ext uri="{BB962C8B-B14F-4D97-AF65-F5344CB8AC3E}">
        <p14:creationId xmlns:p14="http://schemas.microsoft.com/office/powerpoint/2010/main" val="759478288"/>
      </p:ext>
    </p:extLst>
  </p:cSld>
  <p:clrMapOvr>
    <a:masterClrMapping/>
  </p:clrMapOvr>
  <mc:AlternateContent xmlns:mc="http://schemas.openxmlformats.org/markup-compatibility/2006" xmlns:p14="http://schemas.microsoft.com/office/powerpoint/2010/main">
    <mc:Choice Requires="p14">
      <p:transition p14:dur="0" advTm="434"/>
    </mc:Choice>
    <mc:Fallback xmlns="">
      <p:transition advTm="434"/>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6FDB3-EC56-60BE-C4BF-5178526F8473}"/>
              </a:ext>
            </a:extLst>
          </p:cNvPr>
          <p:cNvSpPr>
            <a:spLocks noGrp="1"/>
          </p:cNvSpPr>
          <p:nvPr>
            <p:ph type="title"/>
          </p:nvPr>
        </p:nvSpPr>
        <p:spPr>
          <a:xfrm>
            <a:off x="838200" y="215899"/>
            <a:ext cx="10515600" cy="930275"/>
          </a:xfrm>
        </p:spPr>
        <p:txBody>
          <a:bodyPr vert="horz" lIns="91440" tIns="45720" rIns="91440" bIns="45720" rtlCol="0" anchor="ctr">
            <a:normAutofit/>
          </a:bodyPr>
          <a:lstStyle/>
          <a:p>
            <a:r>
              <a:rPr lang="en-AU" sz="6000" dirty="0">
                <a:solidFill>
                  <a:schemeClr val="bg1"/>
                </a:solidFill>
              </a:rPr>
              <a:t>Next Week </a:t>
            </a:r>
          </a:p>
        </p:txBody>
      </p:sp>
      <p:sp>
        <p:nvSpPr>
          <p:cNvPr id="3" name="Content Placeholder 2">
            <a:extLst>
              <a:ext uri="{FF2B5EF4-FFF2-40B4-BE49-F238E27FC236}">
                <a16:creationId xmlns:a16="http://schemas.microsoft.com/office/drawing/2014/main" id="{82A00D0A-00EF-DBBA-EE09-FE30B05744B3}"/>
              </a:ext>
            </a:extLst>
          </p:cNvPr>
          <p:cNvSpPr>
            <a:spLocks noGrp="1"/>
          </p:cNvSpPr>
          <p:nvPr>
            <p:ph idx="1"/>
          </p:nvPr>
        </p:nvSpPr>
        <p:spPr/>
        <p:txBody>
          <a:bodyPr>
            <a:normAutofit/>
          </a:bodyPr>
          <a:lstStyle/>
          <a:p>
            <a:r>
              <a:rPr lang="en-AU" sz="3600" dirty="0"/>
              <a:t>Lab: Working on your Assignment.</a:t>
            </a:r>
          </a:p>
          <a:p>
            <a:r>
              <a:rPr lang="en-AU" sz="3600" dirty="0"/>
              <a:t>Building a Website</a:t>
            </a:r>
          </a:p>
          <a:p>
            <a:r>
              <a:rPr lang="en-AU" sz="3600" dirty="0"/>
              <a:t>Using Git Hub</a:t>
            </a:r>
          </a:p>
        </p:txBody>
      </p:sp>
    </p:spTree>
    <p:extLst>
      <p:ext uri="{BB962C8B-B14F-4D97-AF65-F5344CB8AC3E}">
        <p14:creationId xmlns:p14="http://schemas.microsoft.com/office/powerpoint/2010/main" val="37376018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ECTIONID" val="hdjcmPjs29UmLRIrOw1CqQ"/>
</p:tagLst>
</file>

<file path=ppt/tags/tag2.xml><?xml version="1.0" encoding="utf-8"?>
<p:tagLst xmlns:a="http://schemas.openxmlformats.org/drawingml/2006/main" xmlns:r="http://schemas.openxmlformats.org/officeDocument/2006/relationships" xmlns:p="http://schemas.openxmlformats.org/presentationml/2006/main">
  <p:tag name="DVSHAPEID" val="paKY5CC4Ou6rtdni3pzWme"/>
</p:tagLst>
</file>

<file path=ppt/tags/tag3.xml><?xml version="1.0" encoding="utf-8"?>
<p:tagLst xmlns:a="http://schemas.openxmlformats.org/drawingml/2006/main" xmlns:r="http://schemas.openxmlformats.org/officeDocument/2006/relationships" xmlns:p="http://schemas.openxmlformats.org/presentationml/2006/main">
  <p:tag name="DVSECTIONID" val="3HPpWmQT6r2Glo9f8BgQms"/>
</p:tagLst>
</file>

<file path=ppt/tags/tag4.xml><?xml version="1.0" encoding="utf-8"?>
<p:tagLst xmlns:a="http://schemas.openxmlformats.org/drawingml/2006/main" xmlns:r="http://schemas.openxmlformats.org/officeDocument/2006/relationships" xmlns:p="http://schemas.openxmlformats.org/presentationml/2006/main">
  <p:tag name="DVSHAPEID" val="jxyUy99RnCcRgjMEiWJZXi"/>
</p:tagLst>
</file>

<file path=ppt/tags/tag5.xml><?xml version="1.0" encoding="utf-8"?>
<p:tagLst xmlns:a="http://schemas.openxmlformats.org/drawingml/2006/main" xmlns:r="http://schemas.openxmlformats.org/officeDocument/2006/relationships" xmlns:p="http://schemas.openxmlformats.org/presentationml/2006/main">
  <p:tag name="DVSHAPEID" val="A6pPjxKFowBUCm5UAC6LxZ"/>
</p:tagLst>
</file>

<file path=ppt/tags/tag6.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7.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8.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9.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10.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11.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12.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13.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14.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15.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16.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17.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18.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19.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20.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21.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22.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23.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24.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25.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26.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ags/tag27.xml><?xml version="1.0" encoding="utf-8"?>
<p:tagLst xmlns:a="http://schemas.openxmlformats.org/drawingml/2006/main" xmlns:r="http://schemas.openxmlformats.org/officeDocument/2006/relationships" xmlns:p="http://schemas.openxmlformats.org/presentationml/2006/main">
  <p:tag name="DVSECTIONID" val="DoTBfb5H0mwrSndSHM3GR2"/>
</p:tagLst>
</file>

<file path=ppt/tags/tag28.xml><?xml version="1.0" encoding="utf-8"?>
<p:tagLst xmlns:a="http://schemas.openxmlformats.org/drawingml/2006/main" xmlns:r="http://schemas.openxmlformats.org/officeDocument/2006/relationships" xmlns:p="http://schemas.openxmlformats.org/presentationml/2006/main">
  <p:tag name="DVSHAPEID" val="dSA3WS1WKx38U0oKhfVxUD"/>
</p:tagLst>
</file>

<file path=ppt/tags/tag29.xml><?xml version="1.0" encoding="utf-8"?>
<p:tagLst xmlns:a="http://schemas.openxmlformats.org/drawingml/2006/main" xmlns:r="http://schemas.openxmlformats.org/officeDocument/2006/relationships" xmlns:p="http://schemas.openxmlformats.org/presentationml/2006/main">
  <p:tag name="DVSHAPEID" val="RsYai1aBOtlPe8WMhL6J2l"/>
</p:tagLst>
</file>

<file path=ppt/theme/theme1.xml><?xml version="1.0" encoding="utf-8"?>
<a:theme xmlns:a="http://schemas.openxmlformats.org/drawingml/2006/main" name="Them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B60CE4C-EDC0-496D-AE6D-84B42325BD16}" vid="{64883BDB-BA55-4845-887F-AD4C7C3254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WIN Lecture Final template-T1-2022</Template>
  <TotalTime>1012</TotalTime>
  <Words>2184</Words>
  <Application>Microsoft Office PowerPoint</Application>
  <PresentationFormat>Widescreen</PresentationFormat>
  <Paragraphs>307</Paragraphs>
  <Slides>32</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微软雅黑</vt:lpstr>
      <vt:lpstr>Arial</vt:lpstr>
      <vt:lpstr>Book Antiqua</vt:lpstr>
      <vt:lpstr>Bookman Old Style</vt:lpstr>
      <vt:lpstr>Calibri</vt:lpstr>
      <vt:lpstr>Calibri Light</vt:lpstr>
      <vt:lpstr>Dodger</vt:lpstr>
      <vt:lpstr>Theme2</vt:lpstr>
      <vt:lpstr>PowerPoint Presentation</vt:lpstr>
      <vt:lpstr>Week 10 (Lecture 9)</vt:lpstr>
      <vt:lpstr>Page Design</vt:lpstr>
      <vt:lpstr>Establishing a page layout</vt:lpstr>
      <vt:lpstr>Sketches</vt:lpstr>
      <vt:lpstr>Wire frames</vt:lpstr>
      <vt:lpstr>Content of wireframes</vt:lpstr>
      <vt:lpstr>Wireframes</vt:lpstr>
      <vt:lpstr>Wireframes</vt:lpstr>
      <vt:lpstr>Page template(s)</vt:lpstr>
      <vt:lpstr>Mock-ups</vt:lpstr>
      <vt:lpstr>GitHub</vt:lpstr>
      <vt:lpstr>GitHub: Create Your Website</vt:lpstr>
      <vt:lpstr>GitHub: Create Your Website</vt:lpstr>
      <vt:lpstr>GitHub: Create Your Website</vt:lpstr>
      <vt:lpstr>GitHub : features </vt:lpstr>
      <vt:lpstr>Bit bucket</vt:lpstr>
      <vt:lpstr>Visual Studio Code</vt:lpstr>
      <vt:lpstr>What are the differences between GUI and CLI? </vt:lpstr>
      <vt:lpstr>Running your own development server</vt:lpstr>
      <vt:lpstr>Command line</vt:lpstr>
      <vt:lpstr>Frameworks</vt:lpstr>
      <vt:lpstr>Quality Assurance &amp; automation</vt:lpstr>
      <vt:lpstr>AI Generated websites and Tools</vt:lpstr>
      <vt:lpstr>AI Generated websites</vt:lpstr>
      <vt:lpstr>AI Generated websites (1)</vt:lpstr>
      <vt:lpstr>AI Generated websites (2)</vt:lpstr>
      <vt:lpstr>AI Generated websites (3)</vt:lpstr>
      <vt:lpstr>AI Generated websites (4)</vt:lpstr>
      <vt:lpstr>Additional reading</vt:lpstr>
      <vt:lpstr>Summary</vt:lpstr>
      <vt:lpstr>Next Week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Kiran Lakkaraju</dc:creator>
  <cp:lastModifiedBy>Kerese Manueli</cp:lastModifiedBy>
  <cp:revision>27</cp:revision>
  <dcterms:created xsi:type="dcterms:W3CDTF">2022-03-12T12:34:51Z</dcterms:created>
  <dcterms:modified xsi:type="dcterms:W3CDTF">2025-10-10T21:50:58Z</dcterms:modified>
</cp:coreProperties>
</file>